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98"/>
  </p:notesMasterIdLst>
  <p:handoutMasterIdLst>
    <p:handoutMasterId r:id="rId99"/>
  </p:handoutMasterIdLst>
  <p:sldIdLst>
    <p:sldId id="522" r:id="rId2"/>
    <p:sldId id="365" r:id="rId3"/>
    <p:sldId id="733" r:id="rId4"/>
    <p:sldId id="532" r:id="rId5"/>
    <p:sldId id="533" r:id="rId6"/>
    <p:sldId id="539" r:id="rId7"/>
    <p:sldId id="534" r:id="rId8"/>
    <p:sldId id="535" r:id="rId9"/>
    <p:sldId id="536" r:id="rId10"/>
    <p:sldId id="540" r:id="rId11"/>
    <p:sldId id="537" r:id="rId12"/>
    <p:sldId id="538" r:id="rId13"/>
    <p:sldId id="526" r:id="rId14"/>
    <p:sldId id="541" r:id="rId15"/>
    <p:sldId id="542" r:id="rId16"/>
    <p:sldId id="543" r:id="rId17"/>
    <p:sldId id="545" r:id="rId18"/>
    <p:sldId id="544" r:id="rId19"/>
    <p:sldId id="546" r:id="rId20"/>
    <p:sldId id="547" r:id="rId21"/>
    <p:sldId id="527" r:id="rId22"/>
    <p:sldId id="556" r:id="rId23"/>
    <p:sldId id="560" r:id="rId24"/>
    <p:sldId id="561" r:id="rId25"/>
    <p:sldId id="600" r:id="rId26"/>
    <p:sldId id="601" r:id="rId27"/>
    <p:sldId id="605" r:id="rId28"/>
    <p:sldId id="602" r:id="rId29"/>
    <p:sldId id="603" r:id="rId30"/>
    <p:sldId id="604" r:id="rId31"/>
    <p:sldId id="621" r:id="rId32"/>
    <p:sldId id="622" r:id="rId33"/>
    <p:sldId id="631" r:id="rId34"/>
    <p:sldId id="635" r:id="rId35"/>
    <p:sldId id="636" r:id="rId36"/>
    <p:sldId id="632" r:id="rId37"/>
    <p:sldId id="624" r:id="rId38"/>
    <p:sldId id="645" r:id="rId39"/>
    <p:sldId id="646" r:id="rId40"/>
    <p:sldId id="647" r:id="rId41"/>
    <p:sldId id="658" r:id="rId42"/>
    <p:sldId id="659" r:id="rId43"/>
    <p:sldId id="660" r:id="rId44"/>
    <p:sldId id="648" r:id="rId45"/>
    <p:sldId id="661" r:id="rId46"/>
    <p:sldId id="649" r:id="rId47"/>
    <p:sldId id="650" r:id="rId48"/>
    <p:sldId id="662" r:id="rId49"/>
    <p:sldId id="651" r:id="rId50"/>
    <p:sldId id="652" r:id="rId51"/>
    <p:sldId id="628" r:id="rId52"/>
    <p:sldId id="629" r:id="rId53"/>
    <p:sldId id="669" r:id="rId54"/>
    <p:sldId id="671" r:id="rId55"/>
    <p:sldId id="668" r:id="rId56"/>
    <p:sldId id="666" r:id="rId57"/>
    <p:sldId id="665" r:id="rId58"/>
    <p:sldId id="672" r:id="rId59"/>
    <p:sldId id="673" r:id="rId60"/>
    <p:sldId id="674" r:id="rId61"/>
    <p:sldId id="675" r:id="rId62"/>
    <p:sldId id="676" r:id="rId63"/>
    <p:sldId id="677" r:id="rId64"/>
    <p:sldId id="678" r:id="rId65"/>
    <p:sldId id="679" r:id="rId66"/>
    <p:sldId id="670" r:id="rId67"/>
    <p:sldId id="606" r:id="rId68"/>
    <p:sldId id="690" r:id="rId69"/>
    <p:sldId id="691" r:id="rId70"/>
    <p:sldId id="694" r:id="rId71"/>
    <p:sldId id="612" r:id="rId72"/>
    <p:sldId id="695" r:id="rId73"/>
    <p:sldId id="693" r:id="rId74"/>
    <p:sldId id="692" r:id="rId75"/>
    <p:sldId id="680" r:id="rId76"/>
    <p:sldId id="681" r:id="rId77"/>
    <p:sldId id="696" r:id="rId78"/>
    <p:sldId id="734" r:id="rId79"/>
    <p:sldId id="683" r:id="rId80"/>
    <p:sldId id="698" r:id="rId81"/>
    <p:sldId id="697" r:id="rId82"/>
    <p:sldId id="608" r:id="rId83"/>
    <p:sldId id="701" r:id="rId84"/>
    <p:sldId id="702" r:id="rId85"/>
    <p:sldId id="703" r:id="rId86"/>
    <p:sldId id="715" r:id="rId87"/>
    <p:sldId id="705" r:id="rId88"/>
    <p:sldId id="724" r:id="rId89"/>
    <p:sldId id="725" r:id="rId90"/>
    <p:sldId id="726" r:id="rId91"/>
    <p:sldId id="727" r:id="rId92"/>
    <p:sldId id="728" r:id="rId93"/>
    <p:sldId id="729" r:id="rId94"/>
    <p:sldId id="730" r:id="rId95"/>
    <p:sldId id="731" r:id="rId96"/>
    <p:sldId id="732" r:id="rId97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FF00FF"/>
    <a:srgbClr val="F7EFED"/>
    <a:srgbClr val="FF3300"/>
    <a:srgbClr val="FF3399"/>
    <a:srgbClr val="339933"/>
    <a:srgbClr val="000000"/>
    <a:srgbClr val="3333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97" d="100"/>
          <a:sy n="97" d="100"/>
        </p:scale>
        <p:origin x="1037" y="-5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226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2024/10/20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96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85984" y="142852"/>
            <a:ext cx="4643470" cy="879829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回溯法</a:t>
            </a: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85720" y="1928802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 </a:t>
            </a:r>
            <a:r>
              <a:rPr lang="zh-CN" altLang="en-US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回溯法概述</a:t>
            </a:r>
          </a:p>
        </p:txBody>
      </p:sp>
      <p:sp>
        <p:nvSpPr>
          <p:cNvPr id="9" name="TextBox 8">
            <a:hlinkClick r:id="" action="ppaction://noaction"/>
          </p:cNvPr>
          <p:cNvSpPr txBox="1"/>
          <p:nvPr/>
        </p:nvSpPr>
        <p:spPr>
          <a:xfrm>
            <a:off x="328435" y="2703561"/>
            <a:ext cx="3643338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5.2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基于子集树的回溯算法框架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28596" y="285728"/>
            <a:ext cx="1678717" cy="1392180"/>
            <a:chOff x="428596" y="2679762"/>
            <a:chExt cx="1678717" cy="1392180"/>
          </a:xfrm>
        </p:grpSpPr>
        <p:grpSp>
          <p:nvGrpSpPr>
            <p:cNvPr id="16" name="组合 79"/>
            <p:cNvGrpSpPr>
              <a:grpSpLocks/>
            </p:cNvGrpSpPr>
            <p:nvPr/>
          </p:nvGrpSpPr>
          <p:grpSpPr bwMode="auto">
            <a:xfrm>
              <a:off x="571472" y="2679762"/>
              <a:ext cx="1357322" cy="1392180"/>
              <a:chOff x="6379728" y="2488774"/>
              <a:chExt cx="2513016" cy="2533955"/>
            </a:xfrm>
          </p:grpSpPr>
          <p:sp>
            <p:nvSpPr>
              <p:cNvPr id="17" name="任意多边形 82"/>
              <p:cNvSpPr/>
              <p:nvPr/>
            </p:nvSpPr>
            <p:spPr>
              <a:xfrm rot="3738964">
                <a:off x="6379728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" name="任意多边形 83"/>
              <p:cNvSpPr/>
              <p:nvPr/>
            </p:nvSpPr>
            <p:spPr>
              <a:xfrm rot="16377237">
                <a:off x="6409519" y="2545928"/>
                <a:ext cx="2476803" cy="247679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" name="文本框 20"/>
            <p:cNvSpPr txBox="1">
              <a:spLocks noChangeArrowheads="1"/>
            </p:cNvSpPr>
            <p:nvPr/>
          </p:nvSpPr>
          <p:spPr bwMode="auto">
            <a:xfrm>
              <a:off x="428596" y="3334984"/>
              <a:ext cx="167871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en-US" altLang="zh-CN" sz="1600" b="1" dirty="0">
                  <a:solidFill>
                    <a:srgbClr val="9900FF"/>
                  </a:solidFill>
                </a:rPr>
                <a:t>CONTENTS</a:t>
              </a:r>
              <a:endParaRPr lang="zh-CN" altLang="en-US" sz="1600" b="1" dirty="0">
                <a:solidFill>
                  <a:srgbClr val="9900FF"/>
                </a:solidFill>
              </a:endParaRPr>
            </a:p>
          </p:txBody>
        </p:sp>
        <p:sp>
          <p:nvSpPr>
            <p:cNvPr id="20" name="文本框 20"/>
            <p:cNvSpPr txBox="1">
              <a:spLocks noChangeArrowheads="1"/>
            </p:cNvSpPr>
            <p:nvPr/>
          </p:nvSpPr>
          <p:spPr bwMode="auto">
            <a:xfrm>
              <a:off x="808364" y="2965652"/>
              <a:ext cx="8189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zh-CN" altLang="en-US" sz="1800" b="1" dirty="0">
                  <a:solidFill>
                    <a:srgbClr val="008000"/>
                  </a:solidFill>
                </a:rPr>
                <a:t>提纲</a:t>
              </a:r>
            </a:p>
          </p:txBody>
        </p:sp>
      </p:grp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285644" y="3830931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5.3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构造表达式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3" name="TextBox 22">
            <a:hlinkClick r:id="" action="ppaction://noaction"/>
          </p:cNvPr>
          <p:cNvSpPr txBox="1"/>
          <p:nvPr/>
        </p:nvSpPr>
        <p:spPr>
          <a:xfrm>
            <a:off x="285644" y="4597881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5.4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图的</a:t>
            </a:r>
            <a:r>
              <a:rPr lang="pt-BR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m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着色问题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4" name="TextBox 23">
            <a:hlinkClick r:id="" action="ppaction://noaction"/>
          </p:cNvPr>
          <p:cNvSpPr txBox="1"/>
          <p:nvPr/>
        </p:nvSpPr>
        <p:spPr>
          <a:xfrm>
            <a:off x="267829" y="5393830"/>
            <a:ext cx="3643338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5.5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子集和问题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7" name="TextBox 26">
            <a:hlinkClick r:id="" action="ppaction://noaction"/>
          </p:cNvPr>
          <p:cNvSpPr txBox="1"/>
          <p:nvPr/>
        </p:nvSpPr>
        <p:spPr>
          <a:xfrm>
            <a:off x="294121" y="6180369"/>
            <a:ext cx="3617046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5.6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简单装载问题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9" name="TextBox 28">
            <a:hlinkClick r:id="" action="ppaction://noaction"/>
          </p:cNvPr>
          <p:cNvSpPr txBox="1"/>
          <p:nvPr/>
        </p:nvSpPr>
        <p:spPr>
          <a:xfrm>
            <a:off x="4283968" y="1934999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5.7</a:t>
            </a:r>
            <a:r>
              <a:rPr lang="pt-BR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0/1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背包问题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0" name="TextBox 29">
            <a:hlinkClick r:id="" action="ppaction://noaction"/>
          </p:cNvPr>
          <p:cNvSpPr txBox="1"/>
          <p:nvPr/>
        </p:nvSpPr>
        <p:spPr>
          <a:xfrm>
            <a:off x="4295222" y="2710697"/>
            <a:ext cx="3929090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5.8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</a:t>
            </a:r>
            <a:r>
              <a:rPr lang="zh-CN" altLang="en-US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排列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树的回溯算法框架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1" name="TextBox 30">
            <a:hlinkClick r:id="" action="ppaction://noaction"/>
          </p:cNvPr>
          <p:cNvSpPr txBox="1"/>
          <p:nvPr/>
        </p:nvSpPr>
        <p:spPr>
          <a:xfrm>
            <a:off x="4295222" y="3934211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5.9</a:t>
            </a:r>
            <a:r>
              <a:rPr lang="en-US" altLang="zh-CN" sz="2800" i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n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皇后问题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2" name="TextBox 31">
            <a:hlinkClick r:id="" action="ppaction://noaction"/>
          </p:cNvPr>
          <p:cNvSpPr txBox="1"/>
          <p:nvPr/>
        </p:nvSpPr>
        <p:spPr>
          <a:xfrm>
            <a:off x="4319934" y="4681873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5.10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任务分配问题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3" name="TextBox 32">
            <a:hlinkClick r:id="" action="ppaction://noaction"/>
          </p:cNvPr>
          <p:cNvSpPr txBox="1"/>
          <p:nvPr/>
        </p:nvSpPr>
        <p:spPr>
          <a:xfrm>
            <a:off x="4319934" y="5519111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5.11 </a:t>
            </a:r>
            <a:r>
              <a:rPr lang="zh-CN" altLang="en-US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8E89B6-0754-8BD5-C64C-61046620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14282" y="1285860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问题的解空间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500298" y="357166"/>
            <a:ext cx="364333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回溯法概述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2285992"/>
            <a:ext cx="8001056" cy="324383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一个复杂问题的解决方案是由若干个小的决策步骤组成的决策序列，其解可以表示成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，其中分量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步的选择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通常可以有两个或者多个取值，表示为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的取值候选集。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中各个分量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所有的取值的组合构成问题的解向量空间，简称为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解空间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或者解空间树。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EE2E90-C68C-F591-79CC-86966A6E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1406" y="5000636"/>
            <a:ext cx="580496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spc="-150">
                <a:latin typeface="Consolas" pitchFamily="49" charset="0"/>
                <a:ea typeface="仿宋" pitchFamily="49" charset="-122"/>
                <a:cs typeface="Consolas" pitchFamily="49" charset="0"/>
              </a:rPr>
              <a:t>11,12</a:t>
            </a:r>
            <a:endParaRPr lang="zh-CN" altLang="en-US" sz="1400" spc="-15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" name="直接连接符 4"/>
          <p:cNvCxnSpPr>
            <a:stCxn id="37" idx="4"/>
            <a:endCxn id="4" idx="0"/>
          </p:cNvCxnSpPr>
          <p:nvPr/>
        </p:nvCxnSpPr>
        <p:spPr>
          <a:xfrm rot="5400000">
            <a:off x="271935" y="4629661"/>
            <a:ext cx="460694" cy="28125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2662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04810" y="5000636"/>
            <a:ext cx="571504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spc="-150">
                <a:latin typeface="Consolas" pitchFamily="49" charset="0"/>
                <a:ea typeface="仿宋" pitchFamily="49" charset="-122"/>
                <a:cs typeface="Consolas" pitchFamily="49" charset="0"/>
              </a:rPr>
              <a:t>10,11</a:t>
            </a:r>
            <a:endParaRPr lang="zh-CN" altLang="en-US" sz="1400" spc="-15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9" name="直接连接符 8"/>
          <p:cNvCxnSpPr>
            <a:stCxn id="37" idx="4"/>
            <a:endCxn id="8" idx="0"/>
          </p:cNvCxnSpPr>
          <p:nvPr/>
        </p:nvCxnSpPr>
        <p:spPr>
          <a:xfrm rot="16200000" flipH="1">
            <a:off x="536389" y="4646463"/>
            <a:ext cx="460694" cy="24765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7224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42976" y="5000636"/>
            <a:ext cx="468000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9,9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3" name="直接连接符 12"/>
          <p:cNvCxnSpPr>
            <a:stCxn id="41" idx="4"/>
            <a:endCxn id="12" idx="0"/>
          </p:cNvCxnSpPr>
          <p:nvPr/>
        </p:nvCxnSpPr>
        <p:spPr>
          <a:xfrm rot="5400000">
            <a:off x="1268880" y="4648039"/>
            <a:ext cx="460694" cy="24450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690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643042" y="5000636"/>
            <a:ext cx="468000" cy="39600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8,8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8" name="直接连接符 17"/>
          <p:cNvCxnSpPr>
            <a:stCxn id="41" idx="4"/>
            <a:endCxn id="16" idx="0"/>
          </p:cNvCxnSpPr>
          <p:nvPr/>
        </p:nvCxnSpPr>
        <p:spPr>
          <a:xfrm rot="16200000" flipH="1">
            <a:off x="1518912" y="4642506"/>
            <a:ext cx="460694" cy="25556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33292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145"/>
          <p:cNvGrpSpPr/>
          <p:nvPr/>
        </p:nvGrpSpPr>
        <p:grpSpPr>
          <a:xfrm>
            <a:off x="2167172" y="4539942"/>
            <a:ext cx="511306" cy="856694"/>
            <a:chOff x="2167172" y="4539942"/>
            <a:chExt cx="511306" cy="856694"/>
          </a:xfrm>
        </p:grpSpPr>
        <p:sp>
          <p:nvSpPr>
            <p:cNvPr id="21" name="椭圆 20"/>
            <p:cNvSpPr/>
            <p:nvPr/>
          </p:nvSpPr>
          <p:spPr>
            <a:xfrm>
              <a:off x="2167172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8,8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2" name="直接连接符 21"/>
            <p:cNvCxnSpPr>
              <a:stCxn id="45" idx="4"/>
              <a:endCxn id="21" idx="0"/>
            </p:cNvCxnSpPr>
            <p:nvPr/>
          </p:nvCxnSpPr>
          <p:spPr>
            <a:xfrm rot="5400000">
              <a:off x="2309478" y="4631636"/>
              <a:ext cx="460694" cy="277306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385982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" name="组合 146"/>
          <p:cNvGrpSpPr/>
          <p:nvPr/>
        </p:nvGrpSpPr>
        <p:grpSpPr>
          <a:xfrm>
            <a:off x="2673190" y="4539942"/>
            <a:ext cx="468000" cy="856694"/>
            <a:chOff x="2673190" y="4539942"/>
            <a:chExt cx="468000" cy="856694"/>
          </a:xfrm>
        </p:grpSpPr>
        <p:sp>
          <p:nvSpPr>
            <p:cNvPr id="25" name="椭圆 24"/>
            <p:cNvSpPr/>
            <p:nvPr/>
          </p:nvSpPr>
          <p:spPr>
            <a:xfrm>
              <a:off x="2673190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7,7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6" name="直接连接符 25"/>
            <p:cNvCxnSpPr>
              <a:stCxn id="45" idx="4"/>
              <a:endCxn id="25" idx="0"/>
            </p:cNvCxnSpPr>
            <p:nvPr/>
          </p:nvCxnSpPr>
          <p:spPr>
            <a:xfrm rot="16200000" flipH="1">
              <a:off x="2562487" y="4655933"/>
              <a:ext cx="460694" cy="22871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841662" y="4655478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7" name="组合 148"/>
          <p:cNvGrpSpPr/>
          <p:nvPr/>
        </p:nvGrpSpPr>
        <p:grpSpPr>
          <a:xfrm>
            <a:off x="3212628" y="4539942"/>
            <a:ext cx="468000" cy="856694"/>
            <a:chOff x="3212628" y="4539942"/>
            <a:chExt cx="468000" cy="856694"/>
          </a:xfrm>
        </p:grpSpPr>
        <p:sp>
          <p:nvSpPr>
            <p:cNvPr id="29" name="椭圆 28"/>
            <p:cNvSpPr/>
            <p:nvPr/>
          </p:nvSpPr>
          <p:spPr>
            <a:xfrm>
              <a:off x="3212628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6,5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0" name="直接连接符 29"/>
            <p:cNvCxnSpPr>
              <a:stCxn id="49" idx="4"/>
              <a:endCxn id="29" idx="0"/>
            </p:cNvCxnSpPr>
            <p:nvPr/>
          </p:nvCxnSpPr>
          <p:spPr>
            <a:xfrm rot="5400000">
              <a:off x="3330142" y="4656428"/>
              <a:ext cx="460694" cy="22772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381566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11" name="组合 149"/>
          <p:cNvGrpSpPr/>
          <p:nvPr/>
        </p:nvGrpSpPr>
        <p:grpSpPr>
          <a:xfrm>
            <a:off x="3674350" y="4539942"/>
            <a:ext cx="506344" cy="856694"/>
            <a:chOff x="3674350" y="4539942"/>
            <a:chExt cx="506344" cy="856694"/>
          </a:xfrm>
        </p:grpSpPr>
        <p:sp>
          <p:nvSpPr>
            <p:cNvPr id="33" name="椭圆 32"/>
            <p:cNvSpPr/>
            <p:nvPr/>
          </p:nvSpPr>
          <p:spPr>
            <a:xfrm>
              <a:off x="3712694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5,4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4" name="直接连接符 33"/>
            <p:cNvCxnSpPr>
              <a:stCxn id="49" idx="4"/>
              <a:endCxn id="33" idx="0"/>
            </p:cNvCxnSpPr>
            <p:nvPr/>
          </p:nvCxnSpPr>
          <p:spPr>
            <a:xfrm rot="16200000" flipH="1">
              <a:off x="3580175" y="4634117"/>
              <a:ext cx="460694" cy="272344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891666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37" name="椭圆 36"/>
          <p:cNvSpPr/>
          <p:nvPr/>
        </p:nvSpPr>
        <p:spPr>
          <a:xfrm>
            <a:off x="285720" y="4071942"/>
            <a:ext cx="71438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10,11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38" name="直接连接符 37"/>
          <p:cNvCxnSpPr>
            <a:stCxn id="53" idx="3"/>
            <a:endCxn id="37" idx="0"/>
          </p:cNvCxnSpPr>
          <p:nvPr/>
        </p:nvCxnSpPr>
        <p:spPr>
          <a:xfrm rot="5400000">
            <a:off x="400786" y="3531150"/>
            <a:ext cx="782917" cy="298667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4036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1333477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8,8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42" name="直接连接符 41"/>
          <p:cNvCxnSpPr>
            <a:stCxn id="53" idx="5"/>
            <a:endCxn id="41" idx="0"/>
          </p:cNvCxnSpPr>
          <p:nvPr/>
        </p:nvCxnSpPr>
        <p:spPr>
          <a:xfrm rot="16200000" flipH="1">
            <a:off x="1093716" y="3544180"/>
            <a:ext cx="782917" cy="27260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500166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390478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7,7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46" name="直接连接符 45"/>
          <p:cNvCxnSpPr>
            <a:stCxn id="57" idx="3"/>
            <a:endCxn id="45" idx="0"/>
          </p:cNvCxnSpPr>
          <p:nvPr/>
        </p:nvCxnSpPr>
        <p:spPr>
          <a:xfrm rot="5400000">
            <a:off x="2417677" y="3549827"/>
            <a:ext cx="782917" cy="26131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57375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386350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0" name="直接连接符 49"/>
          <p:cNvCxnSpPr>
            <a:stCxn id="57" idx="5"/>
            <a:endCxn id="49" idx="0"/>
          </p:cNvCxnSpPr>
          <p:nvPr/>
        </p:nvCxnSpPr>
        <p:spPr>
          <a:xfrm rot="16200000" flipH="1">
            <a:off x="3119259" y="3516850"/>
            <a:ext cx="782917" cy="32726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00430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857224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8,8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4" name="直接连接符 53"/>
          <p:cNvCxnSpPr>
            <a:stCxn id="118" idx="3"/>
            <a:endCxn id="53" idx="7"/>
          </p:cNvCxnSpPr>
          <p:nvPr/>
        </p:nvCxnSpPr>
        <p:spPr>
          <a:xfrm rot="5400000">
            <a:off x="1401811" y="2346763"/>
            <a:ext cx="558396" cy="664276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582101" y="248901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855438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58" name="直接连接符 57"/>
          <p:cNvCxnSpPr>
            <a:stCxn id="118" idx="5"/>
            <a:endCxn id="57" idx="1"/>
          </p:cNvCxnSpPr>
          <p:nvPr/>
        </p:nvCxnSpPr>
        <p:spPr>
          <a:xfrm rot="16200000" flipH="1">
            <a:off x="2400918" y="2419226"/>
            <a:ext cx="558396" cy="51935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643174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4286248" y="5000636"/>
            <a:ext cx="468000" cy="396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6,8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62" name="直接连接符 61"/>
          <p:cNvCxnSpPr>
            <a:stCxn id="93" idx="4"/>
            <a:endCxn id="61" idx="0"/>
          </p:cNvCxnSpPr>
          <p:nvPr/>
        </p:nvCxnSpPr>
        <p:spPr>
          <a:xfrm rot="5400000">
            <a:off x="4428554" y="4631636"/>
            <a:ext cx="460694" cy="277306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505058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15" name="组合 154"/>
          <p:cNvGrpSpPr/>
          <p:nvPr/>
        </p:nvGrpSpPr>
        <p:grpSpPr>
          <a:xfrm>
            <a:off x="4795306" y="4539942"/>
            <a:ext cx="468000" cy="856694"/>
            <a:chOff x="4795306" y="4539942"/>
            <a:chExt cx="468000" cy="856694"/>
          </a:xfrm>
        </p:grpSpPr>
        <p:sp>
          <p:nvSpPr>
            <p:cNvPr id="65" name="椭圆 64"/>
            <p:cNvSpPr/>
            <p:nvPr/>
          </p:nvSpPr>
          <p:spPr>
            <a:xfrm>
              <a:off x="4795306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5,7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66" name="直接连接符 65"/>
            <p:cNvCxnSpPr>
              <a:stCxn id="93" idx="4"/>
              <a:endCxn id="65" idx="0"/>
            </p:cNvCxnSpPr>
            <p:nvPr/>
          </p:nvCxnSpPr>
          <p:spPr>
            <a:xfrm rot="16200000" flipH="1">
              <a:off x="4683083" y="4654413"/>
              <a:ext cx="460694" cy="23175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5009620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17" name="组合 156"/>
          <p:cNvGrpSpPr/>
          <p:nvPr/>
        </p:nvGrpSpPr>
        <p:grpSpPr>
          <a:xfrm>
            <a:off x="5295372" y="4539942"/>
            <a:ext cx="468000" cy="856694"/>
            <a:chOff x="5295372" y="4539942"/>
            <a:chExt cx="468000" cy="856694"/>
          </a:xfrm>
        </p:grpSpPr>
        <p:sp>
          <p:nvSpPr>
            <p:cNvPr id="69" name="椭圆 68"/>
            <p:cNvSpPr/>
            <p:nvPr/>
          </p:nvSpPr>
          <p:spPr>
            <a:xfrm>
              <a:off x="5295372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4,5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0" name="直接连接符 69"/>
            <p:cNvCxnSpPr>
              <a:stCxn id="97" idx="4"/>
              <a:endCxn id="69" idx="0"/>
            </p:cNvCxnSpPr>
            <p:nvPr/>
          </p:nvCxnSpPr>
          <p:spPr>
            <a:xfrm rot="5400000">
              <a:off x="5397463" y="4671851"/>
              <a:ext cx="460694" cy="196876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5478086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0" name="组合 157"/>
          <p:cNvGrpSpPr/>
          <p:nvPr/>
        </p:nvGrpSpPr>
        <p:grpSpPr>
          <a:xfrm>
            <a:off x="5726248" y="4539942"/>
            <a:ext cx="537190" cy="856694"/>
            <a:chOff x="5726248" y="4539942"/>
            <a:chExt cx="537190" cy="856694"/>
          </a:xfrm>
        </p:grpSpPr>
        <p:sp>
          <p:nvSpPr>
            <p:cNvPr id="73" name="椭圆 72"/>
            <p:cNvSpPr/>
            <p:nvPr/>
          </p:nvSpPr>
          <p:spPr>
            <a:xfrm>
              <a:off x="5795438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3,4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4" name="直接连接符 73"/>
            <p:cNvCxnSpPr>
              <a:stCxn id="97" idx="4"/>
              <a:endCxn id="73" idx="0"/>
            </p:cNvCxnSpPr>
            <p:nvPr/>
          </p:nvCxnSpPr>
          <p:spPr>
            <a:xfrm rot="16200000" flipH="1">
              <a:off x="5647496" y="4618694"/>
              <a:ext cx="460694" cy="3031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5985688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4" name="组合 160"/>
          <p:cNvGrpSpPr/>
          <p:nvPr/>
        </p:nvGrpSpPr>
        <p:grpSpPr>
          <a:xfrm>
            <a:off x="6319568" y="4539942"/>
            <a:ext cx="511306" cy="856694"/>
            <a:chOff x="6319568" y="4539942"/>
            <a:chExt cx="511306" cy="856694"/>
          </a:xfrm>
        </p:grpSpPr>
        <p:sp>
          <p:nvSpPr>
            <p:cNvPr id="77" name="椭圆 76"/>
            <p:cNvSpPr/>
            <p:nvPr/>
          </p:nvSpPr>
          <p:spPr>
            <a:xfrm>
              <a:off x="6319568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3,4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8" name="直接连接符 77"/>
            <p:cNvCxnSpPr>
              <a:stCxn id="101" idx="4"/>
              <a:endCxn id="77" idx="0"/>
            </p:cNvCxnSpPr>
            <p:nvPr/>
          </p:nvCxnSpPr>
          <p:spPr>
            <a:xfrm rot="5400000">
              <a:off x="6461874" y="4631636"/>
              <a:ext cx="460694" cy="277306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538378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8" name="组合 161"/>
          <p:cNvGrpSpPr/>
          <p:nvPr/>
        </p:nvGrpSpPr>
        <p:grpSpPr>
          <a:xfrm>
            <a:off x="6825586" y="4539942"/>
            <a:ext cx="468000" cy="856694"/>
            <a:chOff x="6825586" y="4539942"/>
            <a:chExt cx="468000" cy="856694"/>
          </a:xfrm>
        </p:grpSpPr>
        <p:sp>
          <p:nvSpPr>
            <p:cNvPr id="81" name="椭圆 80"/>
            <p:cNvSpPr/>
            <p:nvPr/>
          </p:nvSpPr>
          <p:spPr>
            <a:xfrm>
              <a:off x="6825586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2,3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82" name="直接连接符 81"/>
            <p:cNvCxnSpPr>
              <a:stCxn id="101" idx="4"/>
              <a:endCxn id="81" idx="0"/>
            </p:cNvCxnSpPr>
            <p:nvPr/>
          </p:nvCxnSpPr>
          <p:spPr>
            <a:xfrm rot="16200000" flipH="1">
              <a:off x="6714883" y="4655933"/>
              <a:ext cx="460694" cy="22871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6994058" y="4655478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2" name="组合 163"/>
          <p:cNvGrpSpPr/>
          <p:nvPr/>
        </p:nvGrpSpPr>
        <p:grpSpPr>
          <a:xfrm>
            <a:off x="7365024" y="4539942"/>
            <a:ext cx="468000" cy="856694"/>
            <a:chOff x="7365024" y="4539942"/>
            <a:chExt cx="468000" cy="856694"/>
          </a:xfrm>
        </p:grpSpPr>
        <p:sp>
          <p:nvSpPr>
            <p:cNvPr id="85" name="椭圆 84"/>
            <p:cNvSpPr/>
            <p:nvPr/>
          </p:nvSpPr>
          <p:spPr>
            <a:xfrm>
              <a:off x="7365024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1,1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86" name="直接连接符 85"/>
            <p:cNvCxnSpPr>
              <a:stCxn id="105" idx="4"/>
              <a:endCxn id="85" idx="0"/>
            </p:cNvCxnSpPr>
            <p:nvPr/>
          </p:nvCxnSpPr>
          <p:spPr>
            <a:xfrm rot="5400000">
              <a:off x="7482538" y="4656428"/>
              <a:ext cx="460694" cy="227722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7533962" y="4679542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36" name="组合 164"/>
          <p:cNvGrpSpPr/>
          <p:nvPr/>
        </p:nvGrpSpPr>
        <p:grpSpPr>
          <a:xfrm>
            <a:off x="7826746" y="4539942"/>
            <a:ext cx="506344" cy="856694"/>
            <a:chOff x="7826746" y="4539942"/>
            <a:chExt cx="506344" cy="856694"/>
          </a:xfrm>
        </p:grpSpPr>
        <p:sp>
          <p:nvSpPr>
            <p:cNvPr id="89" name="椭圆 88"/>
            <p:cNvSpPr/>
            <p:nvPr/>
          </p:nvSpPr>
          <p:spPr>
            <a:xfrm>
              <a:off x="7865090" y="5000636"/>
              <a:ext cx="468000" cy="396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0,0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90" name="直接连接符 89"/>
            <p:cNvCxnSpPr>
              <a:stCxn id="105" idx="4"/>
              <a:endCxn id="89" idx="0"/>
            </p:cNvCxnSpPr>
            <p:nvPr/>
          </p:nvCxnSpPr>
          <p:spPr>
            <a:xfrm rot="16200000" flipH="1">
              <a:off x="7732571" y="4634117"/>
              <a:ext cx="460694" cy="272344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7976328" y="4645675"/>
              <a:ext cx="142876" cy="2143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93" name="椭圆 92"/>
          <p:cNvSpPr/>
          <p:nvPr/>
        </p:nvSpPr>
        <p:spPr>
          <a:xfrm>
            <a:off x="4509554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5,7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94" name="直接连接符 93"/>
          <p:cNvCxnSpPr>
            <a:stCxn id="109" idx="3"/>
            <a:endCxn id="93" idx="0"/>
          </p:cNvCxnSpPr>
          <p:nvPr/>
        </p:nvCxnSpPr>
        <p:spPr>
          <a:xfrm rot="5400000">
            <a:off x="4554306" y="3532274"/>
            <a:ext cx="782917" cy="296419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799010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5438248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3,4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98" name="直接连接符 97"/>
          <p:cNvCxnSpPr>
            <a:stCxn id="109" idx="5"/>
            <a:endCxn id="97" idx="0"/>
          </p:cNvCxnSpPr>
          <p:nvPr/>
        </p:nvCxnSpPr>
        <p:spPr>
          <a:xfrm rot="16200000" flipH="1">
            <a:off x="5222299" y="3567992"/>
            <a:ext cx="782917" cy="22498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652562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6542874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2,3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02" name="直接连接符 101"/>
          <p:cNvCxnSpPr>
            <a:stCxn id="113" idx="3"/>
            <a:endCxn id="101" idx="0"/>
          </p:cNvCxnSpPr>
          <p:nvPr/>
        </p:nvCxnSpPr>
        <p:spPr>
          <a:xfrm rot="5400000">
            <a:off x="6570073" y="3549827"/>
            <a:ext cx="782917" cy="261313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809771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5" name="椭圆 104"/>
          <p:cNvSpPr/>
          <p:nvPr/>
        </p:nvSpPr>
        <p:spPr>
          <a:xfrm>
            <a:off x="7538746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06" name="直接连接符 105"/>
          <p:cNvCxnSpPr>
            <a:stCxn id="113" idx="5"/>
            <a:endCxn id="105" idx="0"/>
          </p:cNvCxnSpPr>
          <p:nvPr/>
        </p:nvCxnSpPr>
        <p:spPr>
          <a:xfrm rot="16200000" flipH="1">
            <a:off x="7271655" y="3516850"/>
            <a:ext cx="782917" cy="327265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664115" y="356058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5009620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3,4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10" name="直接连接符 109"/>
          <p:cNvCxnSpPr>
            <a:stCxn id="122" idx="3"/>
            <a:endCxn id="109" idx="7"/>
          </p:cNvCxnSpPr>
          <p:nvPr/>
        </p:nvCxnSpPr>
        <p:spPr>
          <a:xfrm rot="5400000">
            <a:off x="5554207" y="2346763"/>
            <a:ext cx="558396" cy="664276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745786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7007834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14" name="直接连接符 113"/>
          <p:cNvCxnSpPr>
            <a:stCxn id="122" idx="5"/>
            <a:endCxn id="113" idx="1"/>
          </p:cNvCxnSpPr>
          <p:nvPr/>
        </p:nvCxnSpPr>
        <p:spPr>
          <a:xfrm rot="16200000" flipH="1">
            <a:off x="6553314" y="2419226"/>
            <a:ext cx="558396" cy="51935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806859" y="254546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6" name="椭圆 115"/>
          <p:cNvSpPr/>
          <p:nvPr/>
        </p:nvSpPr>
        <p:spPr>
          <a:xfrm>
            <a:off x="3924562" y="500042"/>
            <a:ext cx="576000" cy="4680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1928794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5,4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19" name="直接连接符 118"/>
          <p:cNvCxnSpPr>
            <a:stCxn id="116" idx="3"/>
            <a:endCxn id="118" idx="7"/>
          </p:cNvCxnSpPr>
          <p:nvPr/>
        </p:nvCxnSpPr>
        <p:spPr>
          <a:xfrm rot="5400000">
            <a:off x="2630042" y="689904"/>
            <a:ext cx="1169272" cy="1588474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924430" y="142873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2" name="椭圆 121"/>
          <p:cNvSpPr/>
          <p:nvPr/>
        </p:nvSpPr>
        <p:spPr>
          <a:xfrm>
            <a:off x="6081190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0,0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23" name="直接连接符 122"/>
          <p:cNvCxnSpPr>
            <a:stCxn id="116" idx="5"/>
            <a:endCxn id="122" idx="1"/>
          </p:cNvCxnSpPr>
          <p:nvPr/>
        </p:nvCxnSpPr>
        <p:spPr>
          <a:xfrm rot="16200000" flipH="1">
            <a:off x="4706240" y="609474"/>
            <a:ext cx="1169272" cy="1749334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402797" y="141744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endParaRPr lang="zh-CN" altLang="en-US" sz="14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40" name="组合 133"/>
          <p:cNvGrpSpPr/>
          <p:nvPr/>
        </p:nvGrpSpPr>
        <p:grpSpPr>
          <a:xfrm>
            <a:off x="5869173" y="1212163"/>
            <a:ext cx="3204175" cy="3751540"/>
            <a:chOff x="5869173" y="1212163"/>
            <a:chExt cx="3204175" cy="3751540"/>
          </a:xfrm>
        </p:grpSpPr>
        <p:sp>
          <p:nvSpPr>
            <p:cNvPr id="126" name="TextBox 125"/>
            <p:cNvSpPr txBox="1"/>
            <p:nvPr/>
          </p:nvSpPr>
          <p:spPr>
            <a:xfrm>
              <a:off x="8143900" y="1212163"/>
              <a:ext cx="929448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x0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143900" y="2404053"/>
              <a:ext cx="929448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x1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8143900" y="3426741"/>
              <a:ext cx="929448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x2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228314" y="4569749"/>
              <a:ext cx="845034" cy="393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spc="-15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x3</a:t>
              </a:r>
              <a:r>
                <a:rPr lang="zh-CN" altLang="en-US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：选或不选物品</a:t>
              </a:r>
              <a:r>
                <a:rPr lang="en-US" altLang="zh-CN" sz="1600" spc="-15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6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5869173" y="1440025"/>
              <a:ext cx="21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7124905" y="2620626"/>
              <a:ext cx="108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7840028" y="3643314"/>
              <a:ext cx="50006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5" name="TextBox 134"/>
          <p:cNvSpPr txBox="1"/>
          <p:nvPr/>
        </p:nvSpPr>
        <p:spPr>
          <a:xfrm>
            <a:off x="4572000" y="642918"/>
            <a:ext cx="1214446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spc="-15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根结点：</a:t>
            </a:r>
            <a:r>
              <a:rPr lang="en-US" altLang="zh-CN" sz="1800" i="1" spc="-15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pc="-15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endParaRPr lang="zh-CN" altLang="en-US" sz="1800" spc="-15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655998" y="2034452"/>
            <a:ext cx="357190" cy="196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655998" y="2987964"/>
            <a:ext cx="357190" cy="196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655998" y="4166314"/>
            <a:ext cx="357190" cy="196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=3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678576" y="5116832"/>
            <a:ext cx="357190" cy="2005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i="1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600" spc="-15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=4</a:t>
            </a:r>
            <a:endParaRPr lang="zh-CN" altLang="en-US" sz="1600" spc="-15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40" name="直接连接符 139"/>
          <p:cNvCxnSpPr/>
          <p:nvPr/>
        </p:nvCxnSpPr>
        <p:spPr>
          <a:xfrm>
            <a:off x="6715140" y="2178458"/>
            <a:ext cx="1908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>
            <a:off x="7563966" y="3095874"/>
            <a:ext cx="1080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>
            <a:off x="8176062" y="4286256"/>
            <a:ext cx="504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8355404" y="5214950"/>
            <a:ext cx="3600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4" name="组合 132"/>
          <p:cNvGrpSpPr/>
          <p:nvPr/>
        </p:nvGrpSpPr>
        <p:grpSpPr>
          <a:xfrm>
            <a:off x="3988464" y="5396636"/>
            <a:ext cx="1071570" cy="675570"/>
            <a:chOff x="3988464" y="5396636"/>
            <a:chExt cx="1071570" cy="675570"/>
          </a:xfrm>
        </p:grpSpPr>
        <p:sp>
          <p:nvSpPr>
            <p:cNvPr id="145" name="TextBox 144"/>
            <p:cNvSpPr txBox="1"/>
            <p:nvPr/>
          </p:nvSpPr>
          <p:spPr>
            <a:xfrm>
              <a:off x="3988464" y="5702874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微软雅黑" pitchFamily="34" charset="-122"/>
                  <a:cs typeface="Consolas" pitchFamily="49" charset="0"/>
                </a:rPr>
                <a:t>最优解</a:t>
              </a:r>
            </a:p>
          </p:txBody>
        </p:sp>
        <p:cxnSp>
          <p:nvCxnSpPr>
            <p:cNvPr id="146" name="直接箭头连接符 145"/>
            <p:cNvCxnSpPr>
              <a:stCxn id="145" idx="0"/>
              <a:endCxn id="61" idx="4"/>
            </p:cNvCxnSpPr>
            <p:nvPr/>
          </p:nvCxnSpPr>
          <p:spPr>
            <a:xfrm rot="16200000" flipV="1">
              <a:off x="4369130" y="5547754"/>
              <a:ext cx="306238" cy="40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47" name="TextBox 146"/>
          <p:cNvSpPr txBox="1"/>
          <p:nvPr/>
        </p:nvSpPr>
        <p:spPr>
          <a:xfrm>
            <a:off x="5000628" y="142852"/>
            <a:ext cx="2571768" cy="3139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zh-CN" altLang="en-US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总重量</a:t>
            </a:r>
            <a:r>
              <a:rPr lang="en-US" altLang="zh-CN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cw,</a:t>
            </a:r>
            <a:r>
              <a:rPr lang="zh-CN" altLang="en-US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总价值</a:t>
            </a:r>
            <a:r>
              <a:rPr lang="en-US" altLang="zh-CN" sz="18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cv)</a:t>
            </a:r>
            <a:endParaRPr lang="zh-CN" altLang="en-US" sz="1800">
              <a:solidFill>
                <a:schemeClr val="bg1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149" name="Group 104"/>
          <p:cNvGraphicFramePr>
            <a:graphicFrameLocks noGrp="1"/>
          </p:cNvGraphicFramePr>
          <p:nvPr/>
        </p:nvGraphicFramePr>
        <p:xfrm>
          <a:off x="71407" y="632835"/>
          <a:ext cx="1785948" cy="143884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95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i</a:t>
                      </a:r>
                      <a:endParaRPr kumimoji="0" lang="zh-CN" alt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pt-BR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重量</a:t>
                      </a:r>
                      <a:endParaRPr kumimoji="0" lang="zh-CN" alt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pt-BR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价值</a:t>
                      </a:r>
                      <a:endParaRPr kumimoji="0" lang="zh-CN" alt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400" b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kumimoji="0" lang="pt-BR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90000" marR="9000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214282" y="6000768"/>
            <a:ext cx="36433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0/1</a:t>
            </a:r>
            <a:r>
              <a:rPr lang="zh-CN" altLang="zh-CN" sz="2200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背包问题的解空间树</a:t>
            </a:r>
            <a:endParaRPr lang="zh-CN" altLang="en-US" sz="22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48" name="组合 143"/>
          <p:cNvGrpSpPr/>
          <p:nvPr/>
        </p:nvGrpSpPr>
        <p:grpSpPr>
          <a:xfrm>
            <a:off x="2143108" y="142852"/>
            <a:ext cx="853211" cy="761171"/>
            <a:chOff x="6862060" y="4310903"/>
            <a:chExt cx="1128915" cy="1130667"/>
          </a:xfrm>
        </p:grpSpPr>
        <p:grpSp>
          <p:nvGrpSpPr>
            <p:cNvPr id="52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154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" name="Text Box 71"/>
            <p:cNvSpPr txBox="1">
              <a:spLocks noChangeArrowheads="1"/>
            </p:cNvSpPr>
            <p:nvPr/>
          </p:nvSpPr>
          <p:spPr bwMode="auto">
            <a:xfrm>
              <a:off x="6923115" y="4640482"/>
              <a:ext cx="1039812" cy="466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56" name="任意多边形 155"/>
          <p:cNvSpPr/>
          <p:nvPr/>
        </p:nvSpPr>
        <p:spPr>
          <a:xfrm>
            <a:off x="4368800" y="304800"/>
            <a:ext cx="632178" cy="191911"/>
          </a:xfrm>
          <a:custGeom>
            <a:avLst/>
            <a:gdLst>
              <a:gd name="connsiteX0" fmla="*/ 632178 w 632178"/>
              <a:gd name="connsiteY0" fmla="*/ 0 h 191911"/>
              <a:gd name="connsiteX1" fmla="*/ 225778 w 632178"/>
              <a:gd name="connsiteY1" fmla="*/ 33867 h 191911"/>
              <a:gd name="connsiteX2" fmla="*/ 0 w 632178"/>
              <a:gd name="connsiteY2" fmla="*/ 191911 h 191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178" h="191911">
                <a:moveTo>
                  <a:pt x="632178" y="0"/>
                </a:moveTo>
                <a:cubicBezTo>
                  <a:pt x="481659" y="941"/>
                  <a:pt x="331141" y="1882"/>
                  <a:pt x="225778" y="33867"/>
                </a:cubicBezTo>
                <a:cubicBezTo>
                  <a:pt x="120415" y="65852"/>
                  <a:pt x="60207" y="128881"/>
                  <a:pt x="0" y="191911"/>
                </a:cubicBezTo>
              </a:path>
            </a:pathLst>
          </a:cu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灯片编号占位符 55">
            <a:extLst>
              <a:ext uri="{FF2B5EF4-FFF2-40B4-BE49-F238E27FC236}">
                <a16:creationId xmlns:a16="http://schemas.microsoft.com/office/drawing/2014/main" id="{669186E1-17F3-686C-AB44-703A22B7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300039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解空间的一般结构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3538" name="Rectangle 5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54"/>
          <p:cNvGrpSpPr/>
          <p:nvPr/>
        </p:nvGrpSpPr>
        <p:grpSpPr>
          <a:xfrm>
            <a:off x="428596" y="1285860"/>
            <a:ext cx="8286808" cy="3571900"/>
            <a:chOff x="428596" y="1714488"/>
            <a:chExt cx="8286808" cy="3571900"/>
          </a:xfrm>
        </p:grpSpPr>
        <p:sp>
          <p:nvSpPr>
            <p:cNvPr id="63536" name="Rectangle 48"/>
            <p:cNvSpPr>
              <a:spLocks noChangeArrowheads="1"/>
            </p:cNvSpPr>
            <p:nvPr/>
          </p:nvSpPr>
          <p:spPr bwMode="auto">
            <a:xfrm>
              <a:off x="3367935" y="2232153"/>
              <a:ext cx="73417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5" name="Rectangle 47"/>
            <p:cNvSpPr>
              <a:spLocks noChangeArrowheads="1"/>
            </p:cNvSpPr>
            <p:nvPr/>
          </p:nvSpPr>
          <p:spPr bwMode="auto">
            <a:xfrm>
              <a:off x="2764859" y="2770786"/>
              <a:ext cx="350046" cy="2974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4" name="Rectangle 46"/>
            <p:cNvSpPr>
              <a:spLocks noChangeArrowheads="1"/>
            </p:cNvSpPr>
            <p:nvPr/>
          </p:nvSpPr>
          <p:spPr bwMode="auto">
            <a:xfrm>
              <a:off x="428596" y="3643608"/>
              <a:ext cx="814152" cy="2974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结点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18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3" name="Rectangle 45"/>
            <p:cNvSpPr>
              <a:spLocks noChangeArrowheads="1"/>
            </p:cNvSpPr>
            <p:nvPr/>
          </p:nvSpPr>
          <p:spPr bwMode="auto">
            <a:xfrm>
              <a:off x="821906" y="2715743"/>
              <a:ext cx="814152" cy="2974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结点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2" name="Rectangle 44"/>
            <p:cNvSpPr>
              <a:spLocks noChangeArrowheads="1"/>
            </p:cNvSpPr>
            <p:nvPr/>
          </p:nvSpPr>
          <p:spPr bwMode="auto">
            <a:xfrm>
              <a:off x="714348" y="3082696"/>
              <a:ext cx="811530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1,0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1" name="Rectangle 43"/>
            <p:cNvSpPr>
              <a:spLocks noChangeArrowheads="1"/>
            </p:cNvSpPr>
            <p:nvPr/>
          </p:nvSpPr>
          <p:spPr bwMode="auto">
            <a:xfrm>
              <a:off x="4217485" y="2055229"/>
              <a:ext cx="73417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0,</a:t>
              </a:r>
              <a:r>
                <a:rPr kumimoji="0" lang="en-US" altLang="zh-CN" sz="18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30" name="Rectangle 42"/>
            <p:cNvSpPr>
              <a:spLocks noChangeArrowheads="1"/>
            </p:cNvSpPr>
            <p:nvPr/>
          </p:nvSpPr>
          <p:spPr bwMode="auto">
            <a:xfrm>
              <a:off x="2071670" y="2086816"/>
              <a:ext cx="73417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0,0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9" name="Oval 41"/>
            <p:cNvSpPr>
              <a:spLocks noChangeArrowheads="1"/>
            </p:cNvSpPr>
            <p:nvPr/>
          </p:nvSpPr>
          <p:spPr bwMode="auto">
            <a:xfrm>
              <a:off x="3249942" y="1816710"/>
              <a:ext cx="297605" cy="29749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8" name="Rectangle 40"/>
            <p:cNvSpPr>
              <a:spLocks noChangeArrowheads="1"/>
            </p:cNvSpPr>
            <p:nvPr/>
          </p:nvSpPr>
          <p:spPr bwMode="auto">
            <a:xfrm>
              <a:off x="5934940" y="2424803"/>
              <a:ext cx="753845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∈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7" name="Oval 39"/>
            <p:cNvSpPr>
              <a:spLocks noChangeArrowheads="1"/>
            </p:cNvSpPr>
            <p:nvPr/>
          </p:nvSpPr>
          <p:spPr bwMode="auto">
            <a:xfrm>
              <a:off x="1609838" y="2812724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6" name="Oval 38"/>
            <p:cNvSpPr>
              <a:spLocks noChangeArrowheads="1"/>
            </p:cNvSpPr>
            <p:nvPr/>
          </p:nvSpPr>
          <p:spPr bwMode="auto">
            <a:xfrm>
              <a:off x="3053287" y="2812724"/>
              <a:ext cx="298916" cy="29749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5" name="Oval 37"/>
            <p:cNvSpPr>
              <a:spLocks noChangeArrowheads="1"/>
            </p:cNvSpPr>
            <p:nvPr/>
          </p:nvSpPr>
          <p:spPr bwMode="auto">
            <a:xfrm>
              <a:off x="4804829" y="2812724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4" name="Rectangle 36"/>
            <p:cNvSpPr>
              <a:spLocks noChangeArrowheads="1"/>
            </p:cNvSpPr>
            <p:nvPr/>
          </p:nvSpPr>
          <p:spPr bwMode="auto">
            <a:xfrm>
              <a:off x="3714744" y="2802507"/>
              <a:ext cx="294983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23" name="AutoShape 35"/>
            <p:cNvSpPr>
              <a:spLocks noChangeShapeType="1"/>
            </p:cNvSpPr>
            <p:nvPr/>
          </p:nvSpPr>
          <p:spPr bwMode="auto">
            <a:xfrm flipH="1">
              <a:off x="1864179" y="2070956"/>
              <a:ext cx="1429027" cy="785016"/>
            </a:xfrm>
            <a:prstGeom prst="straightConnector1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2" name="AutoShape 34"/>
            <p:cNvSpPr>
              <a:spLocks noChangeShapeType="1"/>
            </p:cNvSpPr>
            <p:nvPr/>
          </p:nvSpPr>
          <p:spPr bwMode="auto">
            <a:xfrm flipH="1">
              <a:off x="3202745" y="2114204"/>
              <a:ext cx="196655" cy="69852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1" name="AutoShape 33"/>
            <p:cNvSpPr>
              <a:spLocks noChangeShapeType="1"/>
            </p:cNvSpPr>
            <p:nvPr/>
          </p:nvSpPr>
          <p:spPr bwMode="auto">
            <a:xfrm>
              <a:off x="3504283" y="2070956"/>
              <a:ext cx="1450004" cy="74176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20" name="AutoShape 32"/>
            <p:cNvSpPr>
              <a:spLocks noChangeShapeType="1"/>
            </p:cNvSpPr>
            <p:nvPr/>
          </p:nvSpPr>
          <p:spPr bwMode="auto">
            <a:xfrm>
              <a:off x="1893021" y="2603037"/>
              <a:ext cx="3864929" cy="131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9" name="Oval 31"/>
            <p:cNvSpPr>
              <a:spLocks noChangeArrowheads="1"/>
            </p:cNvSpPr>
            <p:nvPr/>
          </p:nvSpPr>
          <p:spPr bwMode="auto">
            <a:xfrm>
              <a:off x="1228327" y="3669819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8" name="Oval 30"/>
            <p:cNvSpPr>
              <a:spLocks noChangeArrowheads="1"/>
            </p:cNvSpPr>
            <p:nvPr/>
          </p:nvSpPr>
          <p:spPr bwMode="auto">
            <a:xfrm>
              <a:off x="1957262" y="3669819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7" name="Rectangle 29"/>
            <p:cNvSpPr>
              <a:spLocks noChangeArrowheads="1"/>
            </p:cNvSpPr>
            <p:nvPr/>
          </p:nvSpPr>
          <p:spPr bwMode="auto">
            <a:xfrm>
              <a:off x="1630815" y="3696030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16" name="AutoShape 28"/>
            <p:cNvSpPr>
              <a:spLocks noChangeShapeType="1"/>
            </p:cNvSpPr>
            <p:nvPr/>
          </p:nvSpPr>
          <p:spPr bwMode="auto">
            <a:xfrm flipH="1">
              <a:off x="1377785" y="3065658"/>
              <a:ext cx="275317" cy="604161"/>
            </a:xfrm>
            <a:prstGeom prst="straightConnector1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5" name="AutoShape 27"/>
            <p:cNvSpPr>
              <a:spLocks noChangeShapeType="1"/>
            </p:cNvSpPr>
            <p:nvPr/>
          </p:nvSpPr>
          <p:spPr bwMode="auto">
            <a:xfrm>
              <a:off x="1864179" y="3065658"/>
              <a:ext cx="242541" cy="6041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4" name="Oval 26"/>
            <p:cNvSpPr>
              <a:spLocks noChangeArrowheads="1"/>
            </p:cNvSpPr>
            <p:nvPr/>
          </p:nvSpPr>
          <p:spPr bwMode="auto">
            <a:xfrm>
              <a:off x="980541" y="4908283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3" name="Oval 25"/>
            <p:cNvSpPr>
              <a:spLocks noChangeArrowheads="1"/>
            </p:cNvSpPr>
            <p:nvPr/>
          </p:nvSpPr>
          <p:spPr bwMode="auto">
            <a:xfrm>
              <a:off x="2652110" y="3669819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2" name="Oval 24"/>
            <p:cNvSpPr>
              <a:spLocks noChangeArrowheads="1"/>
            </p:cNvSpPr>
            <p:nvPr/>
          </p:nvSpPr>
          <p:spPr bwMode="auto">
            <a:xfrm>
              <a:off x="3487239" y="3669819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11" name="Rectangle 23"/>
            <p:cNvSpPr>
              <a:spLocks noChangeArrowheads="1"/>
            </p:cNvSpPr>
            <p:nvPr/>
          </p:nvSpPr>
          <p:spPr bwMode="auto">
            <a:xfrm>
              <a:off x="3089996" y="3692098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10" name="AutoShape 22"/>
            <p:cNvSpPr>
              <a:spLocks noChangeShapeType="1"/>
            </p:cNvSpPr>
            <p:nvPr/>
          </p:nvSpPr>
          <p:spPr bwMode="auto">
            <a:xfrm flipH="1">
              <a:off x="2801568" y="3066969"/>
              <a:ext cx="294983" cy="6028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9" name="AutoShape 21"/>
            <p:cNvSpPr>
              <a:spLocks noChangeShapeType="1"/>
            </p:cNvSpPr>
            <p:nvPr/>
          </p:nvSpPr>
          <p:spPr bwMode="auto">
            <a:xfrm>
              <a:off x="3308939" y="3066969"/>
              <a:ext cx="327759" cy="6028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8" name="Oval 20"/>
            <p:cNvSpPr>
              <a:spLocks noChangeArrowheads="1"/>
            </p:cNvSpPr>
            <p:nvPr/>
          </p:nvSpPr>
          <p:spPr bwMode="auto">
            <a:xfrm>
              <a:off x="4453472" y="3669819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7" name="Oval 19"/>
            <p:cNvSpPr>
              <a:spLocks noChangeArrowheads="1"/>
            </p:cNvSpPr>
            <p:nvPr/>
          </p:nvSpPr>
          <p:spPr bwMode="auto">
            <a:xfrm>
              <a:off x="5194206" y="3669819"/>
              <a:ext cx="298916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6" name="Rectangle 18"/>
            <p:cNvSpPr>
              <a:spLocks noChangeArrowheads="1"/>
            </p:cNvSpPr>
            <p:nvPr/>
          </p:nvSpPr>
          <p:spPr bwMode="auto">
            <a:xfrm>
              <a:off x="4820561" y="3688167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505" name="AutoShape 17"/>
            <p:cNvSpPr>
              <a:spLocks noChangeShapeType="1"/>
            </p:cNvSpPr>
            <p:nvPr/>
          </p:nvSpPr>
          <p:spPr bwMode="auto">
            <a:xfrm flipH="1">
              <a:off x="4602929" y="3065658"/>
              <a:ext cx="245163" cy="6041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4" name="AutoShape 16"/>
            <p:cNvSpPr>
              <a:spLocks noChangeShapeType="1"/>
            </p:cNvSpPr>
            <p:nvPr/>
          </p:nvSpPr>
          <p:spPr bwMode="auto">
            <a:xfrm>
              <a:off x="5060481" y="3065658"/>
              <a:ext cx="283183" cy="6041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3" name="AutoShape 15"/>
            <p:cNvSpPr>
              <a:spLocks noChangeShapeType="1"/>
            </p:cNvSpPr>
            <p:nvPr/>
          </p:nvSpPr>
          <p:spPr bwMode="auto">
            <a:xfrm>
              <a:off x="1128688" y="4477114"/>
              <a:ext cx="1311" cy="407579"/>
            </a:xfrm>
            <a:prstGeom prst="straightConnector1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2" name="Oval 14"/>
            <p:cNvSpPr>
              <a:spLocks noChangeArrowheads="1"/>
            </p:cNvSpPr>
            <p:nvPr/>
          </p:nvSpPr>
          <p:spPr bwMode="auto">
            <a:xfrm>
              <a:off x="1637370" y="4904351"/>
              <a:ext cx="297605" cy="29618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1" name="AutoShape 13"/>
            <p:cNvSpPr>
              <a:spLocks noChangeShapeType="1"/>
            </p:cNvSpPr>
            <p:nvPr/>
          </p:nvSpPr>
          <p:spPr bwMode="auto">
            <a:xfrm>
              <a:off x="1785517" y="4473182"/>
              <a:ext cx="1311" cy="40757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500" name="Rectangle 12"/>
            <p:cNvSpPr>
              <a:spLocks noChangeArrowheads="1"/>
            </p:cNvSpPr>
            <p:nvPr/>
          </p:nvSpPr>
          <p:spPr bwMode="auto">
            <a:xfrm>
              <a:off x="1265036" y="4100988"/>
              <a:ext cx="274006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499" name="Rectangle 11"/>
            <p:cNvSpPr>
              <a:spLocks noChangeArrowheads="1"/>
            </p:cNvSpPr>
            <p:nvPr/>
          </p:nvSpPr>
          <p:spPr bwMode="auto">
            <a:xfrm>
              <a:off x="5942807" y="3329078"/>
              <a:ext cx="811530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∈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8" name="AutoShape 10"/>
            <p:cNvSpPr>
              <a:spLocks noChangeShapeType="1"/>
            </p:cNvSpPr>
            <p:nvPr/>
          </p:nvSpPr>
          <p:spPr bwMode="auto">
            <a:xfrm>
              <a:off x="1074936" y="3507312"/>
              <a:ext cx="4608286" cy="131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7" name="Rectangle 9"/>
            <p:cNvSpPr>
              <a:spLocks noChangeArrowheads="1"/>
            </p:cNvSpPr>
            <p:nvPr/>
          </p:nvSpPr>
          <p:spPr bwMode="auto">
            <a:xfrm>
              <a:off x="2476432" y="4863724"/>
              <a:ext cx="289739" cy="2306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3496" name="Rectangle 8"/>
            <p:cNvSpPr>
              <a:spLocks noChangeArrowheads="1"/>
            </p:cNvSpPr>
            <p:nvPr/>
          </p:nvSpPr>
          <p:spPr bwMode="auto">
            <a:xfrm>
              <a:off x="3135882" y="4945647"/>
              <a:ext cx="1118312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叶子结点</a:t>
              </a:r>
            </a:p>
          </p:txBody>
        </p:sp>
        <p:sp>
          <p:nvSpPr>
            <p:cNvPr id="63495" name="Rectangle 7"/>
            <p:cNvSpPr>
              <a:spLocks noChangeArrowheads="1"/>
            </p:cNvSpPr>
            <p:nvPr/>
          </p:nvSpPr>
          <p:spPr bwMode="auto">
            <a:xfrm>
              <a:off x="3624898" y="1714488"/>
              <a:ext cx="881015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根结点</a:t>
              </a:r>
            </a:p>
          </p:txBody>
        </p:sp>
        <p:sp>
          <p:nvSpPr>
            <p:cNvPr id="63494" name="Rectangle 6"/>
            <p:cNvSpPr>
              <a:spLocks noChangeArrowheads="1"/>
            </p:cNvSpPr>
            <p:nvPr/>
          </p:nvSpPr>
          <p:spPr bwMode="auto">
            <a:xfrm>
              <a:off x="2005770" y="3055174"/>
              <a:ext cx="811530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1,b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3" name="Rectangle 5"/>
            <p:cNvSpPr>
              <a:spLocks noChangeArrowheads="1"/>
            </p:cNvSpPr>
            <p:nvPr/>
          </p:nvSpPr>
          <p:spPr bwMode="auto">
            <a:xfrm>
              <a:off x="5852344" y="4469251"/>
              <a:ext cx="1077109" cy="3420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18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∈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2" name="AutoShape 4"/>
            <p:cNvSpPr>
              <a:spLocks noChangeShapeType="1"/>
            </p:cNvSpPr>
            <p:nvPr/>
          </p:nvSpPr>
          <p:spPr bwMode="auto">
            <a:xfrm>
              <a:off x="693425" y="4647485"/>
              <a:ext cx="5054038" cy="131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1" name="AutoShape 3"/>
            <p:cNvSpPr>
              <a:spLocks/>
            </p:cNvSpPr>
            <p:nvPr/>
          </p:nvSpPr>
          <p:spPr bwMode="auto">
            <a:xfrm>
              <a:off x="6897213" y="2039503"/>
              <a:ext cx="259585" cy="2972313"/>
            </a:xfrm>
            <a:prstGeom prst="rightBrace">
              <a:avLst>
                <a:gd name="adj1" fmla="val 95455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490" name="Rectangle 2"/>
            <p:cNvSpPr>
              <a:spLocks noChangeArrowheads="1"/>
            </p:cNvSpPr>
            <p:nvPr/>
          </p:nvSpPr>
          <p:spPr bwMode="auto">
            <a:xfrm>
              <a:off x="7268156" y="3357562"/>
              <a:ext cx="1447248" cy="3407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高度为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2928926" y="5429264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包含问题的解</a:t>
            </a:r>
          </a:p>
        </p:txBody>
      </p:sp>
      <p:sp>
        <p:nvSpPr>
          <p:cNvPr id="57" name="上箭头 56"/>
          <p:cNvSpPr/>
          <p:nvPr/>
        </p:nvSpPr>
        <p:spPr>
          <a:xfrm>
            <a:off x="3571868" y="5000636"/>
            <a:ext cx="285752" cy="357190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719491-48C7-54C8-8712-B7BC37AC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1472" y="1428736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用回溯法求解的问题通常分为两种类型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46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85720" y="395567"/>
            <a:ext cx="364333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什么是回溯法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910" y="2143116"/>
            <a:ext cx="7072362" cy="286232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一种类型是给定一个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约束函数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，需要求所有满足约束条件的解，称为求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所有解类型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例如求幂集问题中每一个子集都是一个解。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另外一种类型是除了约束条件外还包含目标函数，最后是求使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目标函数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值最大或最小的最优解，称为求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最优解类型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（或优化问题）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背包问题属于求最优解类型。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72462" y="2714620"/>
            <a:ext cx="6429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本质相同</a:t>
            </a:r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4" name="右大括号 33"/>
          <p:cNvSpPr/>
          <p:nvPr/>
        </p:nvSpPr>
        <p:spPr>
          <a:xfrm>
            <a:off x="7858148" y="2285992"/>
            <a:ext cx="285752" cy="2571768"/>
          </a:xfrm>
          <a:prstGeom prst="rightBrac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E239F1-4947-B80C-4155-F419BAD0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1472" y="571480"/>
            <a:ext cx="7858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回溯法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是在解空间树中按照深度优先搜索方法从根结点出发搜索解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146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465" name="Rectangle 25"/>
          <p:cNvSpPr>
            <a:spLocks noChangeArrowheads="1"/>
          </p:cNvSpPr>
          <p:nvPr/>
        </p:nvSpPr>
        <p:spPr bwMode="auto">
          <a:xfrm>
            <a:off x="2092183" y="2522181"/>
            <a:ext cx="640468" cy="3540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1800" baseline="-30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4" name="Rectangle 24"/>
          <p:cNvSpPr>
            <a:spLocks noChangeArrowheads="1"/>
          </p:cNvSpPr>
          <p:nvPr/>
        </p:nvSpPr>
        <p:spPr bwMode="auto">
          <a:xfrm>
            <a:off x="2104396" y="4961483"/>
            <a:ext cx="1110282" cy="3540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i="1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1800" i="1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3" name="Oval 23"/>
          <p:cNvSpPr>
            <a:spLocks noChangeArrowheads="1"/>
          </p:cNvSpPr>
          <p:nvPr/>
        </p:nvSpPr>
        <p:spPr bwMode="auto">
          <a:xfrm>
            <a:off x="1865577" y="2045988"/>
            <a:ext cx="308021" cy="30796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2" name="Oval 22"/>
          <p:cNvSpPr>
            <a:spLocks noChangeArrowheads="1"/>
          </p:cNvSpPr>
          <p:nvPr/>
        </p:nvSpPr>
        <p:spPr bwMode="auto">
          <a:xfrm>
            <a:off x="1865577" y="2881700"/>
            <a:ext cx="309378" cy="307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1" name="AutoShape 21"/>
          <p:cNvSpPr>
            <a:spLocks noChangeShapeType="1"/>
          </p:cNvSpPr>
          <p:nvPr/>
        </p:nvSpPr>
        <p:spPr bwMode="auto">
          <a:xfrm>
            <a:off x="2020267" y="2353953"/>
            <a:ext cx="1357" cy="527747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60" name="Oval 20"/>
          <p:cNvSpPr>
            <a:spLocks noChangeArrowheads="1"/>
          </p:cNvSpPr>
          <p:nvPr/>
        </p:nvSpPr>
        <p:spPr bwMode="auto">
          <a:xfrm>
            <a:off x="1865577" y="3768966"/>
            <a:ext cx="309378" cy="30660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9" name="AutoShape 19"/>
          <p:cNvSpPr>
            <a:spLocks noChangeShapeType="1"/>
          </p:cNvSpPr>
          <p:nvPr/>
        </p:nvSpPr>
        <p:spPr bwMode="auto">
          <a:xfrm>
            <a:off x="2020267" y="3189665"/>
            <a:ext cx="1357" cy="579300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8" name="Oval 18"/>
          <p:cNvSpPr>
            <a:spLocks noChangeArrowheads="1"/>
          </p:cNvSpPr>
          <p:nvPr/>
        </p:nvSpPr>
        <p:spPr bwMode="auto">
          <a:xfrm>
            <a:off x="1865577" y="5376625"/>
            <a:ext cx="308021" cy="30660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7" name="AutoShape 17"/>
          <p:cNvSpPr>
            <a:spLocks noChangeShapeType="1"/>
          </p:cNvSpPr>
          <p:nvPr/>
        </p:nvSpPr>
        <p:spPr bwMode="auto">
          <a:xfrm>
            <a:off x="2020267" y="4888222"/>
            <a:ext cx="1357" cy="488403"/>
          </a:xfrm>
          <a:prstGeom prst="straightConnector1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2408347" y="5405200"/>
            <a:ext cx="1157455" cy="3527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叶子结点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2371710" y="2021568"/>
            <a:ext cx="911852" cy="3527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根结点</a:t>
            </a:r>
          </a:p>
        </p:txBody>
      </p:sp>
      <p:sp>
        <p:nvSpPr>
          <p:cNvPr id="61454" name="AutoShape 14"/>
          <p:cNvSpPr>
            <a:spLocks/>
          </p:cNvSpPr>
          <p:nvPr/>
        </p:nvSpPr>
        <p:spPr bwMode="auto">
          <a:xfrm>
            <a:off x="3705565" y="2264413"/>
            <a:ext cx="308021" cy="3230243"/>
          </a:xfrm>
          <a:prstGeom prst="rightBrace">
            <a:avLst>
              <a:gd name="adj1" fmla="val 87408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4128925" y="3748615"/>
            <a:ext cx="1586083" cy="3527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高度为</a:t>
            </a:r>
            <a:r>
              <a:rPr kumimoji="0" lang="en-US" altLang="zh-CN" sz="20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+1</a:t>
            </a:r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2104396" y="3309053"/>
            <a:ext cx="640468" cy="3540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800" i="0" u="none" strike="noStrike" cap="none" normalizeH="0" baseline="-3000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1800" baseline="-30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1" name="Oval 11"/>
          <p:cNvSpPr>
            <a:spLocks noChangeArrowheads="1"/>
          </p:cNvSpPr>
          <p:nvPr/>
        </p:nvSpPr>
        <p:spPr bwMode="auto">
          <a:xfrm>
            <a:off x="1865577" y="4581614"/>
            <a:ext cx="309378" cy="30660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50" name="AutoShape 10"/>
          <p:cNvSpPr>
            <a:spLocks noChangeShapeType="1"/>
          </p:cNvSpPr>
          <p:nvPr/>
        </p:nvSpPr>
        <p:spPr bwMode="auto">
          <a:xfrm>
            <a:off x="2020267" y="4075574"/>
            <a:ext cx="1357" cy="506040"/>
          </a:xfrm>
          <a:prstGeom prst="straightConnector1">
            <a:avLst/>
          </a:prstGeom>
          <a:noFill/>
          <a:ln w="28575">
            <a:solidFill>
              <a:srgbClr val="006600"/>
            </a:solidFill>
            <a:prstDash val="dash"/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9" name="AutoShape 9"/>
          <p:cNvSpPr>
            <a:spLocks noChangeShapeType="1"/>
          </p:cNvSpPr>
          <p:nvPr/>
        </p:nvSpPr>
        <p:spPr bwMode="auto">
          <a:xfrm flipH="1">
            <a:off x="1657968" y="2309183"/>
            <a:ext cx="252388" cy="31067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8" name="AutoShape 8"/>
          <p:cNvSpPr>
            <a:spLocks noChangeShapeType="1"/>
          </p:cNvSpPr>
          <p:nvPr/>
        </p:nvSpPr>
        <p:spPr bwMode="auto">
          <a:xfrm>
            <a:off x="2128820" y="2309183"/>
            <a:ext cx="283597" cy="21299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7" name="AutoShape 7"/>
          <p:cNvSpPr>
            <a:spLocks noChangeShapeType="1"/>
          </p:cNvSpPr>
          <p:nvPr/>
        </p:nvSpPr>
        <p:spPr bwMode="auto">
          <a:xfrm flipH="1">
            <a:off x="1653897" y="3144895"/>
            <a:ext cx="256458" cy="27676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6" name="AutoShape 6"/>
          <p:cNvSpPr>
            <a:spLocks noChangeShapeType="1"/>
          </p:cNvSpPr>
          <p:nvPr/>
        </p:nvSpPr>
        <p:spPr bwMode="auto">
          <a:xfrm>
            <a:off x="2130177" y="3144895"/>
            <a:ext cx="278169" cy="17908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5" name="AutoShape 5"/>
          <p:cNvSpPr>
            <a:spLocks noChangeShapeType="1"/>
          </p:cNvSpPr>
          <p:nvPr/>
        </p:nvSpPr>
        <p:spPr bwMode="auto">
          <a:xfrm flipH="1">
            <a:off x="1662039" y="4030804"/>
            <a:ext cx="248317" cy="31474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4" name="AutoShape 4"/>
          <p:cNvSpPr>
            <a:spLocks noChangeShapeType="1"/>
          </p:cNvSpPr>
          <p:nvPr/>
        </p:nvSpPr>
        <p:spPr bwMode="auto">
          <a:xfrm>
            <a:off x="2130177" y="4030804"/>
            <a:ext cx="286311" cy="21706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3" name="AutoShape 3"/>
          <p:cNvSpPr>
            <a:spLocks noChangeShapeType="1"/>
          </p:cNvSpPr>
          <p:nvPr/>
        </p:nvSpPr>
        <p:spPr bwMode="auto">
          <a:xfrm flipH="1">
            <a:off x="1657968" y="4843452"/>
            <a:ext cx="252388" cy="2794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1442" name="AutoShape 2"/>
          <p:cNvSpPr>
            <a:spLocks noChangeShapeType="1"/>
          </p:cNvSpPr>
          <p:nvPr/>
        </p:nvSpPr>
        <p:spPr bwMode="auto">
          <a:xfrm>
            <a:off x="2130177" y="4843452"/>
            <a:ext cx="282240" cy="18179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EA9203-F0E2-605A-8393-76343662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4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579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42910" y="3286124"/>
            <a:ext cx="185738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几个概念</a:t>
            </a:r>
            <a:endParaRPr lang="zh-CN" altLang="zh-CN" b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7158" y="4143380"/>
            <a:ext cx="8501122" cy="18774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活结点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指自身已生成但其孩子结点没有全部生成的结点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Times New Roman" pitchFamily="18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扩展结点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指正在产生孩子结点的结点。</a:t>
            </a:r>
            <a:endParaRPr lang="en-US" altLang="zh-CN">
              <a:solidFill>
                <a:srgbClr val="0000FF"/>
              </a:solidFill>
              <a:latin typeface="Times New Roman" pitchFamily="18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死结点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指其所有子结点均已产生的结点，此时应往回移动（回溯）至最近的一个活结点处。</a:t>
            </a:r>
            <a:endParaRPr lang="zh-CN" altLang="en-US">
              <a:solidFill>
                <a:srgbClr val="0000FF"/>
              </a:solidFill>
              <a:latin typeface="Times New Roman" pitchFamily="18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2910" y="500042"/>
            <a:ext cx="185738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回溯过程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043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40"/>
          <p:cNvGrpSpPr/>
          <p:nvPr/>
        </p:nvGrpSpPr>
        <p:grpSpPr>
          <a:xfrm>
            <a:off x="1152410" y="1366736"/>
            <a:ext cx="4348284" cy="1276446"/>
            <a:chOff x="1152410" y="1366736"/>
            <a:chExt cx="3706652" cy="1276446"/>
          </a:xfrm>
        </p:grpSpPr>
        <p:sp>
          <p:nvSpPr>
            <p:cNvPr id="60430" name="Text Box 14"/>
            <p:cNvSpPr txBox="1">
              <a:spLocks noChangeArrowheads="1"/>
            </p:cNvSpPr>
            <p:nvPr/>
          </p:nvSpPr>
          <p:spPr bwMode="auto">
            <a:xfrm>
              <a:off x="4467523" y="1462292"/>
              <a:ext cx="391539" cy="2618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×</a:t>
              </a:r>
            </a:p>
          </p:txBody>
        </p:sp>
        <p:sp>
          <p:nvSpPr>
            <p:cNvPr id="60429" name="Oval 13"/>
            <p:cNvSpPr>
              <a:spLocks noChangeArrowheads="1"/>
            </p:cNvSpPr>
            <p:nvPr/>
          </p:nvSpPr>
          <p:spPr bwMode="auto">
            <a:xfrm>
              <a:off x="1152410" y="1391510"/>
              <a:ext cx="400974" cy="4353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8" name="Oval 12"/>
            <p:cNvSpPr>
              <a:spLocks noChangeArrowheads="1"/>
            </p:cNvSpPr>
            <p:nvPr/>
          </p:nvSpPr>
          <p:spPr bwMode="auto">
            <a:xfrm>
              <a:off x="2546385" y="1366736"/>
              <a:ext cx="400974" cy="4353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7" name="Text Box 11"/>
            <p:cNvSpPr txBox="1">
              <a:spLocks noChangeArrowheads="1"/>
            </p:cNvSpPr>
            <p:nvPr/>
          </p:nvSpPr>
          <p:spPr bwMode="auto">
            <a:xfrm>
              <a:off x="1890674" y="1429260"/>
              <a:ext cx="333752" cy="2005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60426" name="Line 10"/>
            <p:cNvSpPr>
              <a:spLocks noChangeShapeType="1"/>
            </p:cNvSpPr>
            <p:nvPr/>
          </p:nvSpPr>
          <p:spPr bwMode="auto">
            <a:xfrm>
              <a:off x="1559281" y="1589701"/>
              <a:ext cx="267709" cy="118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5" name="Line 9"/>
            <p:cNvSpPr>
              <a:spLocks noChangeShapeType="1"/>
            </p:cNvSpPr>
            <p:nvPr/>
          </p:nvSpPr>
          <p:spPr bwMode="auto">
            <a:xfrm>
              <a:off x="2271599" y="1589701"/>
              <a:ext cx="267709" cy="1180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4" name="Oval 8"/>
            <p:cNvSpPr>
              <a:spLocks noChangeArrowheads="1"/>
            </p:cNvSpPr>
            <p:nvPr/>
          </p:nvSpPr>
          <p:spPr bwMode="auto">
            <a:xfrm>
              <a:off x="3690340" y="1367915"/>
              <a:ext cx="535418" cy="4353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3" name="Freeform 7"/>
            <p:cNvSpPr>
              <a:spLocks/>
            </p:cNvSpPr>
            <p:nvPr/>
          </p:nvSpPr>
          <p:spPr bwMode="auto">
            <a:xfrm>
              <a:off x="2974483" y="1589701"/>
              <a:ext cx="735906" cy="235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35" y="0"/>
                </a:cxn>
              </a:cxnLst>
              <a:rect l="0" t="0" r="r" b="b"/>
              <a:pathLst>
                <a:path w="535" h="2">
                  <a:moveTo>
                    <a:pt x="0" y="2"/>
                  </a:moveTo>
                  <a:lnTo>
                    <a:pt x="53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2" name="Line 6"/>
            <p:cNvSpPr>
              <a:spLocks noChangeShapeType="1"/>
            </p:cNvSpPr>
            <p:nvPr/>
          </p:nvSpPr>
          <p:spPr bwMode="auto">
            <a:xfrm>
              <a:off x="4238731" y="1589701"/>
              <a:ext cx="267709" cy="11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1" name="Freeform 5"/>
            <p:cNvSpPr>
              <a:spLocks/>
            </p:cNvSpPr>
            <p:nvPr/>
          </p:nvSpPr>
          <p:spPr bwMode="auto">
            <a:xfrm>
              <a:off x="2926131" y="1656944"/>
              <a:ext cx="750058" cy="155722"/>
            </a:xfrm>
            <a:custGeom>
              <a:avLst/>
              <a:gdLst/>
              <a:ahLst/>
              <a:cxnLst>
                <a:cxn ang="0">
                  <a:pos x="636" y="0"/>
                </a:cxn>
                <a:cxn ang="0">
                  <a:pos x="552" y="66"/>
                </a:cxn>
                <a:cxn ang="0">
                  <a:pos x="456" y="114"/>
                </a:cxn>
                <a:cxn ang="0">
                  <a:pos x="339" y="132"/>
                </a:cxn>
                <a:cxn ang="0">
                  <a:pos x="216" y="129"/>
                </a:cxn>
                <a:cxn ang="0">
                  <a:pos x="102" y="99"/>
                </a:cxn>
                <a:cxn ang="0">
                  <a:pos x="0" y="39"/>
                </a:cxn>
              </a:cxnLst>
              <a:rect l="0" t="0" r="r" b="b"/>
              <a:pathLst>
                <a:path w="636" h="132">
                  <a:moveTo>
                    <a:pt x="636" y="0"/>
                  </a:moveTo>
                  <a:lnTo>
                    <a:pt x="552" y="66"/>
                  </a:lnTo>
                  <a:lnTo>
                    <a:pt x="456" y="114"/>
                  </a:lnTo>
                  <a:lnTo>
                    <a:pt x="339" y="132"/>
                  </a:lnTo>
                  <a:lnTo>
                    <a:pt x="216" y="129"/>
                  </a:lnTo>
                  <a:lnTo>
                    <a:pt x="102" y="99"/>
                  </a:lnTo>
                  <a:lnTo>
                    <a:pt x="0" y="39"/>
                  </a:lnTo>
                </a:path>
              </a:pathLst>
            </a:custGeom>
            <a:noFill/>
            <a:ln w="19050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20" name="Text Box 4"/>
            <p:cNvSpPr txBox="1">
              <a:spLocks noChangeArrowheads="1"/>
            </p:cNvSpPr>
            <p:nvPr/>
          </p:nvSpPr>
          <p:spPr bwMode="auto">
            <a:xfrm>
              <a:off x="3159639" y="1823283"/>
              <a:ext cx="477631" cy="3079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回溯</a:t>
              </a:r>
            </a:p>
          </p:txBody>
        </p:sp>
        <p:sp>
          <p:nvSpPr>
            <p:cNvPr id="60419" name="Line 3"/>
            <p:cNvSpPr>
              <a:spLocks noChangeShapeType="1"/>
            </p:cNvSpPr>
            <p:nvPr/>
          </p:nvSpPr>
          <p:spPr bwMode="auto">
            <a:xfrm>
              <a:off x="2752768" y="1798510"/>
              <a:ext cx="1179" cy="500197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418" name="Text Box 2"/>
            <p:cNvSpPr txBox="1">
              <a:spLocks noChangeArrowheads="1"/>
            </p:cNvSpPr>
            <p:nvPr/>
          </p:nvSpPr>
          <p:spPr bwMode="auto">
            <a:xfrm>
              <a:off x="2073471" y="2336457"/>
              <a:ext cx="1569835" cy="30672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再找其他路径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BEB954-5595-C7E0-296E-038EDB9C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4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28596" y="395567"/>
            <a:ext cx="32861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回溯算法设计</a:t>
            </a: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关键点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720" y="1142984"/>
            <a:ext cx="8358246" cy="307071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根据问题的特性确定结点是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如何扩展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的，不同的问题扩展方式是不同的。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在解空间中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按什么方式搜索解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，实际上树的遍历主要有先根遍历和层次遍历，前者就是深度优先搜索（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DFS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），后者就是广度优先搜索（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BFS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解空间通常十分庞大，如何高效地找到问题的解，通常采用一些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的方法实现。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662" y="4643446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回溯法 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= DFS + 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剪支</a:t>
            </a:r>
            <a:endParaRPr lang="zh-CN" altLang="en-US">
              <a:solidFill>
                <a:srgbClr val="006600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上箭头 8"/>
          <p:cNvSpPr/>
          <p:nvPr/>
        </p:nvSpPr>
        <p:spPr>
          <a:xfrm>
            <a:off x="2357422" y="4286256"/>
            <a:ext cx="214314" cy="285752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868DAA-529C-D7A2-C54B-377DF1E0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8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374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42910" y="928670"/>
            <a:ext cx="7929618" cy="12945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在解空间中搜索时提早终止某些分支的无效搜索，减少搜索的结点个数但不影响最终结果，从而提高了算法的时间性能。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857620" y="2643182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2398" y="3286124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286248" y="3286124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928926" y="4071942"/>
            <a:ext cx="357190" cy="357190"/>
          </a:xfrm>
          <a:prstGeom prst="ellipse">
            <a:avLst/>
          </a:prstGeom>
          <a:ln>
            <a:prstDash val="dash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643306" y="4071942"/>
            <a:ext cx="357190" cy="357190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stCxn id="10" idx="3"/>
            <a:endCxn id="12" idx="0"/>
          </p:cNvCxnSpPr>
          <p:nvPr/>
        </p:nvCxnSpPr>
        <p:spPr>
          <a:xfrm rot="5400000">
            <a:off x="2995646" y="3702880"/>
            <a:ext cx="480937" cy="257186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0" idx="5"/>
            <a:endCxn id="13" idx="0"/>
          </p:cNvCxnSpPr>
          <p:nvPr/>
        </p:nvCxnSpPr>
        <p:spPr>
          <a:xfrm rot="16200000" flipH="1">
            <a:off x="3479122" y="3729162"/>
            <a:ext cx="480937" cy="204622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8" idx="3"/>
            <a:endCxn id="10" idx="0"/>
          </p:cNvCxnSpPr>
          <p:nvPr/>
        </p:nvCxnSpPr>
        <p:spPr>
          <a:xfrm rot="5400000">
            <a:off x="3531431" y="2907625"/>
            <a:ext cx="338061" cy="418936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8" idx="5"/>
            <a:endCxn id="11" idx="0"/>
          </p:cNvCxnSpPr>
          <p:nvPr/>
        </p:nvCxnSpPr>
        <p:spPr>
          <a:xfrm rot="16200000" flipH="1">
            <a:off x="4144642" y="2965922"/>
            <a:ext cx="338061" cy="302342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86050" y="3500438"/>
            <a:ext cx="57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×</a:t>
            </a:r>
            <a:endParaRPr lang="zh-CN" altLang="en-US" sz="280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rot="16200000" flipH="1">
            <a:off x="3571868" y="3714752"/>
            <a:ext cx="500066" cy="21431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90AAAF-9C8E-D8A1-802C-FD7DFE2F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8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374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57158" y="642918"/>
            <a:ext cx="200026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剪支策略</a:t>
            </a:r>
            <a:endParaRPr lang="zh-CN" altLang="zh-CN" spc="50">
              <a:ln w="11430"/>
              <a:solidFill>
                <a:srgbClr val="FF33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1428736"/>
            <a:ext cx="7715304" cy="240065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可行性剪支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：在扩展结点处剪去不满足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约束条件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的分支。</a:t>
            </a: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最优性剪支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：用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限界函数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剪去得不到最优解的分支。</a:t>
            </a: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交换搜索顺序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：在搜索中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改变搜索的顺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序，比如原先是递减顺序，可以改为递增顺序，或者原先是无序，可以改为有序，这样可能减少搜索的总结点。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EB262D-CB2F-4E14-9454-A42C374A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</a:t>
            </a:fld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28596" y="1714488"/>
            <a:ext cx="8215370" cy="196217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针对给定的问题确定其</a:t>
            </a:r>
            <a:r>
              <a:rPr lang="zh-CN" altLang="zh-CN">
                <a:solidFill>
                  <a:srgbClr val="FF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解空间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，其中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一定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包含问题的解。</a:t>
            </a: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确定结点的</a:t>
            </a:r>
            <a:r>
              <a:rPr lang="zh-CN" altLang="zh-CN">
                <a:solidFill>
                  <a:srgbClr val="FF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扩展规则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。</a:t>
            </a: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采用深度优先搜索方法搜索解空间，并在搜索过程中尽可能采用</a:t>
            </a:r>
            <a:r>
              <a:rPr lang="zh-CN" altLang="zh-CN">
                <a:solidFill>
                  <a:srgbClr val="FF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剪支</a:t>
            </a:r>
            <a:r>
              <a:rPr lang="zh-CN" altLang="zh-CN">
                <a:solidFill>
                  <a:srgbClr val="0000FF"/>
                </a:solidFill>
                <a:latin typeface="Times New Roman" pitchFamily="18" charset="0"/>
                <a:ea typeface="仿宋" pitchFamily="49" charset="-122"/>
                <a:cs typeface="Times New Roman" pitchFamily="18" charset="0"/>
              </a:rPr>
              <a:t>函数避免无效搜索。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642918"/>
            <a:ext cx="364333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回溯法求解的一般步骤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4CEE2B-400F-D718-A863-59EAB4C0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357158" y="357166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+mj-lt"/>
                <a:ea typeface="微软雅黑" pitchFamily="34" charset="-122"/>
              </a:rPr>
              <a:t>5.1.3   </a:t>
            </a:r>
            <a:r>
              <a:rPr lang="zh-CN" altLang="zh-CN" sz="2800">
                <a:latin typeface="+mj-lt"/>
                <a:ea typeface="微软雅黑" pitchFamily="34" charset="-122"/>
              </a:rPr>
              <a:t>回溯算法分析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lt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5720" y="1142984"/>
            <a:ext cx="8572560" cy="437309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解空间共有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层（根结点为第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层，叶子结点为第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个结点，每个结点有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个子结点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个结点，同理，第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个结点，依此类推，第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spcAft>
                <a:spcPts val="600"/>
              </a:spcAft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则采用回溯法求所有解的算法的执行时间为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	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例如，在子集树中有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，对应算法的时间复杂度为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O(c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，在排列树中有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，对应算法的时间复杂度为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!)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40A07B-4D5B-A9D1-0717-380209A9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1142976" y="357166"/>
            <a:ext cx="657229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5.2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基于子集树的回溯算法框架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500174"/>
            <a:ext cx="364333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5.2.1  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解空间类型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5786" y="2643182"/>
            <a:ext cx="7715304" cy="188769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子集树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当所给的问题是从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个元素的集合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中找出满足某种条件的子集时，相应的解空间树称为子集树。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排列树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当所给的问题是确定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个元素满足某种性质的排列时，相应的解空间树称为排列树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12F8A5-8A88-0239-4259-6EC02E72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307183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5.2.2  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求幂集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500174"/>
            <a:ext cx="8358246" cy="188769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个不同整数的数组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，设计一个算法求其所有子集（幂集）。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，所有子集是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（输出顺序无关）。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A1C192-8935-4376-E9FD-8CEB6135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357298"/>
            <a:ext cx="8215370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，解向量为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表示不选择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，这里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固定长度为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当已经生成解向量的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部分后，再由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产生解向量的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部分。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6A0F48-3868-9C02-B5D9-B02A8ACA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</a:t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704331"/>
            <a:ext cx="8286808" cy="140038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）表示状态，解空间树的根结点对应状态（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的元素均为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），目标状态是（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为一个解）。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从状态（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）可以扩展出两个状态（即二选一）：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786" y="2500306"/>
            <a:ext cx="7572428" cy="938719"/>
          </a:xfrm>
          <a:prstGeom prst="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元素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下一个状态为（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  <a:p>
            <a:pPr marL="457200" indent="-457200" algn="l">
              <a:lnSpc>
                <a:spcPct val="100000"/>
              </a:lnSpc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不选择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元素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下一个状态为（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1688D9-57CB-BD78-2D9B-2FA9A66F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</a:t>
            </a:fld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357166"/>
            <a:ext cx="30718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3}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1821" name="Rectangle 7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819" name="Rectangle 75"/>
          <p:cNvSpPr>
            <a:spLocks noChangeArrowheads="1"/>
          </p:cNvSpPr>
          <p:nvPr/>
        </p:nvSpPr>
        <p:spPr bwMode="auto">
          <a:xfrm>
            <a:off x="4016684" y="940569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(0,[0,0,0])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8" name="Rectangle 74"/>
          <p:cNvSpPr>
            <a:spLocks noChangeArrowheads="1"/>
          </p:cNvSpPr>
          <p:nvPr/>
        </p:nvSpPr>
        <p:spPr bwMode="auto">
          <a:xfrm>
            <a:off x="1846644" y="227628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(1,[1,0,0])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7" name="Rectangle 73"/>
          <p:cNvSpPr>
            <a:spLocks noChangeArrowheads="1"/>
          </p:cNvSpPr>
          <p:nvPr/>
        </p:nvSpPr>
        <p:spPr bwMode="auto">
          <a:xfrm>
            <a:off x="809967" y="362835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(2,[1,1,0])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6" name="Rectangle 72"/>
          <p:cNvSpPr>
            <a:spLocks noChangeArrowheads="1"/>
          </p:cNvSpPr>
          <p:nvPr/>
        </p:nvSpPr>
        <p:spPr bwMode="auto">
          <a:xfrm>
            <a:off x="294314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(3,[1,1,1])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5" name="Rectangle 71"/>
          <p:cNvSpPr>
            <a:spLocks noChangeArrowheads="1"/>
          </p:cNvSpPr>
          <p:nvPr/>
        </p:nvSpPr>
        <p:spPr bwMode="auto">
          <a:xfrm>
            <a:off x="339434" y="5651263"/>
            <a:ext cx="1031306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{1,2,3}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4" name="AutoShape 70"/>
          <p:cNvSpPr>
            <a:spLocks noChangeShapeType="1"/>
          </p:cNvSpPr>
          <p:nvPr/>
        </p:nvSpPr>
        <p:spPr bwMode="auto">
          <a:xfrm flipH="1">
            <a:off x="804596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13" name="Rectangle 69"/>
          <p:cNvSpPr>
            <a:spLocks noChangeArrowheads="1"/>
          </p:cNvSpPr>
          <p:nvPr/>
        </p:nvSpPr>
        <p:spPr bwMode="auto">
          <a:xfrm>
            <a:off x="1443791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2" name="Rectangle 68"/>
          <p:cNvSpPr>
            <a:spLocks noChangeArrowheads="1"/>
          </p:cNvSpPr>
          <p:nvPr/>
        </p:nvSpPr>
        <p:spPr bwMode="auto">
          <a:xfrm>
            <a:off x="1506099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{1,2}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11" name="AutoShape 67"/>
          <p:cNvSpPr>
            <a:spLocks noChangeShapeType="1"/>
          </p:cNvSpPr>
          <p:nvPr/>
        </p:nvSpPr>
        <p:spPr bwMode="auto">
          <a:xfrm flipH="1">
            <a:off x="1954072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10" name="AutoShape 66"/>
          <p:cNvSpPr>
            <a:spLocks noChangeShapeType="1"/>
          </p:cNvSpPr>
          <p:nvPr/>
        </p:nvSpPr>
        <p:spPr bwMode="auto">
          <a:xfrm flipH="1">
            <a:off x="750882" y="4116234"/>
            <a:ext cx="322283" cy="70206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09" name="AutoShape 65"/>
          <p:cNvSpPr>
            <a:spLocks noChangeShapeType="1"/>
          </p:cNvSpPr>
          <p:nvPr/>
        </p:nvSpPr>
        <p:spPr bwMode="auto">
          <a:xfrm>
            <a:off x="1525436" y="4129621"/>
            <a:ext cx="374923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08" name="Rectangle 64"/>
          <p:cNvSpPr>
            <a:spLocks noChangeArrowheads="1"/>
          </p:cNvSpPr>
          <p:nvPr/>
        </p:nvSpPr>
        <p:spPr bwMode="auto">
          <a:xfrm>
            <a:off x="1738143" y="4174244"/>
            <a:ext cx="498465" cy="406069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7" name="Rectangle 63"/>
          <p:cNvSpPr>
            <a:spLocks noChangeArrowheads="1"/>
          </p:cNvSpPr>
          <p:nvPr/>
        </p:nvSpPr>
        <p:spPr bwMode="auto">
          <a:xfrm>
            <a:off x="465124" y="4174244"/>
            <a:ext cx="551104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6" name="Rectangle 62"/>
          <p:cNvSpPr>
            <a:spLocks noChangeArrowheads="1"/>
          </p:cNvSpPr>
          <p:nvPr/>
        </p:nvSpPr>
        <p:spPr bwMode="auto">
          <a:xfrm>
            <a:off x="2962818" y="3613483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(2,[1,0,0])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5" name="Rectangle 61"/>
          <p:cNvSpPr>
            <a:spLocks noChangeArrowheads="1"/>
          </p:cNvSpPr>
          <p:nvPr/>
        </p:nvSpPr>
        <p:spPr bwMode="auto">
          <a:xfrm>
            <a:off x="2447165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(3,[1,0,1])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4" name="Rectangle 60"/>
          <p:cNvSpPr>
            <a:spLocks noChangeArrowheads="1"/>
          </p:cNvSpPr>
          <p:nvPr/>
        </p:nvSpPr>
        <p:spPr bwMode="auto">
          <a:xfrm>
            <a:off x="2511622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{1,3}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3" name="AutoShape 59"/>
          <p:cNvSpPr>
            <a:spLocks noChangeShapeType="1"/>
          </p:cNvSpPr>
          <p:nvPr/>
        </p:nvSpPr>
        <p:spPr bwMode="auto">
          <a:xfrm flipH="1">
            <a:off x="2957447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802" name="Rectangle 58"/>
          <p:cNvSpPr>
            <a:spLocks noChangeArrowheads="1"/>
          </p:cNvSpPr>
          <p:nvPr/>
        </p:nvSpPr>
        <p:spPr bwMode="auto">
          <a:xfrm>
            <a:off x="3596642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(3,[1,0,0])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1" name="Rectangle 57"/>
          <p:cNvSpPr>
            <a:spLocks noChangeArrowheads="1"/>
          </p:cNvSpPr>
          <p:nvPr/>
        </p:nvSpPr>
        <p:spPr bwMode="auto">
          <a:xfrm>
            <a:off x="3639613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{1}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800" name="AutoShape 56"/>
          <p:cNvSpPr>
            <a:spLocks noChangeShapeType="1"/>
          </p:cNvSpPr>
          <p:nvPr/>
        </p:nvSpPr>
        <p:spPr bwMode="auto">
          <a:xfrm flipH="1">
            <a:off x="4106923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9" name="AutoShape 55"/>
          <p:cNvSpPr>
            <a:spLocks noChangeShapeType="1"/>
          </p:cNvSpPr>
          <p:nvPr/>
        </p:nvSpPr>
        <p:spPr bwMode="auto">
          <a:xfrm flipH="1">
            <a:off x="2903733" y="4114747"/>
            <a:ext cx="329803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8" name="AutoShape 54"/>
          <p:cNvSpPr>
            <a:spLocks noChangeShapeType="1"/>
          </p:cNvSpPr>
          <p:nvPr/>
        </p:nvSpPr>
        <p:spPr bwMode="auto">
          <a:xfrm>
            <a:off x="3615979" y="4114747"/>
            <a:ext cx="437231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7" name="Rectangle 53"/>
          <p:cNvSpPr>
            <a:spLocks noChangeArrowheads="1"/>
          </p:cNvSpPr>
          <p:nvPr/>
        </p:nvSpPr>
        <p:spPr bwMode="auto">
          <a:xfrm>
            <a:off x="3929668" y="4159370"/>
            <a:ext cx="558624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6" name="Rectangle 52"/>
          <p:cNvSpPr>
            <a:spLocks noChangeArrowheads="1"/>
          </p:cNvSpPr>
          <p:nvPr/>
        </p:nvSpPr>
        <p:spPr bwMode="auto">
          <a:xfrm>
            <a:off x="2511622" y="4159370"/>
            <a:ext cx="628452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5" name="AutoShape 51"/>
          <p:cNvSpPr>
            <a:spLocks noChangeShapeType="1"/>
          </p:cNvSpPr>
          <p:nvPr/>
        </p:nvSpPr>
        <p:spPr bwMode="auto">
          <a:xfrm flipH="1">
            <a:off x="1266535" y="2776059"/>
            <a:ext cx="817525" cy="852298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4" name="AutoShape 50"/>
          <p:cNvSpPr>
            <a:spLocks noChangeShapeType="1"/>
          </p:cNvSpPr>
          <p:nvPr/>
        </p:nvSpPr>
        <p:spPr bwMode="auto">
          <a:xfrm>
            <a:off x="2515919" y="2776059"/>
            <a:ext cx="903467" cy="83742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93" name="Rectangle 49"/>
          <p:cNvSpPr>
            <a:spLocks noChangeArrowheads="1"/>
          </p:cNvSpPr>
          <p:nvPr/>
        </p:nvSpPr>
        <p:spPr bwMode="auto">
          <a:xfrm>
            <a:off x="3002567" y="2850431"/>
            <a:ext cx="526396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2" name="Rectangle 48"/>
          <p:cNvSpPr>
            <a:spLocks noChangeArrowheads="1"/>
          </p:cNvSpPr>
          <p:nvPr/>
        </p:nvSpPr>
        <p:spPr bwMode="auto">
          <a:xfrm>
            <a:off x="1241827" y="2903978"/>
            <a:ext cx="628452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1" name="Rectangle 47"/>
          <p:cNvSpPr>
            <a:spLocks noChangeArrowheads="1"/>
          </p:cNvSpPr>
          <p:nvPr/>
        </p:nvSpPr>
        <p:spPr bwMode="auto">
          <a:xfrm>
            <a:off x="6250106" y="227628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90" name="Rectangle 46"/>
          <p:cNvSpPr>
            <a:spLocks noChangeArrowheads="1"/>
          </p:cNvSpPr>
          <p:nvPr/>
        </p:nvSpPr>
        <p:spPr bwMode="auto">
          <a:xfrm>
            <a:off x="5284331" y="362835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(2,[0,1,0])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9" name="Rectangle 45"/>
          <p:cNvSpPr>
            <a:spLocks noChangeArrowheads="1"/>
          </p:cNvSpPr>
          <p:nvPr/>
        </p:nvSpPr>
        <p:spPr bwMode="auto">
          <a:xfrm>
            <a:off x="4746118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{2,3}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8" name="AutoShape 44"/>
          <p:cNvSpPr>
            <a:spLocks noChangeShapeType="1"/>
          </p:cNvSpPr>
          <p:nvPr/>
        </p:nvSpPr>
        <p:spPr bwMode="auto">
          <a:xfrm flipH="1">
            <a:off x="5159715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7" name="Rectangle 43"/>
          <p:cNvSpPr>
            <a:spLocks noChangeArrowheads="1"/>
          </p:cNvSpPr>
          <p:nvPr/>
        </p:nvSpPr>
        <p:spPr bwMode="auto">
          <a:xfrm>
            <a:off x="5852623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(3,[0,1,0])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6" name="Rectangle 42"/>
          <p:cNvSpPr>
            <a:spLocks noChangeArrowheads="1"/>
          </p:cNvSpPr>
          <p:nvPr/>
        </p:nvSpPr>
        <p:spPr bwMode="auto">
          <a:xfrm>
            <a:off x="5874109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{2}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5" name="AutoShape 41"/>
          <p:cNvSpPr>
            <a:spLocks noChangeShapeType="1"/>
          </p:cNvSpPr>
          <p:nvPr/>
        </p:nvSpPr>
        <p:spPr bwMode="auto">
          <a:xfrm flipH="1">
            <a:off x="6362905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4" name="AutoShape 40"/>
          <p:cNvSpPr>
            <a:spLocks noChangeShapeType="1"/>
          </p:cNvSpPr>
          <p:nvPr/>
        </p:nvSpPr>
        <p:spPr bwMode="auto">
          <a:xfrm flipH="1">
            <a:off x="5181200" y="4129621"/>
            <a:ext cx="335174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3" name="AutoShape 39"/>
          <p:cNvSpPr>
            <a:spLocks noChangeShapeType="1"/>
          </p:cNvSpPr>
          <p:nvPr/>
        </p:nvSpPr>
        <p:spPr bwMode="auto">
          <a:xfrm>
            <a:off x="6005171" y="4129621"/>
            <a:ext cx="304020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82" name="Rectangle 38"/>
          <p:cNvSpPr>
            <a:spLocks noChangeArrowheads="1"/>
          </p:cNvSpPr>
          <p:nvPr/>
        </p:nvSpPr>
        <p:spPr bwMode="auto">
          <a:xfrm>
            <a:off x="6164164" y="4214405"/>
            <a:ext cx="479538" cy="301948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1" name="Rectangle 37"/>
          <p:cNvSpPr>
            <a:spLocks noChangeArrowheads="1"/>
          </p:cNvSpPr>
          <p:nvPr/>
        </p:nvSpPr>
        <p:spPr bwMode="auto">
          <a:xfrm>
            <a:off x="4833135" y="4227792"/>
            <a:ext cx="527470" cy="301948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80" name="Rectangle 36"/>
          <p:cNvSpPr>
            <a:spLocks noChangeArrowheads="1"/>
          </p:cNvSpPr>
          <p:nvPr/>
        </p:nvSpPr>
        <p:spPr bwMode="auto">
          <a:xfrm>
            <a:off x="7386691" y="3613483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9" name="Rectangle 35"/>
          <p:cNvSpPr>
            <a:spLocks noChangeArrowheads="1"/>
          </p:cNvSpPr>
          <p:nvPr/>
        </p:nvSpPr>
        <p:spPr bwMode="auto">
          <a:xfrm>
            <a:off x="6858147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(3,[0,0,1])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8" name="Rectangle 34"/>
          <p:cNvSpPr>
            <a:spLocks noChangeArrowheads="1"/>
          </p:cNvSpPr>
          <p:nvPr/>
        </p:nvSpPr>
        <p:spPr bwMode="auto">
          <a:xfrm>
            <a:off x="6965574" y="5651263"/>
            <a:ext cx="848679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{3}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7" name="AutoShape 33"/>
          <p:cNvSpPr>
            <a:spLocks noChangeShapeType="1"/>
          </p:cNvSpPr>
          <p:nvPr/>
        </p:nvSpPr>
        <p:spPr bwMode="auto">
          <a:xfrm flipH="1">
            <a:off x="7368428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6" name="Rectangle 32"/>
          <p:cNvSpPr>
            <a:spLocks noChangeArrowheads="1"/>
          </p:cNvSpPr>
          <p:nvPr/>
        </p:nvSpPr>
        <p:spPr bwMode="auto">
          <a:xfrm>
            <a:off x="7996880" y="4803427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(3,[0,0,0])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5" name="Rectangle 31"/>
          <p:cNvSpPr>
            <a:spLocks noChangeArrowheads="1"/>
          </p:cNvSpPr>
          <p:nvPr/>
        </p:nvSpPr>
        <p:spPr bwMode="auto">
          <a:xfrm>
            <a:off x="8235370" y="5651263"/>
            <a:ext cx="629526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{}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4" name="AutoShape 30"/>
          <p:cNvSpPr>
            <a:spLocks noChangeShapeType="1"/>
          </p:cNvSpPr>
          <p:nvPr/>
        </p:nvSpPr>
        <p:spPr bwMode="auto">
          <a:xfrm flipH="1">
            <a:off x="8507162" y="5331465"/>
            <a:ext cx="1074" cy="3227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3" name="AutoShape 29"/>
          <p:cNvSpPr>
            <a:spLocks noChangeShapeType="1"/>
          </p:cNvSpPr>
          <p:nvPr/>
        </p:nvSpPr>
        <p:spPr bwMode="auto">
          <a:xfrm flipH="1">
            <a:off x="7314714" y="4114747"/>
            <a:ext cx="342694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2" name="AutoShape 28"/>
          <p:cNvSpPr>
            <a:spLocks noChangeShapeType="1"/>
          </p:cNvSpPr>
          <p:nvPr/>
        </p:nvSpPr>
        <p:spPr bwMode="auto">
          <a:xfrm>
            <a:off x="8097862" y="4114747"/>
            <a:ext cx="355586" cy="68868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71" name="Rectangle 27"/>
          <p:cNvSpPr>
            <a:spLocks noChangeArrowheads="1"/>
          </p:cNvSpPr>
          <p:nvPr/>
        </p:nvSpPr>
        <p:spPr bwMode="auto">
          <a:xfrm>
            <a:off x="8372876" y="4159370"/>
            <a:ext cx="556841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70" name="Rectangle 26"/>
          <p:cNvSpPr>
            <a:spLocks noChangeArrowheads="1"/>
          </p:cNvSpPr>
          <p:nvPr/>
        </p:nvSpPr>
        <p:spPr bwMode="auto">
          <a:xfrm>
            <a:off x="6906489" y="4159370"/>
            <a:ext cx="547881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9" name="AutoShape 25"/>
          <p:cNvSpPr>
            <a:spLocks noChangeShapeType="1"/>
          </p:cNvSpPr>
          <p:nvPr/>
        </p:nvSpPr>
        <p:spPr bwMode="auto">
          <a:xfrm flipH="1">
            <a:off x="5740899" y="2789446"/>
            <a:ext cx="826119" cy="83891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8" name="AutoShape 24"/>
          <p:cNvSpPr>
            <a:spLocks noChangeShapeType="1"/>
          </p:cNvSpPr>
          <p:nvPr/>
        </p:nvSpPr>
        <p:spPr bwMode="auto">
          <a:xfrm>
            <a:off x="6895746" y="2789446"/>
            <a:ext cx="947512" cy="824037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7" name="Rectangle 23"/>
          <p:cNvSpPr>
            <a:spLocks noChangeArrowheads="1"/>
          </p:cNvSpPr>
          <p:nvPr/>
        </p:nvSpPr>
        <p:spPr bwMode="auto">
          <a:xfrm>
            <a:off x="7406028" y="2850431"/>
            <a:ext cx="523558" cy="4209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5664625" y="2917365"/>
            <a:ext cx="482350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4724633" y="4818302"/>
            <a:ext cx="913135" cy="50572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(3,[0,1,1])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4" name="AutoShape 20"/>
          <p:cNvSpPr>
            <a:spLocks noChangeShapeType="1"/>
          </p:cNvSpPr>
          <p:nvPr/>
        </p:nvSpPr>
        <p:spPr bwMode="auto">
          <a:xfrm flipH="1">
            <a:off x="2303212" y="1455221"/>
            <a:ext cx="1759666" cy="82106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3" name="AutoShape 19"/>
          <p:cNvSpPr>
            <a:spLocks noChangeShapeType="1"/>
          </p:cNvSpPr>
          <p:nvPr/>
        </p:nvSpPr>
        <p:spPr bwMode="auto">
          <a:xfrm>
            <a:off x="4827763" y="1441834"/>
            <a:ext cx="1878910" cy="83444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5572132" y="1437371"/>
            <a:ext cx="526396" cy="27711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2800540" y="1540541"/>
            <a:ext cx="628452" cy="31682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160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1536178" y="2313468"/>
            <a:ext cx="295426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(2)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396371" y="3568860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(3)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918469" y="4394384"/>
            <a:ext cx="292203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(4)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7" name="Rectangle 13"/>
          <p:cNvSpPr>
            <a:spLocks noChangeArrowheads="1"/>
          </p:cNvSpPr>
          <p:nvPr/>
        </p:nvSpPr>
        <p:spPr bwMode="auto">
          <a:xfrm>
            <a:off x="1384705" y="4394384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(5)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2570707" y="3568860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(6)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3156188" y="4394384"/>
            <a:ext cx="292203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(7)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3516071" y="4394384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(8)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5353085" y="4394384"/>
            <a:ext cx="386740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(11)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761310" y="4394384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(12)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7504861" y="4409258"/>
            <a:ext cx="358809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(14)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7932424" y="4422645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(15)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4805203" y="3613483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(10)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938717" y="3613483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(13)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5874109" y="2289669"/>
            <a:ext cx="408225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(9)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683658" y="994117"/>
            <a:ext cx="295426" cy="40904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(1)</a:t>
            </a:r>
            <a:endParaRPr kumimoji="0" lang="en-US" altLang="zh-CN" sz="16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5F74B2-8445-4152-4473-774CD796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30669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输出一个解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{");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i=0;i&lt;x.size();i++)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(x[i]==1) printf("%d ",a[i]);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printf("}");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C1A0EA-9825-C436-08F9-582086A3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30906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&amp;a,int i)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(i&gt;=a.size())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(a);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输出对应的解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x[i]=1;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x[i]=0;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02D445-6E2A-515B-DA99-5019C00F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19</a:t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26995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x=vector&lt;int&gt;(n);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916D11-8971-47B3-9BFE-AD1C6673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285860"/>
            <a:ext cx="8143932" cy="263149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解空间树中，每个层次为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开始）的分支结点对应元素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的选择和不选择两种情况，所以解空间树是一棵高度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的满二叉树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叶子结点共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个，每个叶子结点对应一个解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输出一个解的时间为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571480"/>
            <a:ext cx="3071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pset1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endParaRPr lang="zh-CN" altLang="en-US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70FA56-2ED3-EC6D-58FB-51DA50CB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542928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5.2.3 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子集树回溯算法框架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572560" cy="46987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x[n];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解向量，全局变量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i)	{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子集树的递归框架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if(i&gt;=n)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搜索到叶子结点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产生一个可能解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(j=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;j&lt;=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上界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;j++){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所有可能的选择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x[i]=j;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产生一个可能的解分量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其他操作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constraint(i) &amp;&amp; bound(i)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(i+1);					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满足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提交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继续下一层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2E0CC3-8C79-FDF4-9647-E8700FB7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428860" y="571480"/>
            <a:ext cx="400052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5.3 </a:t>
            </a:r>
            <a:r>
              <a:rPr lang="zh-CN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构造表达式</a:t>
            </a:r>
            <a:endParaRPr lang="zh-CN" altLang="en-US" sz="32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571612"/>
            <a:ext cx="8215370" cy="196464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设计一个算法在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（顺序不能变）数字之间插入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或什么都不插入，使得计算结果总是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，并求所有的可能性。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5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1+2+34–5+67–8+9=100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70F223-5F94-9D6D-22FA-A7A75B8D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928926" y="2714620"/>
            <a:ext cx="2500330" cy="2556675"/>
            <a:chOff x="2928926" y="2714620"/>
            <a:chExt cx="2500330" cy="2556675"/>
          </a:xfrm>
        </p:grpSpPr>
        <p:sp>
          <p:nvSpPr>
            <p:cNvPr id="54291" name="Rectangle 19"/>
            <p:cNvSpPr>
              <a:spLocks noChangeArrowheads="1"/>
            </p:cNvSpPr>
            <p:nvPr/>
          </p:nvSpPr>
          <p:spPr bwMode="auto">
            <a:xfrm>
              <a:off x="2933154" y="3213552"/>
              <a:ext cx="304437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: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90" name="Rectangle 18"/>
            <p:cNvSpPr>
              <a:spLocks noChangeArrowheads="1"/>
            </p:cNvSpPr>
            <p:nvPr/>
          </p:nvSpPr>
          <p:spPr bwMode="auto">
            <a:xfrm>
              <a:off x="3419408" y="3213552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9" name="Rectangle 17"/>
            <p:cNvSpPr>
              <a:spLocks noChangeArrowheads="1"/>
            </p:cNvSpPr>
            <p:nvPr/>
          </p:nvSpPr>
          <p:spPr bwMode="auto">
            <a:xfrm>
              <a:off x="3985999" y="3213552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8" name="Rectangle 16"/>
            <p:cNvSpPr>
              <a:spLocks noChangeArrowheads="1"/>
            </p:cNvSpPr>
            <p:nvPr/>
          </p:nvSpPr>
          <p:spPr bwMode="auto">
            <a:xfrm>
              <a:off x="4556818" y="3213552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7" name="Rectangle 15"/>
            <p:cNvSpPr>
              <a:spLocks noChangeArrowheads="1"/>
            </p:cNvSpPr>
            <p:nvPr/>
          </p:nvSpPr>
          <p:spPr bwMode="auto">
            <a:xfrm>
              <a:off x="5123410" y="3213552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2928926" y="2714620"/>
              <a:ext cx="304437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: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5" name="Rectangle 13"/>
            <p:cNvSpPr>
              <a:spLocks noChangeArrowheads="1"/>
            </p:cNvSpPr>
            <p:nvPr/>
          </p:nvSpPr>
          <p:spPr bwMode="auto">
            <a:xfrm>
              <a:off x="3415180" y="2714620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3981771" y="2714620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3" name="Rectangle 11"/>
            <p:cNvSpPr>
              <a:spLocks noChangeArrowheads="1"/>
            </p:cNvSpPr>
            <p:nvPr/>
          </p:nvSpPr>
          <p:spPr bwMode="auto">
            <a:xfrm>
              <a:off x="4552590" y="2714620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2" name="Rectangle 10"/>
            <p:cNvSpPr>
              <a:spLocks noChangeArrowheads="1"/>
            </p:cNvSpPr>
            <p:nvPr/>
          </p:nvSpPr>
          <p:spPr bwMode="auto">
            <a:xfrm>
              <a:off x="5119181" y="2714620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4281" name="Rectangle 9"/>
            <p:cNvSpPr>
              <a:spLocks noChangeArrowheads="1"/>
            </p:cNvSpPr>
            <p:nvPr/>
          </p:nvSpPr>
          <p:spPr bwMode="auto">
            <a:xfrm>
              <a:off x="2928926" y="3780136"/>
              <a:ext cx="304437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: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80" name="Rectangle 8"/>
            <p:cNvSpPr>
              <a:spLocks noChangeArrowheads="1"/>
            </p:cNvSpPr>
            <p:nvPr/>
          </p:nvSpPr>
          <p:spPr bwMode="auto">
            <a:xfrm>
              <a:off x="3981771" y="3780136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79" name="Rectangle 7"/>
            <p:cNvSpPr>
              <a:spLocks noChangeArrowheads="1"/>
            </p:cNvSpPr>
            <p:nvPr/>
          </p:nvSpPr>
          <p:spPr bwMode="auto">
            <a:xfrm>
              <a:off x="4552590" y="3780136"/>
              <a:ext cx="30584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4278" name="Rectangle 6"/>
            <p:cNvSpPr>
              <a:spLocks noChangeArrowheads="1"/>
            </p:cNvSpPr>
            <p:nvPr/>
          </p:nvSpPr>
          <p:spPr bwMode="auto">
            <a:xfrm>
              <a:off x="5119181" y="3780136"/>
              <a:ext cx="305846" cy="3368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4277" name="AutoShape 5"/>
            <p:cNvSpPr>
              <a:spLocks noChangeArrowheads="1"/>
            </p:cNvSpPr>
            <p:nvPr/>
          </p:nvSpPr>
          <p:spPr bwMode="auto">
            <a:xfrm>
              <a:off x="3981771" y="4377727"/>
              <a:ext cx="217052" cy="411549"/>
            </a:xfrm>
            <a:prstGeom prst="downArrow">
              <a:avLst>
                <a:gd name="adj1" fmla="val 50000"/>
                <a:gd name="adj2" fmla="val 4740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0" tIns="2880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54276" name="Rectangle 4"/>
            <p:cNvSpPr>
              <a:spLocks noChangeArrowheads="1"/>
            </p:cNvSpPr>
            <p:nvPr/>
          </p:nvSpPr>
          <p:spPr bwMode="auto">
            <a:xfrm>
              <a:off x="3481423" y="4935855"/>
              <a:ext cx="1272716" cy="3354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1+2-3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宋体" pitchFamily="2" charset="-122"/>
              </a:endParaRPr>
            </a:p>
          </p:txBody>
        </p:sp>
        <p:sp>
          <p:nvSpPr>
            <p:cNvPr id="54275" name="AutoShape 3"/>
            <p:cNvSpPr>
              <a:spLocks noChangeShapeType="1"/>
            </p:cNvSpPr>
            <p:nvPr/>
          </p:nvSpPr>
          <p:spPr bwMode="auto">
            <a:xfrm flipH="1" flipV="1">
              <a:off x="3716798" y="3432011"/>
              <a:ext cx="264973" cy="411549"/>
            </a:xfrm>
            <a:prstGeom prst="straightConnector1">
              <a:avLst/>
            </a:prstGeom>
            <a:noFill/>
            <a:ln w="28575">
              <a:solidFill>
                <a:srgbClr val="00B0F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54274" name="AutoShape 2"/>
            <p:cNvSpPr>
              <a:spLocks noChangeShapeType="1"/>
            </p:cNvSpPr>
            <p:nvPr/>
          </p:nvSpPr>
          <p:spPr bwMode="auto">
            <a:xfrm flipH="1" flipV="1">
              <a:off x="4321443" y="3478522"/>
              <a:ext cx="264973" cy="411549"/>
            </a:xfrm>
            <a:prstGeom prst="straightConnector1">
              <a:avLst/>
            </a:prstGeom>
            <a:noFill/>
            <a:ln w="28575">
              <a:solidFill>
                <a:srgbClr val="00B0F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71472" y="1285860"/>
            <a:ext cx="8143932" cy="83099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的整数，设计解向量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前面插入的运算符，其示意图如图所示。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8596" y="622228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287A7C-CA71-5C7A-E146-ECA140E9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24</a:t>
            </a:fld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500042"/>
            <a:ext cx="8643998" cy="181075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只能取值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或者空格（三选一）。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设计回溯算法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dfs(sum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表示考虑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取值时前面表达式的计算结果，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表示考虑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取值时前面的运算数，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前面没有运算符）：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48" y="2500306"/>
            <a:ext cx="8001056" cy="33239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'+'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sum+=a[i]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prev=a[i]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，继续搜索下一层，返回时恢复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'-'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sum-=a[i]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prev=-a[i]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，继续搜索下一层，返回时恢复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取值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' 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，则需要合并整数，所以需要先执行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sum-=prev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减去前面的元素值，再执行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tmp=prev*10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±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（±为原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prev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的符号）得到合并整数，最后执行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sum+=tmp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得到合并结果（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tmp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为新的前面的运算数）。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913A00-8E65-917D-59F6-0627BD8B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285728"/>
            <a:ext cx="8286808" cy="593948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#define N 9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a[N];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vector&lt;string&gt; ans;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存放答案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char x[N];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sum,int prev,int i)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(i==N)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sum==100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string s=to_string(a[0]);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j=1;j&lt;N;j++)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if (x[j]!=' ') s+=x[j];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s+=to_string(a[j]);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s+="=100";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ans.push_back(s);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E07E34-56EC-8379-79F0-74F231C7E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71414"/>
            <a:ext cx="8786874" cy="670706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x[i]='+';							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插入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'+'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sum+=a[i];							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计算当前表达式值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(sum,a[i],i+1);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sum-=a[i];							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x[i]='-';								//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位置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插入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'-'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sum-=a[i];								//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计算当前表达式值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(sum,-a[i],i+1);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sum+=a[i];								//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x[i]=' ';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位置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插入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' '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sum-=prev;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先减去前面的元素值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int tmp;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计算新合并值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if (prev&gt;0)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	tmp=prev*10+a[i];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如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prev=2,a[i]=3,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结果为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23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else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	tmp=prev*10-a[i];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如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prev=-2,a[i]=3,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结果为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-23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sum+=tmp;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计算合并结果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(sum,tmp,i+1);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sum-=tmp;								//</a:t>
            </a:r>
            <a:r>
              <a:rPr lang="zh-CN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sum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70C0"/>
                </a:solidFill>
                <a:latin typeface="Consolas" pitchFamily="49" charset="0"/>
                <a:ea typeface="仿宋" pitchFamily="49" charset="-122"/>
              </a:rPr>
              <a:t>		sum+=prev;</a:t>
            </a:r>
            <a:endParaRPr lang="zh-CN" altLang="zh-CN" sz="2000">
              <a:solidFill>
                <a:srgbClr val="0070C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7A0106-6379-DCB6-0839-46E559D5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285728"/>
            <a:ext cx="8286808" cy="32958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express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i=0;i&lt;N;i++)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赋值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1,2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</a:rPr>
              <a:t>…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,9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a[i]=i+1;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(a[0],a[0],1);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插入位置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i=0;i&lt;ans.size();i++)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cout &lt;&lt; "  (" &lt;&lt; i+1 &lt;&lt; ") " &lt;&lt; ans[i] &lt;&lt; endl;	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C66355-88E4-BD43-7CFB-D053DC95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428604"/>
            <a:ext cx="7358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调用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express()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算法的输出结果如下：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1214422"/>
            <a:ext cx="5214974" cy="2383666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(1) 1+2+3-4+5+6+78+9=100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(2) 1+2+34-5+67-8+9=100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(3) 1+23-4+5+6+78-9=100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zh-CN" altLang="zh-CN" sz="2200">
                <a:solidFill>
                  <a:srgbClr val="0000FF"/>
                </a:solidFill>
                <a:latin typeface="+mn-ea"/>
                <a:ea typeface="+mn-ea"/>
              </a:rPr>
              <a:t>…</a:t>
            </a: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(11) 123-45-67+89=100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534E6B-EBA0-7C85-595E-36B5D0E4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714356"/>
            <a:ext cx="8072494" cy="128843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express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之间有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个位置，每个位置可以插入的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个运算符之一，所以执行时间为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，如果给定整数是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O(3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CEA3DE1-3A48-3E55-531E-365D0529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143108" y="285728"/>
            <a:ext cx="428628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5.4 </a:t>
            </a:r>
            <a:r>
              <a:rPr lang="zh-CN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图的</a:t>
            </a:r>
            <a:r>
              <a:rPr lang="pt-BR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m</a:t>
            </a:r>
            <a:r>
              <a:rPr lang="zh-CN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着色问题</a:t>
            </a:r>
            <a:endParaRPr lang="zh-CN" altLang="en-US" sz="32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214422"/>
            <a:ext cx="8215370" cy="313162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给定一个连通图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种不同的颜色。用这些颜色为图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的各顶点着色，每个顶点着一种颜色。如果有一种着色法使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中每条边的两个顶点着不同颜色，则称这个图是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可着色的。图的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着色问题是给定图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种颜色，找出所有不同的着色方案数。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例如，如图所示无向连通图，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时的不同的着色方案数为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101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722996" y="4714884"/>
            <a:ext cx="1697744" cy="1550937"/>
            <a:chOff x="2722996" y="4866143"/>
            <a:chExt cx="1697744" cy="1550937"/>
          </a:xfrm>
        </p:grpSpPr>
        <p:sp>
          <p:nvSpPr>
            <p:cNvPr id="171017" name="Oval 9"/>
            <p:cNvSpPr>
              <a:spLocks noChangeArrowheads="1"/>
            </p:cNvSpPr>
            <p:nvPr/>
          </p:nvSpPr>
          <p:spPr bwMode="auto">
            <a:xfrm>
              <a:off x="2722996" y="5452985"/>
              <a:ext cx="356317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6" name="Oval 8"/>
            <p:cNvSpPr>
              <a:spLocks noChangeArrowheads="1"/>
            </p:cNvSpPr>
            <p:nvPr/>
          </p:nvSpPr>
          <p:spPr bwMode="auto">
            <a:xfrm>
              <a:off x="3393710" y="6060784"/>
              <a:ext cx="355269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5" name="Oval 7"/>
            <p:cNvSpPr>
              <a:spLocks noChangeArrowheads="1"/>
            </p:cNvSpPr>
            <p:nvPr/>
          </p:nvSpPr>
          <p:spPr bwMode="auto">
            <a:xfrm>
              <a:off x="3372750" y="4866143"/>
              <a:ext cx="354221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4" name="Oval 6"/>
            <p:cNvSpPr>
              <a:spLocks noChangeArrowheads="1"/>
            </p:cNvSpPr>
            <p:nvPr/>
          </p:nvSpPr>
          <p:spPr bwMode="auto">
            <a:xfrm>
              <a:off x="4065471" y="5452985"/>
              <a:ext cx="355269" cy="35629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013" name="AutoShape 5"/>
            <p:cNvSpPr>
              <a:spLocks noChangeShapeType="1"/>
            </p:cNvSpPr>
            <p:nvPr/>
          </p:nvSpPr>
          <p:spPr bwMode="auto">
            <a:xfrm>
              <a:off x="3079313" y="5631133"/>
              <a:ext cx="986159" cy="10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71012" name="AutoShape 4"/>
            <p:cNvSpPr>
              <a:spLocks noChangeShapeType="1"/>
            </p:cNvSpPr>
            <p:nvPr/>
          </p:nvSpPr>
          <p:spPr bwMode="auto">
            <a:xfrm flipV="1">
              <a:off x="3026913" y="5170043"/>
              <a:ext cx="397188" cy="3353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71011" name="AutoShape 3"/>
            <p:cNvSpPr>
              <a:spLocks noChangeShapeType="1"/>
            </p:cNvSpPr>
            <p:nvPr/>
          </p:nvSpPr>
          <p:spPr bwMode="auto">
            <a:xfrm>
              <a:off x="3026913" y="5756884"/>
              <a:ext cx="419196" cy="3562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71010" name="AutoShape 2"/>
            <p:cNvSpPr>
              <a:spLocks noChangeShapeType="1"/>
            </p:cNvSpPr>
            <p:nvPr/>
          </p:nvSpPr>
          <p:spPr bwMode="auto">
            <a:xfrm flipH="1">
              <a:off x="3696579" y="5756884"/>
              <a:ext cx="421292" cy="3562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B6FF36-83DF-948F-7431-10E4551C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35716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071546"/>
            <a:ext cx="8286808" cy="439799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对于连通图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，采用邻接矩阵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存放，这里的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矩阵。图中的顶点编号为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种颜色，颜色编号为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的着色，图中每个顶点可能的着色为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（初始时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置为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表示未着色），所以有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，相当于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选一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对应的解空间是一棵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叉树，高度为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开始，当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时对应一个叶子结点，表示找到一种着色方案，将着色方案数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9B8315-C7C3-BBF0-E31B-2BF3F776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48622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n=4;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A[MAXN][MAXN]={{0,1,1,1},{1,0,0,0},{1,0,0,1},{1,0,1,0}};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ans=0;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全局变量，累计解个数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x[MAXN];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全局变量，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表示顶点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的着色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judge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j)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判断顶点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是否可以着色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k=0;k&lt;n;k++)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	if(A[i][k]==1 &amp;&amp; x[k]==j)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存在相同颜色的顶点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00166" y="5715016"/>
            <a:ext cx="3429024" cy="857256"/>
            <a:chOff x="857224" y="3929066"/>
            <a:chExt cx="3429024" cy="857256"/>
          </a:xfrm>
        </p:grpSpPr>
        <p:sp>
          <p:nvSpPr>
            <p:cNvPr id="5" name="椭圆 4"/>
            <p:cNvSpPr/>
            <p:nvPr/>
          </p:nvSpPr>
          <p:spPr>
            <a:xfrm>
              <a:off x="1357290" y="435769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</a:rPr>
                <a:t>i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000364" y="435769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</a:rPr>
                <a:t>k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cxnSp>
          <p:nvCxnSpPr>
            <p:cNvPr id="7" name="直接连接符 6"/>
            <p:cNvCxnSpPr>
              <a:stCxn id="5" idx="6"/>
              <a:endCxn id="6" idx="2"/>
            </p:cNvCxnSpPr>
            <p:nvPr/>
          </p:nvCxnSpPr>
          <p:spPr>
            <a:xfrm>
              <a:off x="1785918" y="4572008"/>
              <a:ext cx="1214446" cy="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857224" y="3929066"/>
              <a:ext cx="1000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颜色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endParaRPr lang="zh-CN" altLang="en-US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28926" y="3929066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颜色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k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endParaRPr lang="zh-CN" altLang="en-US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F1F522-86E8-6CFB-CDD4-3B17FB92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33</a:t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643998" cy="450319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m,int i)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ans++;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着色方案数增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j=0;j&lt;m;j++)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试探每一种着色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x[i]=j;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(judge(i,j))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可以着色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，进入下一个顶点着色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x[i]=-1;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7041F7-08AB-87D2-8453-2378E6A0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14356"/>
            <a:ext cx="8286808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color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m)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memset(x,0xff,sizeof(x));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初始化所有元素为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着色方案数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:%d\n",ans);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704AC7-70A2-3483-B9DE-333121FC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857232"/>
            <a:ext cx="8286808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color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算法分析：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算法中每个顶点试探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颜色，解空间树是一棵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叉树（子集树），每个结点判断当前着色是否合适的时间为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B7F80E-F71D-2461-D49D-2A7EE3F9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36</a:t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2357422" y="428604"/>
            <a:ext cx="400052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5.5 </a:t>
            </a:r>
            <a:r>
              <a:rPr lang="zh-CN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子集和问题</a:t>
            </a:r>
            <a:endParaRPr lang="zh-CN" altLang="en-US" sz="32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571612"/>
            <a:ext cx="8215370" cy="249654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给定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个不同的正整数集合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，…，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）和一个正整数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，要求找出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的子集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，使该子集中所有元素的和为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例如，当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t=8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，则满足要求的子集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为（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）和（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3D7577-0BEF-673E-4971-0E04A04B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37</a:t>
            </a:fld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85786" y="1000108"/>
            <a:ext cx="7143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786" y="1714488"/>
            <a:ext cx="7715304" cy="147999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与求幂集问题一样，该问题的解空间是一棵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子集树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（因为每个整数要么选择要么不选择）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并且是求满足约束函数的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所有解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7E0F6A-F85B-045B-79BF-25F6419A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38</a:t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42910" y="428604"/>
            <a:ext cx="20002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1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）无剪支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34" y="1071546"/>
            <a:ext cx="37147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5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），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t=8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7203" name="Rectangle 9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3" name="组合 102"/>
          <p:cNvGrpSpPr/>
          <p:nvPr/>
        </p:nvGrpSpPr>
        <p:grpSpPr>
          <a:xfrm>
            <a:off x="214315" y="1794355"/>
            <a:ext cx="8715403" cy="2840662"/>
            <a:chOff x="507619" y="1794355"/>
            <a:chExt cx="7636281" cy="2840662"/>
          </a:xfrm>
        </p:grpSpPr>
        <p:sp>
          <p:nvSpPr>
            <p:cNvPr id="47201" name="Rectangle 97"/>
            <p:cNvSpPr>
              <a:spLocks noChangeArrowheads="1"/>
            </p:cNvSpPr>
            <p:nvPr/>
          </p:nvSpPr>
          <p:spPr bwMode="auto">
            <a:xfrm>
              <a:off x="6117041" y="259092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200" name="Rectangle 96"/>
            <p:cNvSpPr>
              <a:spLocks noChangeArrowheads="1"/>
            </p:cNvSpPr>
            <p:nvPr/>
          </p:nvSpPr>
          <p:spPr bwMode="auto">
            <a:xfrm>
              <a:off x="5002932" y="259092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9" name="Rectangle 95"/>
            <p:cNvSpPr>
              <a:spLocks noChangeArrowheads="1"/>
            </p:cNvSpPr>
            <p:nvPr/>
          </p:nvSpPr>
          <p:spPr bwMode="auto">
            <a:xfrm>
              <a:off x="2655243" y="2556150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8" name="Rectangle 94"/>
            <p:cNvSpPr>
              <a:spLocks noChangeArrowheads="1"/>
            </p:cNvSpPr>
            <p:nvPr/>
          </p:nvSpPr>
          <p:spPr bwMode="auto">
            <a:xfrm>
              <a:off x="1541134" y="2556150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7" name="Rectangle 93"/>
            <p:cNvSpPr>
              <a:spLocks noChangeArrowheads="1"/>
            </p:cNvSpPr>
            <p:nvPr/>
          </p:nvSpPr>
          <p:spPr bwMode="auto">
            <a:xfrm>
              <a:off x="4666328" y="1960833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6" name="Rectangle 92"/>
            <p:cNvSpPr>
              <a:spLocks noChangeArrowheads="1"/>
            </p:cNvSpPr>
            <p:nvPr/>
          </p:nvSpPr>
          <p:spPr bwMode="auto">
            <a:xfrm>
              <a:off x="6867998" y="3216793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5" name="Rectangle 91"/>
            <p:cNvSpPr>
              <a:spLocks noChangeArrowheads="1"/>
            </p:cNvSpPr>
            <p:nvPr/>
          </p:nvSpPr>
          <p:spPr bwMode="auto">
            <a:xfrm>
              <a:off x="6078166" y="3216793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4" name="Rectangle 90"/>
            <p:cNvSpPr>
              <a:spLocks noChangeArrowheads="1"/>
            </p:cNvSpPr>
            <p:nvPr/>
          </p:nvSpPr>
          <p:spPr bwMode="auto">
            <a:xfrm>
              <a:off x="5147055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3" name="Rectangle 89"/>
            <p:cNvSpPr>
              <a:spLocks noChangeArrowheads="1"/>
            </p:cNvSpPr>
            <p:nvPr/>
          </p:nvSpPr>
          <p:spPr bwMode="auto">
            <a:xfrm>
              <a:off x="4357222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2" name="Rectangle 88"/>
            <p:cNvSpPr>
              <a:spLocks noChangeArrowheads="1"/>
            </p:cNvSpPr>
            <p:nvPr/>
          </p:nvSpPr>
          <p:spPr bwMode="auto">
            <a:xfrm>
              <a:off x="3363532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91" name="Rectangle 87"/>
            <p:cNvSpPr>
              <a:spLocks noChangeArrowheads="1"/>
            </p:cNvSpPr>
            <p:nvPr/>
          </p:nvSpPr>
          <p:spPr bwMode="auto">
            <a:xfrm>
              <a:off x="2573699" y="3210471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90" name="Rectangle 86"/>
            <p:cNvSpPr>
              <a:spLocks noChangeArrowheads="1"/>
            </p:cNvSpPr>
            <p:nvPr/>
          </p:nvSpPr>
          <p:spPr bwMode="auto">
            <a:xfrm>
              <a:off x="1642589" y="3204149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9" name="Rectangle 85"/>
            <p:cNvSpPr>
              <a:spLocks noChangeArrowheads="1"/>
            </p:cNvSpPr>
            <p:nvPr/>
          </p:nvSpPr>
          <p:spPr bwMode="auto">
            <a:xfrm>
              <a:off x="852756" y="3204149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8" name="Rectangle 84"/>
            <p:cNvSpPr>
              <a:spLocks noChangeArrowheads="1"/>
            </p:cNvSpPr>
            <p:nvPr/>
          </p:nvSpPr>
          <p:spPr bwMode="auto">
            <a:xfrm>
              <a:off x="6347448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7" name="Rectangle 83"/>
            <p:cNvSpPr>
              <a:spLocks noChangeArrowheads="1"/>
            </p:cNvSpPr>
            <p:nvPr/>
          </p:nvSpPr>
          <p:spPr bwMode="auto">
            <a:xfrm>
              <a:off x="5813624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6" name="Rectangle 82"/>
            <p:cNvSpPr>
              <a:spLocks noChangeArrowheads="1"/>
            </p:cNvSpPr>
            <p:nvPr/>
          </p:nvSpPr>
          <p:spPr bwMode="auto">
            <a:xfrm>
              <a:off x="7206498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5" name="Rectangle 81"/>
            <p:cNvSpPr>
              <a:spLocks noChangeArrowheads="1"/>
            </p:cNvSpPr>
            <p:nvPr/>
          </p:nvSpPr>
          <p:spPr bwMode="auto">
            <a:xfrm>
              <a:off x="6672673" y="3928012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4" name="Rectangle 80"/>
            <p:cNvSpPr>
              <a:spLocks noChangeArrowheads="1"/>
            </p:cNvSpPr>
            <p:nvPr/>
          </p:nvSpPr>
          <p:spPr bwMode="auto">
            <a:xfrm>
              <a:off x="4617971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3" name="Rectangle 79"/>
            <p:cNvSpPr>
              <a:spLocks noChangeArrowheads="1"/>
            </p:cNvSpPr>
            <p:nvPr/>
          </p:nvSpPr>
          <p:spPr bwMode="auto">
            <a:xfrm>
              <a:off x="4084147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2" name="Rectangle 78"/>
            <p:cNvSpPr>
              <a:spLocks noChangeArrowheads="1"/>
            </p:cNvSpPr>
            <p:nvPr/>
          </p:nvSpPr>
          <p:spPr bwMode="auto">
            <a:xfrm>
              <a:off x="5477021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81" name="Rectangle 77"/>
            <p:cNvSpPr>
              <a:spLocks noChangeArrowheads="1"/>
            </p:cNvSpPr>
            <p:nvPr/>
          </p:nvSpPr>
          <p:spPr bwMode="auto">
            <a:xfrm>
              <a:off x="4943196" y="394065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80" name="Rectangle 76"/>
            <p:cNvSpPr>
              <a:spLocks noChangeArrowheads="1"/>
            </p:cNvSpPr>
            <p:nvPr/>
          </p:nvSpPr>
          <p:spPr bwMode="auto">
            <a:xfrm>
              <a:off x="2820226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9" name="Rectangle 75"/>
            <p:cNvSpPr>
              <a:spLocks noChangeArrowheads="1"/>
            </p:cNvSpPr>
            <p:nvPr/>
          </p:nvSpPr>
          <p:spPr bwMode="auto">
            <a:xfrm>
              <a:off x="2286401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8" name="Rectangle 74"/>
            <p:cNvSpPr>
              <a:spLocks noChangeArrowheads="1"/>
            </p:cNvSpPr>
            <p:nvPr/>
          </p:nvSpPr>
          <p:spPr bwMode="auto">
            <a:xfrm>
              <a:off x="3679275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7" name="Rectangle 73"/>
            <p:cNvSpPr>
              <a:spLocks noChangeArrowheads="1"/>
            </p:cNvSpPr>
            <p:nvPr/>
          </p:nvSpPr>
          <p:spPr bwMode="auto">
            <a:xfrm>
              <a:off x="3145451" y="391536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6" name="Rectangle 72"/>
            <p:cNvSpPr>
              <a:spLocks noChangeArrowheads="1"/>
            </p:cNvSpPr>
            <p:nvPr/>
          </p:nvSpPr>
          <p:spPr bwMode="auto">
            <a:xfrm>
              <a:off x="1099283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5" name="Rectangle 71"/>
            <p:cNvSpPr>
              <a:spLocks noChangeArrowheads="1"/>
            </p:cNvSpPr>
            <p:nvPr/>
          </p:nvSpPr>
          <p:spPr bwMode="auto">
            <a:xfrm>
              <a:off x="565458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4" name="Rectangle 70"/>
            <p:cNvSpPr>
              <a:spLocks noChangeArrowheads="1"/>
            </p:cNvSpPr>
            <p:nvPr/>
          </p:nvSpPr>
          <p:spPr bwMode="auto">
            <a:xfrm>
              <a:off x="1958332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3" name="Rectangle 69"/>
            <p:cNvSpPr>
              <a:spLocks noChangeArrowheads="1"/>
            </p:cNvSpPr>
            <p:nvPr/>
          </p:nvSpPr>
          <p:spPr bwMode="auto">
            <a:xfrm>
              <a:off x="1424508" y="3880598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2" name="Rectangle 68"/>
            <p:cNvSpPr>
              <a:spLocks noChangeArrowheads="1"/>
            </p:cNvSpPr>
            <p:nvPr/>
          </p:nvSpPr>
          <p:spPr bwMode="auto">
            <a:xfrm>
              <a:off x="2732993" y="1981906"/>
              <a:ext cx="1839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71" name="Oval 67"/>
            <p:cNvSpPr>
              <a:spLocks noChangeArrowheads="1"/>
            </p:cNvSpPr>
            <p:nvPr/>
          </p:nvSpPr>
          <p:spPr bwMode="auto">
            <a:xfrm>
              <a:off x="3651778" y="1794355"/>
              <a:ext cx="349878" cy="3582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70" name="AutoShape 66"/>
            <p:cNvSpPr>
              <a:spLocks noChangeShapeType="1"/>
            </p:cNvSpPr>
            <p:nvPr/>
          </p:nvSpPr>
          <p:spPr bwMode="auto">
            <a:xfrm flipH="1">
              <a:off x="2247526" y="1973477"/>
              <a:ext cx="1404252" cy="52577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9" name="Oval 65"/>
            <p:cNvSpPr>
              <a:spLocks noChangeArrowheads="1"/>
            </p:cNvSpPr>
            <p:nvPr/>
          </p:nvSpPr>
          <p:spPr bwMode="auto">
            <a:xfrm>
              <a:off x="4041479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168" name="Oval 64"/>
            <p:cNvSpPr>
              <a:spLocks noChangeArrowheads="1"/>
            </p:cNvSpPr>
            <p:nvPr/>
          </p:nvSpPr>
          <p:spPr bwMode="auto">
            <a:xfrm>
              <a:off x="4490916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7167" name="Oval 63"/>
            <p:cNvSpPr>
              <a:spLocks noChangeArrowheads="1"/>
            </p:cNvSpPr>
            <p:nvPr/>
          </p:nvSpPr>
          <p:spPr bwMode="auto">
            <a:xfrm>
              <a:off x="4255767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7166" name="AutoShape 62"/>
            <p:cNvSpPr>
              <a:spLocks noChangeShapeType="1"/>
            </p:cNvSpPr>
            <p:nvPr/>
          </p:nvSpPr>
          <p:spPr bwMode="auto">
            <a:xfrm flipH="1">
              <a:off x="4216892" y="3928012"/>
              <a:ext cx="90077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5" name="AutoShape 61"/>
            <p:cNvSpPr>
              <a:spLocks noChangeShapeType="1"/>
            </p:cNvSpPr>
            <p:nvPr/>
          </p:nvSpPr>
          <p:spPr bwMode="auto">
            <a:xfrm>
              <a:off x="4554443" y="3928012"/>
              <a:ext cx="111885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4" name="Oval 60"/>
            <p:cNvSpPr>
              <a:spLocks noChangeArrowheads="1"/>
            </p:cNvSpPr>
            <p:nvPr/>
          </p:nvSpPr>
          <p:spPr bwMode="auto">
            <a:xfrm>
              <a:off x="4928974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63" name="Oval 59"/>
            <p:cNvSpPr>
              <a:spLocks noChangeArrowheads="1"/>
            </p:cNvSpPr>
            <p:nvPr/>
          </p:nvSpPr>
          <p:spPr bwMode="auto">
            <a:xfrm>
              <a:off x="5352809" y="4267290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62" name="Oval 58"/>
            <p:cNvSpPr>
              <a:spLocks noChangeArrowheads="1"/>
            </p:cNvSpPr>
            <p:nvPr/>
          </p:nvSpPr>
          <p:spPr bwMode="auto">
            <a:xfrm>
              <a:off x="5125247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61" name="AutoShape 57"/>
            <p:cNvSpPr>
              <a:spLocks noChangeShapeType="1"/>
            </p:cNvSpPr>
            <p:nvPr/>
          </p:nvSpPr>
          <p:spPr bwMode="auto">
            <a:xfrm flipH="1">
              <a:off x="5104387" y="3928012"/>
              <a:ext cx="72062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60" name="AutoShape 56"/>
            <p:cNvSpPr>
              <a:spLocks noChangeShapeType="1"/>
            </p:cNvSpPr>
            <p:nvPr/>
          </p:nvSpPr>
          <p:spPr bwMode="auto">
            <a:xfrm>
              <a:off x="5423923" y="3928012"/>
              <a:ext cx="10335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9" name="Oval 55"/>
            <p:cNvSpPr>
              <a:spLocks noChangeArrowheads="1"/>
            </p:cNvSpPr>
            <p:nvPr/>
          </p:nvSpPr>
          <p:spPr bwMode="auto">
            <a:xfrm>
              <a:off x="4659691" y="2962862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7158" name="AutoShape 54"/>
            <p:cNvSpPr>
              <a:spLocks noChangeShapeType="1"/>
            </p:cNvSpPr>
            <p:nvPr/>
          </p:nvSpPr>
          <p:spPr bwMode="auto">
            <a:xfrm flipH="1">
              <a:off x="4431180" y="3268423"/>
              <a:ext cx="279713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7" name="AutoShape 53"/>
            <p:cNvSpPr>
              <a:spLocks noChangeShapeType="1"/>
            </p:cNvSpPr>
            <p:nvPr/>
          </p:nvSpPr>
          <p:spPr bwMode="auto">
            <a:xfrm>
              <a:off x="4957419" y="3268423"/>
              <a:ext cx="343240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6" name="Oval 52"/>
            <p:cNvSpPr>
              <a:spLocks noChangeArrowheads="1"/>
            </p:cNvSpPr>
            <p:nvPr/>
          </p:nvSpPr>
          <p:spPr bwMode="auto">
            <a:xfrm>
              <a:off x="5766215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47155" name="Oval 51"/>
            <p:cNvSpPr>
              <a:spLocks noChangeArrowheads="1"/>
            </p:cNvSpPr>
            <p:nvPr/>
          </p:nvSpPr>
          <p:spPr bwMode="auto">
            <a:xfrm>
              <a:off x="6205221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7154" name="Oval 50"/>
            <p:cNvSpPr>
              <a:spLocks noChangeArrowheads="1"/>
            </p:cNvSpPr>
            <p:nvPr/>
          </p:nvSpPr>
          <p:spPr bwMode="auto">
            <a:xfrm>
              <a:off x="5978607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7153" name="AutoShape 49"/>
            <p:cNvSpPr>
              <a:spLocks noChangeShapeType="1"/>
            </p:cNvSpPr>
            <p:nvPr/>
          </p:nvSpPr>
          <p:spPr bwMode="auto">
            <a:xfrm flipH="1">
              <a:off x="5941628" y="3928012"/>
              <a:ext cx="8818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2" name="AutoShape 48"/>
            <p:cNvSpPr>
              <a:spLocks noChangeShapeType="1"/>
            </p:cNvSpPr>
            <p:nvPr/>
          </p:nvSpPr>
          <p:spPr bwMode="auto">
            <a:xfrm>
              <a:off x="6277283" y="3928012"/>
              <a:ext cx="10335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51" name="Oval 47"/>
            <p:cNvSpPr>
              <a:spLocks noChangeArrowheads="1"/>
            </p:cNvSpPr>
            <p:nvPr/>
          </p:nvSpPr>
          <p:spPr bwMode="auto">
            <a:xfrm>
              <a:off x="6643280" y="4267290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47150" name="Oval 46"/>
            <p:cNvSpPr>
              <a:spLocks noChangeArrowheads="1"/>
            </p:cNvSpPr>
            <p:nvPr/>
          </p:nvSpPr>
          <p:spPr bwMode="auto">
            <a:xfrm>
              <a:off x="7092716" y="4276773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9" name="Oval 45"/>
            <p:cNvSpPr>
              <a:spLocks noChangeArrowheads="1"/>
            </p:cNvSpPr>
            <p:nvPr/>
          </p:nvSpPr>
          <p:spPr bwMode="auto">
            <a:xfrm>
              <a:off x="6848086" y="362245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8" name="AutoShape 44"/>
            <p:cNvSpPr>
              <a:spLocks noChangeShapeType="1"/>
            </p:cNvSpPr>
            <p:nvPr/>
          </p:nvSpPr>
          <p:spPr bwMode="auto">
            <a:xfrm flipH="1">
              <a:off x="6818693" y="3928012"/>
              <a:ext cx="80595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7" name="AutoShape 43"/>
            <p:cNvSpPr>
              <a:spLocks noChangeShapeType="1"/>
            </p:cNvSpPr>
            <p:nvPr/>
          </p:nvSpPr>
          <p:spPr bwMode="auto">
            <a:xfrm>
              <a:off x="7146762" y="3928012"/>
              <a:ext cx="121367" cy="3487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6" name="Oval 42"/>
            <p:cNvSpPr>
              <a:spLocks noChangeArrowheads="1"/>
            </p:cNvSpPr>
            <p:nvPr/>
          </p:nvSpPr>
          <p:spPr bwMode="auto">
            <a:xfrm>
              <a:off x="6391064" y="296286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5" name="AutoShape 41"/>
            <p:cNvSpPr>
              <a:spLocks noChangeShapeType="1"/>
            </p:cNvSpPr>
            <p:nvPr/>
          </p:nvSpPr>
          <p:spPr bwMode="auto">
            <a:xfrm flipH="1">
              <a:off x="6154020" y="3268423"/>
              <a:ext cx="288246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4" name="AutoShape 40"/>
            <p:cNvSpPr>
              <a:spLocks noChangeShapeType="1"/>
            </p:cNvSpPr>
            <p:nvPr/>
          </p:nvSpPr>
          <p:spPr bwMode="auto">
            <a:xfrm>
              <a:off x="6689740" y="3268423"/>
              <a:ext cx="333759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420130" y="2466589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7142" name="AutoShape 38"/>
            <p:cNvSpPr>
              <a:spLocks noChangeShapeType="1"/>
            </p:cNvSpPr>
            <p:nvPr/>
          </p:nvSpPr>
          <p:spPr bwMode="auto">
            <a:xfrm flipH="1">
              <a:off x="4957419" y="2645711"/>
              <a:ext cx="462711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1" name="AutoShape 37"/>
            <p:cNvSpPr>
              <a:spLocks noChangeShapeType="1"/>
            </p:cNvSpPr>
            <p:nvPr/>
          </p:nvSpPr>
          <p:spPr bwMode="auto">
            <a:xfrm>
              <a:off x="5770008" y="2645711"/>
              <a:ext cx="672258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40" name="AutoShape 36"/>
            <p:cNvSpPr>
              <a:spLocks noChangeShapeType="1"/>
            </p:cNvSpPr>
            <p:nvPr/>
          </p:nvSpPr>
          <p:spPr bwMode="auto">
            <a:xfrm>
              <a:off x="4001656" y="1973477"/>
              <a:ext cx="1469676" cy="54579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507619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958952" y="4247271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740871" y="3602432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47136" name="AutoShape 32"/>
            <p:cNvSpPr>
              <a:spLocks noChangeShapeType="1"/>
            </p:cNvSpPr>
            <p:nvPr/>
          </p:nvSpPr>
          <p:spPr bwMode="auto">
            <a:xfrm flipH="1">
              <a:off x="683032" y="3907993"/>
              <a:ext cx="109040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5" name="AutoShape 31"/>
            <p:cNvSpPr>
              <a:spLocks noChangeShapeType="1"/>
            </p:cNvSpPr>
            <p:nvPr/>
          </p:nvSpPr>
          <p:spPr bwMode="auto">
            <a:xfrm>
              <a:off x="1038599" y="3907993"/>
              <a:ext cx="94818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1397959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1838861" y="4247271"/>
              <a:ext cx="350826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1603713" y="3602432"/>
              <a:ext cx="348930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47131" name="AutoShape 27"/>
            <p:cNvSpPr>
              <a:spLocks noChangeShapeType="1"/>
            </p:cNvSpPr>
            <p:nvPr/>
          </p:nvSpPr>
          <p:spPr bwMode="auto">
            <a:xfrm flipH="1">
              <a:off x="1573372" y="3907993"/>
              <a:ext cx="81543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30" name="AutoShape 26"/>
            <p:cNvSpPr>
              <a:spLocks noChangeShapeType="1"/>
            </p:cNvSpPr>
            <p:nvPr/>
          </p:nvSpPr>
          <p:spPr bwMode="auto">
            <a:xfrm>
              <a:off x="1901441" y="3907993"/>
              <a:ext cx="112833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1137210" y="2942842"/>
              <a:ext cx="350826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47128" name="AutoShape 24"/>
            <p:cNvSpPr>
              <a:spLocks noChangeShapeType="1"/>
            </p:cNvSpPr>
            <p:nvPr/>
          </p:nvSpPr>
          <p:spPr bwMode="auto">
            <a:xfrm flipH="1">
              <a:off x="915336" y="3248403"/>
              <a:ext cx="273075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7" name="AutoShape 23"/>
            <p:cNvSpPr>
              <a:spLocks noChangeShapeType="1"/>
            </p:cNvSpPr>
            <p:nvPr/>
          </p:nvSpPr>
          <p:spPr bwMode="auto">
            <a:xfrm>
              <a:off x="1436834" y="3248403"/>
              <a:ext cx="341344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2260801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10</a:t>
              </a:r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2700755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2474141" y="360243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123" name="AutoShape 19"/>
            <p:cNvSpPr>
              <a:spLocks noChangeShapeType="1"/>
            </p:cNvSpPr>
            <p:nvPr/>
          </p:nvSpPr>
          <p:spPr bwMode="auto">
            <a:xfrm flipH="1">
              <a:off x="2436214" y="3907993"/>
              <a:ext cx="89129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2" name="AutoShape 18"/>
            <p:cNvSpPr>
              <a:spLocks noChangeShapeType="1"/>
            </p:cNvSpPr>
            <p:nvPr/>
          </p:nvSpPr>
          <p:spPr bwMode="auto">
            <a:xfrm>
              <a:off x="2772817" y="3907993"/>
              <a:ext cx="103351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3113213" y="4247271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3553167" y="4256754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3318019" y="360243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8" name="AutoShape 14"/>
            <p:cNvSpPr>
              <a:spLocks noChangeShapeType="1"/>
            </p:cNvSpPr>
            <p:nvPr/>
          </p:nvSpPr>
          <p:spPr bwMode="auto">
            <a:xfrm flipH="1">
              <a:off x="3288626" y="3907993"/>
              <a:ext cx="80595" cy="3392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7" name="AutoShape 13"/>
            <p:cNvSpPr>
              <a:spLocks noChangeShapeType="1"/>
            </p:cNvSpPr>
            <p:nvPr/>
          </p:nvSpPr>
          <p:spPr bwMode="auto">
            <a:xfrm>
              <a:off x="3616695" y="3907993"/>
              <a:ext cx="111885" cy="34876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2886598" y="2942842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5" name="AutoShape 11"/>
            <p:cNvSpPr>
              <a:spLocks noChangeShapeType="1"/>
            </p:cNvSpPr>
            <p:nvPr/>
          </p:nvSpPr>
          <p:spPr bwMode="auto">
            <a:xfrm flipH="1">
              <a:off x="2649554" y="3248403"/>
              <a:ext cx="288246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4" name="AutoShape 10"/>
            <p:cNvSpPr>
              <a:spLocks noChangeShapeType="1"/>
            </p:cNvSpPr>
            <p:nvPr/>
          </p:nvSpPr>
          <p:spPr bwMode="auto">
            <a:xfrm>
              <a:off x="3185274" y="3248403"/>
              <a:ext cx="308158" cy="35402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1948850" y="2446569"/>
              <a:ext cx="349878" cy="358244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112" name="AutoShape 8"/>
            <p:cNvSpPr>
              <a:spLocks noChangeShapeType="1"/>
            </p:cNvSpPr>
            <p:nvPr/>
          </p:nvSpPr>
          <p:spPr bwMode="auto">
            <a:xfrm flipH="1">
              <a:off x="1436834" y="2625691"/>
              <a:ext cx="512016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1" name="AutoShape 7"/>
            <p:cNvSpPr>
              <a:spLocks noChangeShapeType="1"/>
            </p:cNvSpPr>
            <p:nvPr/>
          </p:nvSpPr>
          <p:spPr bwMode="auto">
            <a:xfrm>
              <a:off x="2298728" y="2625691"/>
              <a:ext cx="639072" cy="3698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110" name="Rectangle 6"/>
            <p:cNvSpPr>
              <a:spLocks noChangeArrowheads="1"/>
            </p:cNvSpPr>
            <p:nvPr/>
          </p:nvSpPr>
          <p:spPr bwMode="auto">
            <a:xfrm>
              <a:off x="6681802" y="1820697"/>
              <a:ext cx="1396645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结点层次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=0</a:t>
              </a:r>
            </a:p>
          </p:txBody>
        </p:sp>
        <p:sp>
          <p:nvSpPr>
            <p:cNvPr id="47109" name="Rectangle 5"/>
            <p:cNvSpPr>
              <a:spLocks noChangeArrowheads="1"/>
            </p:cNvSpPr>
            <p:nvPr/>
          </p:nvSpPr>
          <p:spPr bwMode="auto">
            <a:xfrm>
              <a:off x="7567753" y="2430765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=1</a:t>
              </a:r>
            </a:p>
          </p:txBody>
        </p:sp>
        <p:sp>
          <p:nvSpPr>
            <p:cNvPr id="47108" name="Rectangle 4"/>
            <p:cNvSpPr>
              <a:spLocks noChangeArrowheads="1"/>
            </p:cNvSpPr>
            <p:nvPr/>
          </p:nvSpPr>
          <p:spPr bwMode="auto">
            <a:xfrm>
              <a:off x="7567753" y="2975506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=2</a:t>
              </a:r>
            </a:p>
          </p:txBody>
        </p:sp>
        <p:sp>
          <p:nvSpPr>
            <p:cNvPr id="47107" name="Rectangle 3"/>
            <p:cNvSpPr>
              <a:spLocks noChangeArrowheads="1"/>
            </p:cNvSpPr>
            <p:nvPr/>
          </p:nvSpPr>
          <p:spPr bwMode="auto">
            <a:xfrm>
              <a:off x="7567753" y="3649847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=3</a:t>
              </a:r>
            </a:p>
          </p:txBody>
        </p:sp>
        <p:sp>
          <p:nvSpPr>
            <p:cNvPr id="47106" name="Rectangle 2"/>
            <p:cNvSpPr>
              <a:spLocks noChangeArrowheads="1"/>
            </p:cNvSpPr>
            <p:nvPr/>
          </p:nvSpPr>
          <p:spPr bwMode="auto">
            <a:xfrm>
              <a:off x="7567753" y="4325241"/>
              <a:ext cx="576147" cy="2739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=4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45E0B9-9173-6A18-DE8C-7F41A15F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39</a:t>
            </a:fld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4282" y="571480"/>
            <a:ext cx="8643998" cy="533913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n,t;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a;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存放所有整数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cnt=0;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累计解个数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tot=0;                      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累计搜索的结点个数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输出一个解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,",++cnt);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选取的数为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i=0;i&lt;x.size();i++)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x[i]==1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printf("%d ",a[i]);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136309-9846-58E4-4C08-946F1AB5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40</a:t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4282" y="500042"/>
            <a:ext cx="8643998" cy="481335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cs,int i) { 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(cs==t) disp();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x[i]=1;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(cs+a[i],i+1);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x[i]=0;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8662" y="2714620"/>
            <a:ext cx="2714644" cy="785818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28662" y="3714752"/>
            <a:ext cx="2714644" cy="785818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5B05EB-A8CA-D65C-3217-41CEBEAF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41</a:t>
            </a:fld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85720" y="718670"/>
            <a:ext cx="8643998" cy="335327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subs1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T)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求解子集和问题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a=A;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t=T;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x=vector&lt;int&gt;(n);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(0,0);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printf("tot=%d\n",tot);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2BD130-2FE2-77A9-7602-E969435D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42</a:t>
            </a:fld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2910" y="1142984"/>
            <a:ext cx="5357850" cy="166465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52000" tIns="108000" bIns="108000" rtlCol="0">
            <a:spAutoFit/>
          </a:bodyPr>
          <a:lstStyle/>
          <a:p>
            <a:pPr algn="l"/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求解结果</a:t>
            </a:r>
          </a:p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选取的数为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3 5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选取的数为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1 5 2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tot=31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282" y="357166"/>
            <a:ext cx="835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A={3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T=8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，调用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subs1(A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时的输出：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596" y="3500438"/>
            <a:ext cx="8215370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subs1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：对于含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个元素的数组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，解空间是一棵高度为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的满二叉树，共有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个结点，递归调用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次，每找到一个满足条件的解就调用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disp()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输出，所以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subs()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算法的最坏时间复杂度为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2D90F7-BB2A-85EC-CEBF-E7E3B16F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42844" y="171370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2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左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剪支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6" y="3059668"/>
            <a:ext cx="285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>
                <a:solidFill>
                  <a:srgbClr val="0000FF"/>
                </a:solidFill>
              </a:rPr>
              <a:t>a</a:t>
            </a:r>
            <a:r>
              <a:rPr lang="en-US" altLang="zh-CN" sz="1800">
                <a:solidFill>
                  <a:srgbClr val="0000FF"/>
                </a:solidFill>
              </a:rPr>
              <a:t>=</a:t>
            </a:r>
            <a:r>
              <a:rPr lang="zh-CN" altLang="zh-CN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3</a:t>
            </a:r>
            <a:r>
              <a:rPr lang="zh-CN" altLang="zh-CN" sz="1800">
                <a:solidFill>
                  <a:srgbClr val="0000FF"/>
                </a:solidFill>
              </a:rPr>
              <a:t>，</a:t>
            </a:r>
            <a:r>
              <a:rPr lang="en-US" altLang="zh-CN" sz="1800">
                <a:solidFill>
                  <a:srgbClr val="0000FF"/>
                </a:solidFill>
              </a:rPr>
              <a:t>1</a:t>
            </a:r>
            <a:r>
              <a:rPr lang="zh-CN" altLang="zh-CN" sz="1800">
                <a:solidFill>
                  <a:srgbClr val="0000FF"/>
                </a:solidFill>
              </a:rPr>
              <a:t>，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zh-CN" sz="1800">
                <a:solidFill>
                  <a:srgbClr val="0000FF"/>
                </a:solidFill>
              </a:rPr>
              <a:t>，</a:t>
            </a:r>
            <a:r>
              <a:rPr lang="en-US" altLang="zh-CN" sz="1800">
                <a:solidFill>
                  <a:srgbClr val="0000FF"/>
                </a:solidFill>
              </a:rPr>
              <a:t>2</a:t>
            </a:r>
            <a:r>
              <a:rPr lang="zh-CN" altLang="zh-CN" sz="1800">
                <a:solidFill>
                  <a:srgbClr val="0000FF"/>
                </a:solidFill>
              </a:rPr>
              <a:t>），</a:t>
            </a:r>
            <a:r>
              <a:rPr lang="en-US" altLang="zh-CN" sz="1800">
                <a:solidFill>
                  <a:srgbClr val="0000FF"/>
                </a:solidFill>
              </a:rPr>
              <a:t>t=8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6173" name="Rectangle 9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285720" y="966034"/>
            <a:ext cx="8501122" cy="323421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当搜索到第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）层结点时，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表示当前已经选取的整数和（其中不包含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），判断选择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是否合适：</a:t>
            </a:r>
          </a:p>
          <a:p>
            <a:pPr marL="914400" lvl="1" indent="-457200" algn="l">
              <a:lnSpc>
                <a:spcPts val="3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若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]&gt;t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，不必继续该路径，终止搜索，也就是左剪支。</a:t>
            </a:r>
          </a:p>
          <a:p>
            <a:pPr marL="914400" lvl="1" indent="-457200" algn="l">
              <a:lnSpc>
                <a:spcPts val="35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若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，沿着该路径继续下去可能会找到解，不能终止。</a:t>
            </a:r>
          </a:p>
          <a:p>
            <a:pPr marL="457200" indent="-457200" algn="l">
              <a:lnSpc>
                <a:spcPts val="35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简单地说，仅仅扩展满足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FF0000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的左孩子结点。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B1A06C-2AD4-789F-227E-0F262529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44</a:t>
            </a:fld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85720" y="500042"/>
            <a:ext cx="3500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5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），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t=8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6173" name="Rectangle 9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108"/>
          <p:cNvGrpSpPr/>
          <p:nvPr/>
        </p:nvGrpSpPr>
        <p:grpSpPr>
          <a:xfrm>
            <a:off x="82727" y="1571612"/>
            <a:ext cx="8929718" cy="3571900"/>
            <a:chOff x="794732" y="3304246"/>
            <a:chExt cx="7849234" cy="3053712"/>
          </a:xfrm>
        </p:grpSpPr>
        <p:grpSp>
          <p:nvGrpSpPr>
            <p:cNvPr id="3" name="组合 105"/>
            <p:cNvGrpSpPr/>
            <p:nvPr/>
          </p:nvGrpSpPr>
          <p:grpSpPr>
            <a:xfrm>
              <a:off x="961874" y="3304246"/>
              <a:ext cx="7682092" cy="3053712"/>
              <a:chOff x="676122" y="2437929"/>
              <a:chExt cx="7682092" cy="3053712"/>
            </a:xfrm>
          </p:grpSpPr>
          <p:sp>
            <p:nvSpPr>
              <p:cNvPr id="46171" name="Rectangle 91"/>
              <p:cNvSpPr>
                <a:spLocks noChangeArrowheads="1"/>
              </p:cNvSpPr>
              <p:nvPr/>
            </p:nvSpPr>
            <p:spPr bwMode="auto">
              <a:xfrm>
                <a:off x="6201630" y="3294237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70" name="Rectangle 90"/>
              <p:cNvSpPr>
                <a:spLocks noChangeArrowheads="1"/>
              </p:cNvSpPr>
              <p:nvPr/>
            </p:nvSpPr>
            <p:spPr bwMode="auto">
              <a:xfrm>
                <a:off x="5056573" y="3294237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9" name="Rectangle 89"/>
              <p:cNvSpPr>
                <a:spLocks noChangeArrowheads="1"/>
              </p:cNvSpPr>
              <p:nvPr/>
            </p:nvSpPr>
            <p:spPr bwMode="auto">
              <a:xfrm>
                <a:off x="2643671" y="325685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8" name="Rectangle 88"/>
              <p:cNvSpPr>
                <a:spLocks noChangeArrowheads="1"/>
              </p:cNvSpPr>
              <p:nvPr/>
            </p:nvSpPr>
            <p:spPr bwMode="auto">
              <a:xfrm>
                <a:off x="1498614" y="325685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7" name="Rectangle 87"/>
              <p:cNvSpPr>
                <a:spLocks noChangeArrowheads="1"/>
              </p:cNvSpPr>
              <p:nvPr/>
            </p:nvSpPr>
            <p:spPr bwMode="auto">
              <a:xfrm>
                <a:off x="4710620" y="261689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6" name="Rectangle 86"/>
              <p:cNvSpPr>
                <a:spLocks noChangeArrowheads="1"/>
              </p:cNvSpPr>
              <p:nvPr/>
            </p:nvSpPr>
            <p:spPr bwMode="auto">
              <a:xfrm>
                <a:off x="6973447" y="396705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5" name="Rectangle 85"/>
              <p:cNvSpPr>
                <a:spLocks noChangeArrowheads="1"/>
              </p:cNvSpPr>
              <p:nvPr/>
            </p:nvSpPr>
            <p:spPr bwMode="auto">
              <a:xfrm>
                <a:off x="6161675" y="396705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4" name="Rectangle 84"/>
              <p:cNvSpPr>
                <a:spLocks noChangeArrowheads="1"/>
              </p:cNvSpPr>
              <p:nvPr/>
            </p:nvSpPr>
            <p:spPr bwMode="auto">
              <a:xfrm>
                <a:off x="5204700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3" name="Rectangle 83"/>
              <p:cNvSpPr>
                <a:spLocks noChangeArrowheads="1"/>
              </p:cNvSpPr>
              <p:nvPr/>
            </p:nvSpPr>
            <p:spPr bwMode="auto">
              <a:xfrm>
                <a:off x="4392927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2" name="Rectangle 82"/>
              <p:cNvSpPr>
                <a:spLocks noChangeArrowheads="1"/>
              </p:cNvSpPr>
              <p:nvPr/>
            </p:nvSpPr>
            <p:spPr bwMode="auto">
              <a:xfrm>
                <a:off x="3371634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61" name="Rectangle 81"/>
              <p:cNvSpPr>
                <a:spLocks noChangeArrowheads="1"/>
              </p:cNvSpPr>
              <p:nvPr/>
            </p:nvSpPr>
            <p:spPr bwMode="auto">
              <a:xfrm>
                <a:off x="2559862" y="396025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60" name="Rectangle 80"/>
              <p:cNvSpPr>
                <a:spLocks noChangeArrowheads="1"/>
              </p:cNvSpPr>
              <p:nvPr/>
            </p:nvSpPr>
            <p:spPr bwMode="auto">
              <a:xfrm>
                <a:off x="1602887" y="3953458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9" name="Rectangle 79"/>
              <p:cNvSpPr>
                <a:spLocks noChangeArrowheads="1"/>
              </p:cNvSpPr>
              <p:nvPr/>
            </p:nvSpPr>
            <p:spPr bwMode="auto">
              <a:xfrm>
                <a:off x="1033438" y="4125574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8" name="Rectangle 78"/>
              <p:cNvSpPr>
                <a:spLocks noChangeArrowheads="1"/>
              </p:cNvSpPr>
              <p:nvPr/>
            </p:nvSpPr>
            <p:spPr bwMode="auto">
              <a:xfrm>
                <a:off x="6438437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7" name="Rectangle 77"/>
              <p:cNvSpPr>
                <a:spLocks noChangeArrowheads="1"/>
              </p:cNvSpPr>
              <p:nvPr/>
            </p:nvSpPr>
            <p:spPr bwMode="auto">
              <a:xfrm>
                <a:off x="5889785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6" name="Rectangle 76"/>
              <p:cNvSpPr>
                <a:spLocks noChangeArrowheads="1"/>
              </p:cNvSpPr>
              <p:nvPr/>
            </p:nvSpPr>
            <p:spPr bwMode="auto">
              <a:xfrm>
                <a:off x="7321349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5" name="Rectangle 75"/>
              <p:cNvSpPr>
                <a:spLocks noChangeArrowheads="1"/>
              </p:cNvSpPr>
              <p:nvPr/>
            </p:nvSpPr>
            <p:spPr bwMode="auto">
              <a:xfrm>
                <a:off x="6772696" y="4731611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4" name="Rectangle 74"/>
              <p:cNvSpPr>
                <a:spLocks noChangeArrowheads="1"/>
              </p:cNvSpPr>
              <p:nvPr/>
            </p:nvSpPr>
            <p:spPr bwMode="auto">
              <a:xfrm>
                <a:off x="4660919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3" name="Rectangle 73"/>
              <p:cNvSpPr>
                <a:spLocks noChangeArrowheads="1"/>
              </p:cNvSpPr>
              <p:nvPr/>
            </p:nvSpPr>
            <p:spPr bwMode="auto">
              <a:xfrm>
                <a:off x="4112267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2" name="Rectangle 72"/>
              <p:cNvSpPr>
                <a:spLocks noChangeArrowheads="1"/>
              </p:cNvSpPr>
              <p:nvPr/>
            </p:nvSpPr>
            <p:spPr bwMode="auto">
              <a:xfrm>
                <a:off x="5543831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51" name="Rectangle 71"/>
              <p:cNvSpPr>
                <a:spLocks noChangeArrowheads="1"/>
              </p:cNvSpPr>
              <p:nvPr/>
            </p:nvSpPr>
            <p:spPr bwMode="auto">
              <a:xfrm>
                <a:off x="4995179" y="4745203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50" name="Rectangle 70"/>
              <p:cNvSpPr>
                <a:spLocks noChangeArrowheads="1"/>
              </p:cNvSpPr>
              <p:nvPr/>
            </p:nvSpPr>
            <p:spPr bwMode="auto">
              <a:xfrm>
                <a:off x="2813236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9" name="Rectangle 69"/>
              <p:cNvSpPr>
                <a:spLocks noChangeArrowheads="1"/>
              </p:cNvSpPr>
              <p:nvPr/>
            </p:nvSpPr>
            <p:spPr bwMode="auto">
              <a:xfrm>
                <a:off x="2264584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8" name="Rectangle 68"/>
              <p:cNvSpPr>
                <a:spLocks noChangeArrowheads="1"/>
              </p:cNvSpPr>
              <p:nvPr/>
            </p:nvSpPr>
            <p:spPr bwMode="auto">
              <a:xfrm>
                <a:off x="3696148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7" name="Rectangle 67"/>
              <p:cNvSpPr>
                <a:spLocks noChangeArrowheads="1"/>
              </p:cNvSpPr>
              <p:nvPr/>
            </p:nvSpPr>
            <p:spPr bwMode="auto">
              <a:xfrm>
                <a:off x="3147496" y="4718019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6" name="Rectangle 66"/>
              <p:cNvSpPr>
                <a:spLocks noChangeArrowheads="1"/>
              </p:cNvSpPr>
              <p:nvPr/>
            </p:nvSpPr>
            <p:spPr bwMode="auto">
              <a:xfrm>
                <a:off x="1927401" y="468064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5" name="Rectangle 65"/>
              <p:cNvSpPr>
                <a:spLocks noChangeArrowheads="1"/>
              </p:cNvSpPr>
              <p:nvPr/>
            </p:nvSpPr>
            <p:spPr bwMode="auto">
              <a:xfrm>
                <a:off x="1378748" y="4680640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4" name="Rectangle 64"/>
              <p:cNvSpPr>
                <a:spLocks noChangeArrowheads="1"/>
              </p:cNvSpPr>
              <p:nvPr/>
            </p:nvSpPr>
            <p:spPr bwMode="auto">
              <a:xfrm>
                <a:off x="2723581" y="2639547"/>
                <a:ext cx="189056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43" name="Oval 63"/>
              <p:cNvSpPr>
                <a:spLocks noChangeArrowheads="1"/>
              </p:cNvSpPr>
              <p:nvPr/>
            </p:nvSpPr>
            <p:spPr bwMode="auto">
              <a:xfrm>
                <a:off x="3667887" y="2437929"/>
                <a:ext cx="359597" cy="38511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42" name="AutoShape 62"/>
              <p:cNvSpPr>
                <a:spLocks noChangeShapeType="1"/>
              </p:cNvSpPr>
              <p:nvPr/>
            </p:nvSpPr>
            <p:spPr bwMode="auto">
              <a:xfrm flipH="1">
                <a:off x="2224629" y="2630485"/>
                <a:ext cx="1443259" cy="56520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41" name="Oval 61"/>
              <p:cNvSpPr>
                <a:spLocks noChangeArrowheads="1"/>
              </p:cNvSpPr>
              <p:nvPr/>
            </p:nvSpPr>
            <p:spPr bwMode="auto">
              <a:xfrm>
                <a:off x="4068414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46140" name="Oval 60"/>
              <p:cNvSpPr>
                <a:spLocks noChangeArrowheads="1"/>
              </p:cNvSpPr>
              <p:nvPr/>
            </p:nvSpPr>
            <p:spPr bwMode="auto">
              <a:xfrm>
                <a:off x="4530334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46139" name="Oval 59"/>
              <p:cNvSpPr>
                <a:spLocks noChangeArrowheads="1"/>
              </p:cNvSpPr>
              <p:nvPr/>
            </p:nvSpPr>
            <p:spPr bwMode="auto">
              <a:xfrm>
                <a:off x="4288654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46138" name="AutoShape 58"/>
              <p:cNvSpPr>
                <a:spLocks noChangeShapeType="1"/>
              </p:cNvSpPr>
              <p:nvPr/>
            </p:nvSpPr>
            <p:spPr bwMode="auto">
              <a:xfrm flipH="1">
                <a:off x="4248699" y="4731611"/>
                <a:ext cx="92579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7" name="AutoShape 57"/>
              <p:cNvSpPr>
                <a:spLocks noChangeShapeType="1"/>
              </p:cNvSpPr>
              <p:nvPr/>
            </p:nvSpPr>
            <p:spPr bwMode="auto">
              <a:xfrm>
                <a:off x="4595627" y="4731611"/>
                <a:ext cx="114993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6" name="Oval 56"/>
              <p:cNvSpPr>
                <a:spLocks noChangeArrowheads="1"/>
              </p:cNvSpPr>
              <p:nvPr/>
            </p:nvSpPr>
            <p:spPr bwMode="auto">
              <a:xfrm>
                <a:off x="4980561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135" name="Oval 55"/>
              <p:cNvSpPr>
                <a:spLocks noChangeArrowheads="1"/>
              </p:cNvSpPr>
              <p:nvPr/>
            </p:nvSpPr>
            <p:spPr bwMode="auto">
              <a:xfrm>
                <a:off x="5416170" y="5096334"/>
                <a:ext cx="358622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34" name="Oval 54"/>
              <p:cNvSpPr>
                <a:spLocks noChangeArrowheads="1"/>
              </p:cNvSpPr>
              <p:nvPr/>
            </p:nvSpPr>
            <p:spPr bwMode="auto">
              <a:xfrm>
                <a:off x="5182286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33" name="AutoShape 53"/>
              <p:cNvSpPr>
                <a:spLocks noChangeShapeType="1"/>
              </p:cNvSpPr>
              <p:nvPr/>
            </p:nvSpPr>
            <p:spPr bwMode="auto">
              <a:xfrm flipH="1">
                <a:off x="5160846" y="4731611"/>
                <a:ext cx="74063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2" name="AutoShape 52"/>
              <p:cNvSpPr>
                <a:spLocks noChangeShapeType="1"/>
              </p:cNvSpPr>
              <p:nvPr/>
            </p:nvSpPr>
            <p:spPr bwMode="auto">
              <a:xfrm>
                <a:off x="5489258" y="4731611"/>
                <a:ext cx="106222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31" name="Oval 51"/>
              <p:cNvSpPr>
                <a:spLocks noChangeArrowheads="1"/>
              </p:cNvSpPr>
              <p:nvPr/>
            </p:nvSpPr>
            <p:spPr bwMode="auto">
              <a:xfrm>
                <a:off x="4703798" y="3694074"/>
                <a:ext cx="358622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6130" name="AutoShape 50"/>
              <p:cNvSpPr>
                <a:spLocks noChangeShapeType="1"/>
              </p:cNvSpPr>
              <p:nvPr/>
            </p:nvSpPr>
            <p:spPr bwMode="auto">
              <a:xfrm flipH="1">
                <a:off x="4468940" y="4022552"/>
                <a:ext cx="287482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9" name="AutoShape 49"/>
              <p:cNvSpPr>
                <a:spLocks noChangeShapeType="1"/>
              </p:cNvSpPr>
              <p:nvPr/>
            </p:nvSpPr>
            <p:spPr bwMode="auto">
              <a:xfrm>
                <a:off x="5009796" y="4022552"/>
                <a:ext cx="352775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8" name="Oval 48"/>
              <p:cNvSpPr>
                <a:spLocks noChangeArrowheads="1"/>
              </p:cNvSpPr>
              <p:nvPr/>
            </p:nvSpPr>
            <p:spPr bwMode="auto">
              <a:xfrm>
                <a:off x="5841059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7</a:t>
                </a:r>
              </a:p>
            </p:txBody>
          </p:sp>
          <p:sp>
            <p:nvSpPr>
              <p:cNvPr id="46127" name="Oval 47"/>
              <p:cNvSpPr>
                <a:spLocks noChangeArrowheads="1"/>
              </p:cNvSpPr>
              <p:nvPr/>
            </p:nvSpPr>
            <p:spPr bwMode="auto">
              <a:xfrm>
                <a:off x="6292260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46126" name="Oval 46"/>
              <p:cNvSpPr>
                <a:spLocks noChangeArrowheads="1"/>
              </p:cNvSpPr>
              <p:nvPr/>
            </p:nvSpPr>
            <p:spPr bwMode="auto">
              <a:xfrm>
                <a:off x="6059350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46125" name="AutoShape 45"/>
              <p:cNvSpPr>
                <a:spLocks noChangeShapeType="1"/>
              </p:cNvSpPr>
              <p:nvPr/>
            </p:nvSpPr>
            <p:spPr bwMode="auto">
              <a:xfrm flipH="1">
                <a:off x="6021344" y="4731611"/>
                <a:ext cx="90630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4" name="AutoShape 44"/>
              <p:cNvSpPr>
                <a:spLocks noChangeShapeType="1"/>
              </p:cNvSpPr>
              <p:nvPr/>
            </p:nvSpPr>
            <p:spPr bwMode="auto">
              <a:xfrm>
                <a:off x="6366323" y="4731611"/>
                <a:ext cx="106222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23" name="Oval 43"/>
              <p:cNvSpPr>
                <a:spLocks noChangeArrowheads="1"/>
              </p:cNvSpPr>
              <p:nvPr/>
            </p:nvSpPr>
            <p:spPr bwMode="auto">
              <a:xfrm>
                <a:off x="6742486" y="509633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46122" name="Oval 42"/>
              <p:cNvSpPr>
                <a:spLocks noChangeArrowheads="1"/>
              </p:cNvSpPr>
              <p:nvPr/>
            </p:nvSpPr>
            <p:spPr bwMode="auto">
              <a:xfrm>
                <a:off x="7204407" y="5106529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21" name="Oval 41"/>
              <p:cNvSpPr>
                <a:spLocks noChangeArrowheads="1"/>
              </p:cNvSpPr>
              <p:nvPr/>
            </p:nvSpPr>
            <p:spPr bwMode="auto">
              <a:xfrm>
                <a:off x="6952982" y="440313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20" name="AutoShape 40"/>
              <p:cNvSpPr>
                <a:spLocks noChangeShapeType="1"/>
              </p:cNvSpPr>
              <p:nvPr/>
            </p:nvSpPr>
            <p:spPr bwMode="auto">
              <a:xfrm flipH="1">
                <a:off x="6922772" y="4731611"/>
                <a:ext cx="82834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9" name="AutoShape 39"/>
              <p:cNvSpPr>
                <a:spLocks noChangeShapeType="1"/>
              </p:cNvSpPr>
              <p:nvPr/>
            </p:nvSpPr>
            <p:spPr bwMode="auto">
              <a:xfrm>
                <a:off x="7259955" y="4731611"/>
                <a:ext cx="124738" cy="37491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8" name="Oval 38"/>
              <p:cNvSpPr>
                <a:spLocks noChangeArrowheads="1"/>
              </p:cNvSpPr>
              <p:nvPr/>
            </p:nvSpPr>
            <p:spPr bwMode="auto">
              <a:xfrm>
                <a:off x="6483265" y="369407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17" name="AutoShape 37"/>
              <p:cNvSpPr>
                <a:spLocks noChangeShapeType="1"/>
              </p:cNvSpPr>
              <p:nvPr/>
            </p:nvSpPr>
            <p:spPr bwMode="auto">
              <a:xfrm flipH="1">
                <a:off x="6239636" y="4022552"/>
                <a:ext cx="296253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6" name="AutoShape 36"/>
              <p:cNvSpPr>
                <a:spLocks noChangeShapeType="1"/>
              </p:cNvSpPr>
              <p:nvPr/>
            </p:nvSpPr>
            <p:spPr bwMode="auto">
              <a:xfrm>
                <a:off x="6790238" y="4022552"/>
                <a:ext cx="343030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5" name="Oval 35"/>
              <p:cNvSpPr>
                <a:spLocks noChangeArrowheads="1"/>
              </p:cNvSpPr>
              <p:nvPr/>
            </p:nvSpPr>
            <p:spPr bwMode="auto">
              <a:xfrm>
                <a:off x="5485360" y="3160581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114" name="AutoShape 34"/>
              <p:cNvSpPr>
                <a:spLocks noChangeShapeType="1"/>
              </p:cNvSpPr>
              <p:nvPr/>
            </p:nvSpPr>
            <p:spPr bwMode="auto">
              <a:xfrm flipH="1">
                <a:off x="5009796" y="3353137"/>
                <a:ext cx="475564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3" name="AutoShape 33"/>
              <p:cNvSpPr>
                <a:spLocks noChangeShapeType="1"/>
              </p:cNvSpPr>
              <p:nvPr/>
            </p:nvSpPr>
            <p:spPr bwMode="auto">
              <a:xfrm>
                <a:off x="5844957" y="3353137"/>
                <a:ext cx="690932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2" name="AutoShape 32"/>
              <p:cNvSpPr>
                <a:spLocks noChangeShapeType="1"/>
              </p:cNvSpPr>
              <p:nvPr/>
            </p:nvSpPr>
            <p:spPr bwMode="auto">
              <a:xfrm>
                <a:off x="4027484" y="2630485"/>
                <a:ext cx="1510500" cy="58672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11" name="Oval 31"/>
              <p:cNvSpPr>
                <a:spLocks noChangeArrowheads="1"/>
              </p:cNvSpPr>
              <p:nvPr/>
            </p:nvSpPr>
            <p:spPr bwMode="auto">
              <a:xfrm>
                <a:off x="676122" y="4381612"/>
                <a:ext cx="358622" cy="38511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46110" name="Oval 30"/>
              <p:cNvSpPr>
                <a:spLocks noChangeArrowheads="1"/>
              </p:cNvSpPr>
              <p:nvPr/>
            </p:nvSpPr>
            <p:spPr bwMode="auto">
              <a:xfrm>
                <a:off x="1351462" y="507481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46109" name="Oval 29"/>
              <p:cNvSpPr>
                <a:spLocks noChangeArrowheads="1"/>
              </p:cNvSpPr>
              <p:nvPr/>
            </p:nvSpPr>
            <p:spPr bwMode="auto">
              <a:xfrm>
                <a:off x="1804612" y="5074814"/>
                <a:ext cx="360571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46108" name="Oval 28"/>
              <p:cNvSpPr>
                <a:spLocks noChangeArrowheads="1"/>
              </p:cNvSpPr>
              <p:nvPr/>
            </p:nvSpPr>
            <p:spPr bwMode="auto">
              <a:xfrm>
                <a:off x="1562932" y="4381612"/>
                <a:ext cx="358622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46107" name="AutoShape 27"/>
              <p:cNvSpPr>
                <a:spLocks noChangeShapeType="1"/>
              </p:cNvSpPr>
              <p:nvPr/>
            </p:nvSpPr>
            <p:spPr bwMode="auto">
              <a:xfrm flipH="1">
                <a:off x="1531747" y="4710090"/>
                <a:ext cx="83808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6" name="AutoShape 26"/>
              <p:cNvSpPr>
                <a:spLocks noChangeShapeType="1"/>
              </p:cNvSpPr>
              <p:nvPr/>
            </p:nvSpPr>
            <p:spPr bwMode="auto">
              <a:xfrm>
                <a:off x="1868930" y="4710090"/>
                <a:ext cx="115967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5" name="Oval 25"/>
              <p:cNvSpPr>
                <a:spLocks noChangeArrowheads="1"/>
              </p:cNvSpPr>
              <p:nvPr/>
            </p:nvSpPr>
            <p:spPr bwMode="auto">
              <a:xfrm>
                <a:off x="1083470" y="3672553"/>
                <a:ext cx="360571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46104" name="AutoShape 24"/>
              <p:cNvSpPr>
                <a:spLocks noChangeShapeType="1"/>
              </p:cNvSpPr>
              <p:nvPr/>
            </p:nvSpPr>
            <p:spPr bwMode="auto">
              <a:xfrm flipH="1">
                <a:off x="855433" y="4001031"/>
                <a:ext cx="280661" cy="380581"/>
              </a:xfrm>
              <a:prstGeom prst="straightConnector1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3" name="AutoShape 23"/>
              <p:cNvSpPr>
                <a:spLocks noChangeShapeType="1"/>
              </p:cNvSpPr>
              <p:nvPr/>
            </p:nvSpPr>
            <p:spPr bwMode="auto">
              <a:xfrm>
                <a:off x="1391417" y="4001031"/>
                <a:ext cx="350826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102" name="Oval 22"/>
              <p:cNvSpPr>
                <a:spLocks noChangeArrowheads="1"/>
              </p:cNvSpPr>
              <p:nvPr/>
            </p:nvSpPr>
            <p:spPr bwMode="auto">
              <a:xfrm>
                <a:off x="2238272" y="5074814"/>
                <a:ext cx="359597" cy="38511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46101" name="Oval 21"/>
              <p:cNvSpPr>
                <a:spLocks noChangeArrowheads="1"/>
              </p:cNvSpPr>
              <p:nvPr/>
            </p:nvSpPr>
            <p:spPr bwMode="auto">
              <a:xfrm>
                <a:off x="2690447" y="507481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46100" name="Oval 20"/>
              <p:cNvSpPr>
                <a:spLocks noChangeArrowheads="1"/>
              </p:cNvSpPr>
              <p:nvPr/>
            </p:nvSpPr>
            <p:spPr bwMode="auto">
              <a:xfrm>
                <a:off x="2457538" y="4381612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46099" name="AutoShape 19"/>
              <p:cNvSpPr>
                <a:spLocks noChangeShapeType="1"/>
              </p:cNvSpPr>
              <p:nvPr/>
            </p:nvSpPr>
            <p:spPr bwMode="auto">
              <a:xfrm flipH="1">
                <a:off x="2418557" y="4710090"/>
                <a:ext cx="91605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8" name="AutoShape 18"/>
              <p:cNvSpPr>
                <a:spLocks noChangeShapeType="1"/>
              </p:cNvSpPr>
              <p:nvPr/>
            </p:nvSpPr>
            <p:spPr bwMode="auto">
              <a:xfrm>
                <a:off x="2764511" y="4710090"/>
                <a:ext cx="106222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7" name="Oval 17"/>
              <p:cNvSpPr>
                <a:spLocks noChangeArrowheads="1"/>
              </p:cNvSpPr>
              <p:nvPr/>
            </p:nvSpPr>
            <p:spPr bwMode="auto">
              <a:xfrm>
                <a:off x="3114362" y="5074814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46096" name="Oval 16"/>
              <p:cNvSpPr>
                <a:spLocks noChangeArrowheads="1"/>
              </p:cNvSpPr>
              <p:nvPr/>
            </p:nvSpPr>
            <p:spPr bwMode="auto">
              <a:xfrm>
                <a:off x="3566538" y="5085008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95" name="Oval 15"/>
              <p:cNvSpPr>
                <a:spLocks noChangeArrowheads="1"/>
              </p:cNvSpPr>
              <p:nvPr/>
            </p:nvSpPr>
            <p:spPr bwMode="auto">
              <a:xfrm>
                <a:off x="3324858" y="4381612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94" name="AutoShape 14"/>
              <p:cNvSpPr>
                <a:spLocks noChangeShapeType="1"/>
              </p:cNvSpPr>
              <p:nvPr/>
            </p:nvSpPr>
            <p:spPr bwMode="auto">
              <a:xfrm flipH="1">
                <a:off x="3294648" y="4710090"/>
                <a:ext cx="82834" cy="364724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3" name="AutoShape 13"/>
              <p:cNvSpPr>
                <a:spLocks noChangeShapeType="1"/>
              </p:cNvSpPr>
              <p:nvPr/>
            </p:nvSpPr>
            <p:spPr bwMode="auto">
              <a:xfrm>
                <a:off x="3631830" y="4710090"/>
                <a:ext cx="114993" cy="37491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2" name="Oval 12"/>
              <p:cNvSpPr>
                <a:spLocks noChangeArrowheads="1"/>
              </p:cNvSpPr>
              <p:nvPr/>
            </p:nvSpPr>
            <p:spPr bwMode="auto">
              <a:xfrm>
                <a:off x="2881453" y="3672553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91" name="AutoShape 11"/>
              <p:cNvSpPr>
                <a:spLocks noChangeShapeType="1"/>
              </p:cNvSpPr>
              <p:nvPr/>
            </p:nvSpPr>
            <p:spPr bwMode="auto">
              <a:xfrm flipH="1">
                <a:off x="2637824" y="4001031"/>
                <a:ext cx="296253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90" name="AutoShape 10"/>
              <p:cNvSpPr>
                <a:spLocks noChangeShapeType="1"/>
              </p:cNvSpPr>
              <p:nvPr/>
            </p:nvSpPr>
            <p:spPr bwMode="auto">
              <a:xfrm>
                <a:off x="3188425" y="4001031"/>
                <a:ext cx="316718" cy="38058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89" name="Oval 9"/>
              <p:cNvSpPr>
                <a:spLocks noChangeArrowheads="1"/>
              </p:cNvSpPr>
              <p:nvPr/>
            </p:nvSpPr>
            <p:spPr bwMode="auto">
              <a:xfrm>
                <a:off x="1917656" y="3139060"/>
                <a:ext cx="359597" cy="38511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46088" name="AutoShape 8"/>
              <p:cNvSpPr>
                <a:spLocks noChangeShapeType="1"/>
              </p:cNvSpPr>
              <p:nvPr/>
            </p:nvSpPr>
            <p:spPr bwMode="auto">
              <a:xfrm flipH="1">
                <a:off x="1391417" y="3331616"/>
                <a:ext cx="526239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87" name="AutoShape 7"/>
              <p:cNvSpPr>
                <a:spLocks noChangeShapeType="1"/>
              </p:cNvSpPr>
              <p:nvPr/>
            </p:nvSpPr>
            <p:spPr bwMode="auto">
              <a:xfrm>
                <a:off x="2277252" y="3331616"/>
                <a:ext cx="656824" cy="39757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6086" name="Rectangle 6"/>
              <p:cNvSpPr>
                <a:spLocks noChangeArrowheads="1"/>
              </p:cNvSpPr>
              <p:nvPr/>
            </p:nvSpPr>
            <p:spPr bwMode="auto">
              <a:xfrm>
                <a:off x="6753241" y="2466247"/>
                <a:ext cx="1578318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结点层次</a:t>
                </a: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=0</a:t>
                </a:r>
              </a:p>
            </p:txBody>
          </p:sp>
          <p:sp>
            <p:nvSpPr>
              <p:cNvPr id="46085" name="Rectangle 5"/>
              <p:cNvSpPr>
                <a:spLocks noChangeArrowheads="1"/>
              </p:cNvSpPr>
              <p:nvPr/>
            </p:nvSpPr>
            <p:spPr bwMode="auto">
              <a:xfrm>
                <a:off x="7692640" y="3122069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=1</a:t>
                </a:r>
              </a:p>
            </p:txBody>
          </p:sp>
          <p:sp>
            <p:nvSpPr>
              <p:cNvPr id="46084" name="Rectangle 4"/>
              <p:cNvSpPr>
                <a:spLocks noChangeArrowheads="1"/>
              </p:cNvSpPr>
              <p:nvPr/>
            </p:nvSpPr>
            <p:spPr bwMode="auto">
              <a:xfrm>
                <a:off x="7692640" y="3707666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=2</a:t>
                </a:r>
              </a:p>
            </p:txBody>
          </p:sp>
          <p:sp>
            <p:nvSpPr>
              <p:cNvPr id="46083" name="Rectangle 3"/>
              <p:cNvSpPr>
                <a:spLocks noChangeArrowheads="1"/>
              </p:cNvSpPr>
              <p:nvPr/>
            </p:nvSpPr>
            <p:spPr bwMode="auto">
              <a:xfrm>
                <a:off x="7692640" y="4432583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=3</a:t>
                </a:r>
              </a:p>
            </p:txBody>
          </p:sp>
          <p:sp>
            <p:nvSpPr>
              <p:cNvPr id="46082" name="Rectangle 2"/>
              <p:cNvSpPr>
                <a:spLocks noChangeArrowheads="1"/>
              </p:cNvSpPr>
              <p:nvPr/>
            </p:nvSpPr>
            <p:spPr bwMode="auto">
              <a:xfrm>
                <a:off x="7692640" y="5158632"/>
                <a:ext cx="665574" cy="294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1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i</a:t>
                </a: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=4</a:t>
                </a: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794732" y="4530714"/>
              <a:ext cx="785818" cy="342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cs=4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CB4AF8-F8B0-8FA3-4966-B48C681A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45</a:t>
            </a:fld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500042"/>
            <a:ext cx="8643998" cy="47620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cs,int i) { 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(cs==t)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cs+a[i]&lt;=t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左孩子结点剪支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(cs+a[i],i+1);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x[i]=0;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0100" y="2391296"/>
            <a:ext cx="3214710" cy="1323455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6E7568-7ECF-4061-A8AA-B64BD39F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46</a:t>
            </a:fld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720" y="357166"/>
            <a:ext cx="20717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3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右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剪支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20" y="1214422"/>
            <a:ext cx="8501122" cy="32438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进一步考虑是否扩展右孩子结点。当搜索到第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）层的某个结点时，用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表示余下的整数和，即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rs=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]+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（其中包含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如果不选择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，此时剩余的所有整数和为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rs=rs-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+1]+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Times New Roman" pitchFamily="18" charset="0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cs+rs&lt;t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成立，说明即便选择所有剩余整数其和都不可能达到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右剪支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就是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cs+rs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  <a:cs typeface="Times New Roman" pitchFamily="18" charset="0"/>
              </a:rPr>
              <a:t>≥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的右孩子结点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B6005E-F215-C2B0-E25C-9B0F4126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47</a:t>
            </a:fld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66"/>
          <p:cNvGrpSpPr/>
          <p:nvPr/>
        </p:nvGrpSpPr>
        <p:grpSpPr>
          <a:xfrm>
            <a:off x="182041" y="571480"/>
            <a:ext cx="8961959" cy="4000528"/>
            <a:chOff x="508811" y="3286124"/>
            <a:chExt cx="7465936" cy="3033473"/>
          </a:xfrm>
        </p:grpSpPr>
        <p:sp>
          <p:nvSpPr>
            <p:cNvPr id="7" name="TextBox 6"/>
            <p:cNvSpPr txBox="1"/>
            <p:nvPr/>
          </p:nvSpPr>
          <p:spPr>
            <a:xfrm>
              <a:off x="534798" y="3286124"/>
              <a:ext cx="2857488" cy="3267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a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=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（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），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t=8</a:t>
              </a:r>
              <a:endPara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3" name="组合 65"/>
            <p:cNvGrpSpPr/>
            <p:nvPr/>
          </p:nvGrpSpPr>
          <p:grpSpPr>
            <a:xfrm>
              <a:off x="508811" y="3580033"/>
              <a:ext cx="7465936" cy="2739564"/>
              <a:chOff x="508811" y="3580033"/>
              <a:chExt cx="7465936" cy="2739564"/>
            </a:xfrm>
          </p:grpSpPr>
          <p:sp>
            <p:nvSpPr>
              <p:cNvPr id="44087" name="Rectangle 55"/>
              <p:cNvSpPr>
                <a:spLocks noChangeArrowheads="1"/>
              </p:cNvSpPr>
              <p:nvPr/>
            </p:nvSpPr>
            <p:spPr bwMode="auto">
              <a:xfrm>
                <a:off x="5929322" y="4581533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6" name="Rectangle 54"/>
              <p:cNvSpPr>
                <a:spLocks noChangeArrowheads="1"/>
              </p:cNvSpPr>
              <p:nvPr/>
            </p:nvSpPr>
            <p:spPr bwMode="auto">
              <a:xfrm>
                <a:off x="5055487" y="435082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85" name="Rectangle 53"/>
              <p:cNvSpPr>
                <a:spLocks noChangeArrowheads="1"/>
              </p:cNvSpPr>
              <p:nvPr/>
            </p:nvSpPr>
            <p:spPr bwMode="auto">
              <a:xfrm>
                <a:off x="2506759" y="4317176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4" name="Rectangle 52"/>
              <p:cNvSpPr>
                <a:spLocks noChangeArrowheads="1"/>
              </p:cNvSpPr>
              <p:nvPr/>
            </p:nvSpPr>
            <p:spPr bwMode="auto">
              <a:xfrm>
                <a:off x="1306454" y="4317176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83" name="Rectangle 51"/>
              <p:cNvSpPr>
                <a:spLocks noChangeArrowheads="1"/>
              </p:cNvSpPr>
              <p:nvPr/>
            </p:nvSpPr>
            <p:spPr bwMode="auto">
              <a:xfrm>
                <a:off x="4833858" y="3741123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2" name="Rectangle 50"/>
              <p:cNvSpPr>
                <a:spLocks noChangeArrowheads="1"/>
              </p:cNvSpPr>
              <p:nvPr/>
            </p:nvSpPr>
            <p:spPr bwMode="auto">
              <a:xfrm>
                <a:off x="5222256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81" name="Rectangle 49"/>
              <p:cNvSpPr>
                <a:spLocks noChangeArrowheads="1"/>
              </p:cNvSpPr>
              <p:nvPr/>
            </p:nvSpPr>
            <p:spPr bwMode="auto">
              <a:xfrm>
                <a:off x="4308313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80" name="Rectangle 48"/>
              <p:cNvSpPr>
                <a:spLocks noChangeArrowheads="1"/>
              </p:cNvSpPr>
              <p:nvPr/>
            </p:nvSpPr>
            <p:spPr bwMode="auto">
              <a:xfrm>
                <a:off x="3326346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9" name="Rectangle 47"/>
              <p:cNvSpPr>
                <a:spLocks noChangeArrowheads="1"/>
              </p:cNvSpPr>
              <p:nvPr/>
            </p:nvSpPr>
            <p:spPr bwMode="auto">
              <a:xfrm>
                <a:off x="2412402" y="495032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8" name="Rectangle 46"/>
              <p:cNvSpPr>
                <a:spLocks noChangeArrowheads="1"/>
              </p:cNvSpPr>
              <p:nvPr/>
            </p:nvSpPr>
            <p:spPr bwMode="auto">
              <a:xfrm>
                <a:off x="1463350" y="4944207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7" name="Rectangle 45"/>
              <p:cNvSpPr>
                <a:spLocks noChangeArrowheads="1"/>
              </p:cNvSpPr>
              <p:nvPr/>
            </p:nvSpPr>
            <p:spPr bwMode="auto">
              <a:xfrm>
                <a:off x="608654" y="4944207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6" name="Rectangle 44"/>
              <p:cNvSpPr>
                <a:spLocks noChangeArrowheads="1"/>
              </p:cNvSpPr>
              <p:nvPr/>
            </p:nvSpPr>
            <p:spPr bwMode="auto">
              <a:xfrm>
                <a:off x="4659408" y="565688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5" name="Rectangle 43"/>
              <p:cNvSpPr>
                <a:spLocks noChangeArrowheads="1"/>
              </p:cNvSpPr>
              <p:nvPr/>
            </p:nvSpPr>
            <p:spPr bwMode="auto">
              <a:xfrm>
                <a:off x="3992328" y="565688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4" name="Rectangle 42"/>
              <p:cNvSpPr>
                <a:spLocks noChangeArrowheads="1"/>
              </p:cNvSpPr>
              <p:nvPr/>
            </p:nvSpPr>
            <p:spPr bwMode="auto">
              <a:xfrm>
                <a:off x="2776663" y="563241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4073" name="Rectangle 41"/>
              <p:cNvSpPr>
                <a:spLocks noChangeArrowheads="1"/>
              </p:cNvSpPr>
              <p:nvPr/>
            </p:nvSpPr>
            <p:spPr bwMode="auto">
              <a:xfrm>
                <a:off x="2079960" y="5632412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2" name="Rectangle 40"/>
              <p:cNvSpPr>
                <a:spLocks noChangeArrowheads="1"/>
              </p:cNvSpPr>
              <p:nvPr/>
            </p:nvSpPr>
            <p:spPr bwMode="auto">
              <a:xfrm>
                <a:off x="2596727" y="3761515"/>
                <a:ext cx="212851" cy="265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4071" name="Oval 39"/>
              <p:cNvSpPr>
                <a:spLocks noChangeArrowheads="1"/>
              </p:cNvSpPr>
              <p:nvPr/>
            </p:nvSpPr>
            <p:spPr bwMode="auto">
              <a:xfrm>
                <a:off x="3719133" y="3580033"/>
                <a:ext cx="498115" cy="34665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0,11</a:t>
                </a:r>
              </a:p>
            </p:txBody>
          </p:sp>
          <p:sp>
            <p:nvSpPr>
              <p:cNvPr id="44070" name="AutoShape 38"/>
              <p:cNvSpPr>
                <a:spLocks noChangeShapeType="1"/>
              </p:cNvSpPr>
              <p:nvPr/>
            </p:nvSpPr>
            <p:spPr bwMode="auto">
              <a:xfrm flipH="1">
                <a:off x="2203940" y="3753358"/>
                <a:ext cx="1515193" cy="508762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9" name="Oval 37"/>
              <p:cNvSpPr>
                <a:spLocks noChangeArrowheads="1"/>
              </p:cNvSpPr>
              <p:nvPr/>
            </p:nvSpPr>
            <p:spPr bwMode="auto">
              <a:xfrm>
                <a:off x="3873834" y="5972946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8,0</a:t>
                </a:r>
              </a:p>
            </p:txBody>
          </p:sp>
          <p:sp>
            <p:nvSpPr>
              <p:cNvPr id="44068" name="Oval 36"/>
              <p:cNvSpPr>
                <a:spLocks noChangeArrowheads="1"/>
              </p:cNvSpPr>
              <p:nvPr/>
            </p:nvSpPr>
            <p:spPr bwMode="auto">
              <a:xfrm>
                <a:off x="4492638" y="5972946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6,0</a:t>
                </a:r>
              </a:p>
            </p:txBody>
          </p:sp>
          <p:sp>
            <p:nvSpPr>
              <p:cNvPr id="44067" name="Oval 35"/>
              <p:cNvSpPr>
                <a:spLocks noChangeArrowheads="1"/>
              </p:cNvSpPr>
              <p:nvPr/>
            </p:nvSpPr>
            <p:spPr bwMode="auto">
              <a:xfrm>
                <a:off x="4190916" y="5348974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6,2</a:t>
                </a:r>
              </a:p>
            </p:txBody>
          </p:sp>
          <p:sp>
            <p:nvSpPr>
              <p:cNvPr id="44066" name="AutoShape 34"/>
              <p:cNvSpPr>
                <a:spLocks noChangeShapeType="1"/>
              </p:cNvSpPr>
              <p:nvPr/>
            </p:nvSpPr>
            <p:spPr bwMode="auto">
              <a:xfrm flipH="1">
                <a:off x="4122891" y="5644647"/>
                <a:ext cx="140438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5" name="AutoShape 33"/>
              <p:cNvSpPr>
                <a:spLocks noChangeShapeType="1"/>
              </p:cNvSpPr>
              <p:nvPr/>
            </p:nvSpPr>
            <p:spPr bwMode="auto">
              <a:xfrm>
                <a:off x="4616618" y="5644647"/>
                <a:ext cx="125077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4" name="Oval 32"/>
              <p:cNvSpPr>
                <a:spLocks noChangeArrowheads="1"/>
              </p:cNvSpPr>
              <p:nvPr/>
            </p:nvSpPr>
            <p:spPr bwMode="auto">
              <a:xfrm>
                <a:off x="5147649" y="5348974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1,2</a:t>
                </a:r>
              </a:p>
            </p:txBody>
          </p:sp>
          <p:sp>
            <p:nvSpPr>
              <p:cNvPr id="44063" name="Oval 31"/>
              <p:cNvSpPr>
                <a:spLocks noChangeArrowheads="1"/>
              </p:cNvSpPr>
              <p:nvPr/>
            </p:nvSpPr>
            <p:spPr bwMode="auto">
              <a:xfrm>
                <a:off x="4658311" y="4710728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1,7</a:t>
                </a:r>
              </a:p>
            </p:txBody>
          </p:sp>
          <p:sp>
            <p:nvSpPr>
              <p:cNvPr id="44062" name="AutoShape 30"/>
              <p:cNvSpPr>
                <a:spLocks noChangeShapeType="1"/>
              </p:cNvSpPr>
              <p:nvPr/>
            </p:nvSpPr>
            <p:spPr bwMode="auto">
              <a:xfrm flipH="1">
                <a:off x="4439974" y="5006401"/>
                <a:ext cx="290750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1" name="AutoShape 29"/>
              <p:cNvSpPr>
                <a:spLocks noChangeShapeType="1"/>
              </p:cNvSpPr>
              <p:nvPr/>
            </p:nvSpPr>
            <p:spPr bwMode="auto">
              <a:xfrm>
                <a:off x="5084013" y="5006401"/>
                <a:ext cx="312694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60" name="Oval 28"/>
              <p:cNvSpPr>
                <a:spLocks noChangeArrowheads="1"/>
              </p:cNvSpPr>
              <p:nvPr/>
            </p:nvSpPr>
            <p:spPr bwMode="auto">
              <a:xfrm>
                <a:off x="6256888" y="4710728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0,7</a:t>
                </a:r>
              </a:p>
            </p:txBody>
          </p:sp>
          <p:sp>
            <p:nvSpPr>
              <p:cNvPr id="44059" name="Oval 27"/>
              <p:cNvSpPr>
                <a:spLocks noChangeArrowheads="1"/>
              </p:cNvSpPr>
              <p:nvPr/>
            </p:nvSpPr>
            <p:spPr bwMode="auto">
              <a:xfrm>
                <a:off x="5439496" y="4230514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0,8</a:t>
                </a:r>
              </a:p>
            </p:txBody>
          </p:sp>
          <p:sp>
            <p:nvSpPr>
              <p:cNvPr id="44058" name="AutoShape 26"/>
              <p:cNvSpPr>
                <a:spLocks noChangeShapeType="1"/>
              </p:cNvSpPr>
              <p:nvPr/>
            </p:nvSpPr>
            <p:spPr bwMode="auto">
              <a:xfrm flipH="1">
                <a:off x="5084013" y="4403839"/>
                <a:ext cx="355483" cy="357867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7" name="AutoShape 25"/>
              <p:cNvSpPr>
                <a:spLocks noChangeShapeType="1"/>
              </p:cNvSpPr>
              <p:nvPr/>
            </p:nvSpPr>
            <p:spPr bwMode="auto">
              <a:xfrm>
                <a:off x="5937612" y="4403839"/>
                <a:ext cx="391690" cy="357867"/>
              </a:xfrm>
              <a:prstGeom prst="straightConnector1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6" name="AutoShape 24"/>
              <p:cNvSpPr>
                <a:spLocks noChangeShapeType="1"/>
              </p:cNvSpPr>
              <p:nvPr/>
            </p:nvSpPr>
            <p:spPr bwMode="auto">
              <a:xfrm>
                <a:off x="4217248" y="3753358"/>
                <a:ext cx="1294661" cy="52813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5" name="Oval 23"/>
              <p:cNvSpPr>
                <a:spLocks noChangeArrowheads="1"/>
              </p:cNvSpPr>
              <p:nvPr/>
            </p:nvSpPr>
            <p:spPr bwMode="auto">
              <a:xfrm>
                <a:off x="508811" y="5329602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9,2</a:t>
                </a:r>
              </a:p>
            </p:txBody>
          </p:sp>
          <p:sp>
            <p:nvSpPr>
              <p:cNvPr id="44054" name="Oval 22"/>
              <p:cNvSpPr>
                <a:spLocks noChangeArrowheads="1"/>
              </p:cNvSpPr>
              <p:nvPr/>
            </p:nvSpPr>
            <p:spPr bwMode="auto">
              <a:xfrm>
                <a:off x="1280122" y="5329602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4,2</a:t>
                </a:r>
              </a:p>
            </p:txBody>
          </p:sp>
          <p:sp>
            <p:nvSpPr>
              <p:cNvPr id="44053" name="Oval 21"/>
              <p:cNvSpPr>
                <a:spLocks noChangeArrowheads="1"/>
              </p:cNvSpPr>
              <p:nvPr/>
            </p:nvSpPr>
            <p:spPr bwMode="auto">
              <a:xfrm>
                <a:off x="898307" y="4691356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4,7</a:t>
                </a:r>
              </a:p>
            </p:txBody>
          </p:sp>
          <p:sp>
            <p:nvSpPr>
              <p:cNvPr id="44052" name="AutoShape 20"/>
              <p:cNvSpPr>
                <a:spLocks noChangeShapeType="1"/>
              </p:cNvSpPr>
              <p:nvPr/>
            </p:nvSpPr>
            <p:spPr bwMode="auto">
              <a:xfrm flipH="1">
                <a:off x="757869" y="4987029"/>
                <a:ext cx="212851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1" name="AutoShape 19"/>
              <p:cNvSpPr>
                <a:spLocks noChangeShapeType="1"/>
              </p:cNvSpPr>
              <p:nvPr/>
            </p:nvSpPr>
            <p:spPr bwMode="auto">
              <a:xfrm>
                <a:off x="1324009" y="4987029"/>
                <a:ext cx="205171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50" name="Oval 18"/>
              <p:cNvSpPr>
                <a:spLocks noChangeArrowheads="1"/>
              </p:cNvSpPr>
              <p:nvPr/>
            </p:nvSpPr>
            <p:spPr bwMode="auto">
              <a:xfrm>
                <a:off x="1904465" y="5953574"/>
                <a:ext cx="595711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10,0</a:t>
                </a:r>
              </a:p>
            </p:txBody>
          </p:sp>
          <p:sp>
            <p:nvSpPr>
              <p:cNvPr id="44049" name="Oval 17"/>
              <p:cNvSpPr>
                <a:spLocks noChangeArrowheads="1"/>
              </p:cNvSpPr>
              <p:nvPr/>
            </p:nvSpPr>
            <p:spPr bwMode="auto">
              <a:xfrm>
                <a:off x="2618671" y="5953574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8,0</a:t>
                </a:r>
              </a:p>
            </p:txBody>
          </p:sp>
          <p:sp>
            <p:nvSpPr>
              <p:cNvPr id="44048" name="Oval 16"/>
              <p:cNvSpPr>
                <a:spLocks noChangeArrowheads="1"/>
              </p:cNvSpPr>
              <p:nvPr/>
            </p:nvSpPr>
            <p:spPr bwMode="auto">
              <a:xfrm>
                <a:off x="2297200" y="5329602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8,2</a:t>
                </a:r>
              </a:p>
            </p:txBody>
          </p:sp>
          <p:sp>
            <p:nvSpPr>
              <p:cNvPr id="44047" name="AutoShape 15"/>
              <p:cNvSpPr>
                <a:spLocks noChangeShapeType="1"/>
              </p:cNvSpPr>
              <p:nvPr/>
            </p:nvSpPr>
            <p:spPr bwMode="auto">
              <a:xfrm flipH="1">
                <a:off x="2235758" y="5625275"/>
                <a:ext cx="133855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6" name="AutoShape 14"/>
              <p:cNvSpPr>
                <a:spLocks noChangeShapeType="1"/>
              </p:cNvSpPr>
              <p:nvPr/>
            </p:nvSpPr>
            <p:spPr bwMode="auto">
              <a:xfrm>
                <a:off x="2722902" y="5625275"/>
                <a:ext cx="144827" cy="32829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5" name="Oval 13"/>
              <p:cNvSpPr>
                <a:spLocks noChangeArrowheads="1"/>
              </p:cNvSpPr>
              <p:nvPr/>
            </p:nvSpPr>
            <p:spPr bwMode="auto">
              <a:xfrm>
                <a:off x="3273681" y="5329602"/>
                <a:ext cx="498115" cy="34665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3,2</a:t>
                </a:r>
              </a:p>
            </p:txBody>
          </p:sp>
          <p:sp>
            <p:nvSpPr>
              <p:cNvPr id="44044" name="Oval 12"/>
              <p:cNvSpPr>
                <a:spLocks noChangeArrowheads="1"/>
              </p:cNvSpPr>
              <p:nvPr/>
            </p:nvSpPr>
            <p:spPr bwMode="auto">
              <a:xfrm>
                <a:off x="2774469" y="4691356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3,7</a:t>
                </a:r>
              </a:p>
            </p:txBody>
          </p:sp>
          <p:sp>
            <p:nvSpPr>
              <p:cNvPr id="44043" name="AutoShape 11"/>
              <p:cNvSpPr>
                <a:spLocks noChangeShapeType="1"/>
              </p:cNvSpPr>
              <p:nvPr/>
            </p:nvSpPr>
            <p:spPr bwMode="auto">
              <a:xfrm flipH="1">
                <a:off x="2546257" y="4987029"/>
                <a:ext cx="300625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2" name="AutoShape 10"/>
              <p:cNvSpPr>
                <a:spLocks noChangeShapeType="1"/>
              </p:cNvSpPr>
              <p:nvPr/>
            </p:nvSpPr>
            <p:spPr bwMode="auto">
              <a:xfrm>
                <a:off x="3200171" y="4987029"/>
                <a:ext cx="322568" cy="342573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41" name="Oval 9"/>
              <p:cNvSpPr>
                <a:spLocks noChangeArrowheads="1"/>
              </p:cNvSpPr>
              <p:nvPr/>
            </p:nvSpPr>
            <p:spPr bwMode="auto">
              <a:xfrm>
                <a:off x="1778238" y="4211142"/>
                <a:ext cx="498115" cy="34665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3,8</a:t>
                </a:r>
              </a:p>
            </p:txBody>
          </p:sp>
          <p:sp>
            <p:nvSpPr>
              <p:cNvPr id="44040" name="AutoShape 8"/>
              <p:cNvSpPr>
                <a:spLocks noChangeShapeType="1"/>
              </p:cNvSpPr>
              <p:nvPr/>
            </p:nvSpPr>
            <p:spPr bwMode="auto">
              <a:xfrm flipH="1">
                <a:off x="1324009" y="4384467"/>
                <a:ext cx="454229" cy="357867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44039" name="AutoShape 7"/>
              <p:cNvSpPr>
                <a:spLocks noChangeShapeType="1"/>
              </p:cNvSpPr>
              <p:nvPr/>
            </p:nvSpPr>
            <p:spPr bwMode="auto">
              <a:xfrm>
                <a:off x="2276353" y="4384467"/>
                <a:ext cx="570529" cy="357867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6081723" y="3997115"/>
                <a:ext cx="1893024" cy="53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rs=8,rs=rs-1=7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0+rs=7&lt;t</a:t>
                </a:r>
                <a:endParaRPr lang="zh-CN" altLang="en-US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34C5E2-354F-C0EF-8298-45ECED01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48</a:t>
            </a:fld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14290"/>
            <a:ext cx="8643998" cy="633941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cs,int rs,int i)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(cs==t) disp();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 	rs-=a[i];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求剩余的整数和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cs+a[i]&lt;=t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左孩子结点剪支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(cs+a[i],rs,i+1);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cs+rs&gt;=t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右孩子结点剪支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(cs,rs,i+1);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 	rs+=a[i];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恢复剩余整数和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00100" y="2522884"/>
            <a:ext cx="3429024" cy="1285884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00100" y="4038075"/>
            <a:ext cx="3429024" cy="1285884"/>
          </a:xfrm>
          <a:prstGeom prst="rect">
            <a:avLst/>
          </a:prstGeom>
          <a:ln w="19050">
            <a:solidFill>
              <a:srgbClr val="00B0F0"/>
            </a:solidFill>
            <a:prstDash val="sysDash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6657031-9768-D1F8-E287-314F7C5A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49</a:t>
            </a:fld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0034" y="857232"/>
            <a:ext cx="7929618" cy="14876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subs2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和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subs3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：尽管通过剪支提高了算法的性能，但究竟剪去多少结点与具体的实例数据相关，所以说这样的两个算法最坏情况下时间复杂度仍然为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996E79-D4F9-EE02-4744-9A908D65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50</a:t>
            </a:fld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500298" y="402322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5.6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简单装载问题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643050"/>
            <a:ext cx="8215370" cy="308994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个集装箱要装上一艘载重量为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的轮船，其中集装箱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）的重量为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。不考虑集装箱的体积限制，现要选出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重量和小于等于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并且尽可能重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的若干集装箱装上轮船。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t=10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={5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时，其最佳装载方案有两种即（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）和（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），对应集装箱重量和达到最大值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6E96E5-FA39-DD14-C0A5-919E9523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51</a:t>
            </a:fld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967071"/>
            <a:ext cx="57150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8662" y="1571612"/>
            <a:ext cx="8001056" cy="304185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左剪支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：判断选择集装箱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是否合适。检查当前集装箱被选中后总重量是否超过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，若是则剪支，即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的左孩子结点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右剪支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：判断不选择集装箱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是否合适。如果不选择集装箱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，此时剩余的所有整数和为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cw+rw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bestw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成立，所有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cw+rw&gt;bestw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的右孩子结点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538" y="714356"/>
            <a:ext cx="7072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同样与求幂集问题一样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730C8E-BE19-0F8F-AE1C-502D2B74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52</a:t>
            </a:fld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790725"/>
            <a:ext cx="8643998" cy="30669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cw,int rw,int i)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达到一个叶子结点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(cw&gt;bestw)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     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找到一个满足条件的更优解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bestw=cw;					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保存更优解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9AF599-BEA3-D417-ABF9-8BB911E8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53</a:t>
            </a:fld>
            <a:endParaRPr lang="en-US" altLang="zh-C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23759"/>
            <a:ext cx="8643998" cy="57580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尚未找完所有集装箱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rw-=w[i];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求剩余集装箱的重量和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cw+w[i]&lt;=t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左孩子结点剪支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选取集装箱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cw+=w[i];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累计当前所选集装箱的重量和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(cw,rw,i+1);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cw-=w[i];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cw+rw&gt;bestw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右孩子结点剪支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不选择集装箱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(cw,rw,i+1);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rw+=w[i];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F3C719-69BA-9BBE-CE26-D7166444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8" name="AutoShape 28"/>
          <p:cNvSpPr>
            <a:spLocks noChangeShapeType="1"/>
          </p:cNvSpPr>
          <p:nvPr/>
        </p:nvSpPr>
        <p:spPr bwMode="auto">
          <a:xfrm flipH="1">
            <a:off x="6055901" y="4312438"/>
            <a:ext cx="100263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7" name="AutoShape 27"/>
          <p:cNvSpPr>
            <a:spLocks noChangeShapeType="1"/>
          </p:cNvSpPr>
          <p:nvPr/>
        </p:nvSpPr>
        <p:spPr bwMode="auto">
          <a:xfrm>
            <a:off x="6577036" y="4312438"/>
            <a:ext cx="156224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30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5828" name="Rectangle 68"/>
          <p:cNvSpPr>
            <a:spLocks noChangeArrowheads="1"/>
          </p:cNvSpPr>
          <p:nvPr/>
        </p:nvSpPr>
        <p:spPr bwMode="auto">
          <a:xfrm>
            <a:off x="500034" y="5143512"/>
            <a:ext cx="1143008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bestw=10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7" name="Oval 67"/>
          <p:cNvSpPr>
            <a:spLocks noChangeArrowheads="1"/>
          </p:cNvSpPr>
          <p:nvPr/>
        </p:nvSpPr>
        <p:spPr bwMode="auto">
          <a:xfrm>
            <a:off x="3357555" y="938019"/>
            <a:ext cx="785818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0,20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6" name="Oval 66"/>
          <p:cNvSpPr>
            <a:spLocks noChangeArrowheads="1"/>
          </p:cNvSpPr>
          <p:nvPr/>
        </p:nvSpPr>
        <p:spPr bwMode="auto">
          <a:xfrm>
            <a:off x="1406498" y="1630387"/>
            <a:ext cx="736610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5,15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5" name="Oval 65"/>
          <p:cNvSpPr>
            <a:spLocks noChangeArrowheads="1"/>
          </p:cNvSpPr>
          <p:nvPr/>
        </p:nvSpPr>
        <p:spPr bwMode="auto">
          <a:xfrm>
            <a:off x="454254" y="2403181"/>
            <a:ext cx="752575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4" name="Rectangle 64"/>
          <p:cNvSpPr>
            <a:spLocks noChangeArrowheads="1"/>
          </p:cNvSpPr>
          <p:nvPr/>
        </p:nvSpPr>
        <p:spPr bwMode="auto">
          <a:xfrm>
            <a:off x="7715272" y="972987"/>
            <a:ext cx="1285884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=0,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[0]=5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3" name="Oval 63"/>
          <p:cNvSpPr>
            <a:spLocks noChangeArrowheads="1"/>
          </p:cNvSpPr>
          <p:nvPr/>
        </p:nvSpPr>
        <p:spPr bwMode="auto">
          <a:xfrm>
            <a:off x="869042" y="318296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2" name="AutoShape 62"/>
          <p:cNvSpPr>
            <a:spLocks noChangeShapeType="1"/>
          </p:cNvSpPr>
          <p:nvPr/>
        </p:nvSpPr>
        <p:spPr bwMode="auto">
          <a:xfrm flipH="1">
            <a:off x="470321" y="2797155"/>
            <a:ext cx="150394" cy="38581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21" name="AutoShape 61"/>
          <p:cNvSpPr>
            <a:spLocks noChangeShapeType="1"/>
          </p:cNvSpPr>
          <p:nvPr/>
        </p:nvSpPr>
        <p:spPr bwMode="auto">
          <a:xfrm>
            <a:off x="1040421" y="2797155"/>
            <a:ext cx="125912" cy="38581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20" name="AutoShape 60"/>
          <p:cNvSpPr>
            <a:spLocks noChangeShapeType="1"/>
          </p:cNvSpPr>
          <p:nvPr/>
        </p:nvSpPr>
        <p:spPr bwMode="auto">
          <a:xfrm flipH="1">
            <a:off x="830569" y="2025526"/>
            <a:ext cx="663368" cy="37765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9" name="Oval 59"/>
          <p:cNvSpPr>
            <a:spLocks noChangeArrowheads="1"/>
          </p:cNvSpPr>
          <p:nvPr/>
        </p:nvSpPr>
        <p:spPr bwMode="auto">
          <a:xfrm>
            <a:off x="1196645" y="3918464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8" name="AutoShape 58"/>
          <p:cNvSpPr>
            <a:spLocks noChangeShapeType="1"/>
          </p:cNvSpPr>
          <p:nvPr/>
        </p:nvSpPr>
        <p:spPr bwMode="auto">
          <a:xfrm flipH="1">
            <a:off x="809583" y="3576942"/>
            <a:ext cx="146897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7" name="AutoShape 57"/>
          <p:cNvSpPr>
            <a:spLocks noChangeShapeType="1"/>
          </p:cNvSpPr>
          <p:nvPr/>
        </p:nvSpPr>
        <p:spPr bwMode="auto">
          <a:xfrm>
            <a:off x="1376186" y="3576942"/>
            <a:ext cx="117751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6" name="Oval 56"/>
          <p:cNvSpPr>
            <a:spLocks noChangeArrowheads="1"/>
          </p:cNvSpPr>
          <p:nvPr/>
        </p:nvSpPr>
        <p:spPr bwMode="auto">
          <a:xfrm>
            <a:off x="714349" y="4672609"/>
            <a:ext cx="724794" cy="461579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10,0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5" name="AutoShape 55"/>
          <p:cNvSpPr>
            <a:spLocks noChangeShapeType="1"/>
          </p:cNvSpPr>
          <p:nvPr/>
        </p:nvSpPr>
        <p:spPr bwMode="auto">
          <a:xfrm flipH="1">
            <a:off x="1141850" y="4312438"/>
            <a:ext cx="142234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4" name="AutoShape 54"/>
          <p:cNvSpPr>
            <a:spLocks noChangeShapeType="1"/>
          </p:cNvSpPr>
          <p:nvPr/>
        </p:nvSpPr>
        <p:spPr bwMode="auto">
          <a:xfrm>
            <a:off x="1703789" y="4312438"/>
            <a:ext cx="130575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3" name="Oval 53"/>
          <p:cNvSpPr>
            <a:spLocks noChangeArrowheads="1"/>
          </p:cNvSpPr>
          <p:nvPr/>
        </p:nvSpPr>
        <p:spPr bwMode="auto">
          <a:xfrm>
            <a:off x="2289045" y="2403181"/>
            <a:ext cx="711319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2" name="Oval 52"/>
          <p:cNvSpPr>
            <a:spLocks noChangeArrowheads="1"/>
          </p:cNvSpPr>
          <p:nvPr/>
        </p:nvSpPr>
        <p:spPr bwMode="auto">
          <a:xfrm>
            <a:off x="2912774" y="318296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1" name="AutoShape 51"/>
          <p:cNvSpPr>
            <a:spLocks noChangeShapeType="1"/>
          </p:cNvSpPr>
          <p:nvPr/>
        </p:nvSpPr>
        <p:spPr bwMode="auto">
          <a:xfrm>
            <a:off x="2000232" y="2071678"/>
            <a:ext cx="586105" cy="33150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10" name="AutoShape 50"/>
          <p:cNvSpPr>
            <a:spLocks noChangeShapeType="1"/>
          </p:cNvSpPr>
          <p:nvPr/>
        </p:nvSpPr>
        <p:spPr bwMode="auto">
          <a:xfrm flipH="1">
            <a:off x="2019734" y="2797155"/>
            <a:ext cx="356750" cy="35084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9" name="AutoShape 49"/>
          <p:cNvSpPr>
            <a:spLocks noChangeShapeType="1"/>
          </p:cNvSpPr>
          <p:nvPr/>
        </p:nvSpPr>
        <p:spPr bwMode="auto">
          <a:xfrm>
            <a:off x="2796189" y="2797155"/>
            <a:ext cx="413876" cy="38581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8" name="Oval 48"/>
          <p:cNvSpPr>
            <a:spLocks noChangeArrowheads="1"/>
          </p:cNvSpPr>
          <p:nvPr/>
        </p:nvSpPr>
        <p:spPr bwMode="auto">
          <a:xfrm>
            <a:off x="2566517" y="3918464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9,3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07" name="AutoShape 47"/>
          <p:cNvSpPr>
            <a:spLocks noChangeShapeType="1"/>
          </p:cNvSpPr>
          <p:nvPr/>
        </p:nvSpPr>
        <p:spPr bwMode="auto">
          <a:xfrm flipH="1">
            <a:off x="2863808" y="3576942"/>
            <a:ext cx="136404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6" name="AutoShape 46"/>
          <p:cNvSpPr>
            <a:spLocks noChangeShapeType="1"/>
          </p:cNvSpPr>
          <p:nvPr/>
        </p:nvSpPr>
        <p:spPr bwMode="auto">
          <a:xfrm flipH="1">
            <a:off x="2530376" y="4312438"/>
            <a:ext cx="123580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5" name="AutoShape 45"/>
          <p:cNvSpPr>
            <a:spLocks noChangeShapeType="1"/>
          </p:cNvSpPr>
          <p:nvPr/>
        </p:nvSpPr>
        <p:spPr bwMode="auto">
          <a:xfrm>
            <a:off x="3073661" y="4312438"/>
            <a:ext cx="160887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4" name="AutoShape 44"/>
          <p:cNvSpPr>
            <a:spLocks noChangeShapeType="1"/>
          </p:cNvSpPr>
          <p:nvPr/>
        </p:nvSpPr>
        <p:spPr bwMode="auto">
          <a:xfrm>
            <a:off x="3419918" y="3576942"/>
            <a:ext cx="187702" cy="34152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3" name="AutoShape 43"/>
          <p:cNvSpPr>
            <a:spLocks noChangeShapeType="1"/>
          </p:cNvSpPr>
          <p:nvPr/>
        </p:nvSpPr>
        <p:spPr bwMode="auto">
          <a:xfrm flipH="1">
            <a:off x="2000232" y="1214422"/>
            <a:ext cx="1357322" cy="50006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02" name="Oval 42"/>
          <p:cNvSpPr>
            <a:spLocks noChangeArrowheads="1"/>
          </p:cNvSpPr>
          <p:nvPr/>
        </p:nvSpPr>
        <p:spPr bwMode="auto">
          <a:xfrm>
            <a:off x="5572133" y="1630387"/>
            <a:ext cx="785818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0,15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01" name="Oval 41"/>
          <p:cNvSpPr>
            <a:spLocks noChangeArrowheads="1"/>
          </p:cNvSpPr>
          <p:nvPr/>
        </p:nvSpPr>
        <p:spPr bwMode="auto">
          <a:xfrm>
            <a:off x="4624565" y="2403181"/>
            <a:ext cx="714380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00" name="Oval 40"/>
          <p:cNvSpPr>
            <a:spLocks noChangeArrowheads="1"/>
          </p:cNvSpPr>
          <p:nvPr/>
        </p:nvSpPr>
        <p:spPr bwMode="auto">
          <a:xfrm>
            <a:off x="4344436" y="3182969"/>
            <a:ext cx="595749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8,7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99" name="AutoShape 39"/>
          <p:cNvSpPr>
            <a:spLocks noChangeShapeType="1"/>
          </p:cNvSpPr>
          <p:nvPr/>
        </p:nvSpPr>
        <p:spPr bwMode="auto">
          <a:xfrm flipH="1">
            <a:off x="4335109" y="3578108"/>
            <a:ext cx="96765" cy="34035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8" name="Oval 38"/>
          <p:cNvSpPr>
            <a:spLocks noChangeArrowheads="1"/>
          </p:cNvSpPr>
          <p:nvPr/>
        </p:nvSpPr>
        <p:spPr bwMode="auto">
          <a:xfrm>
            <a:off x="4694190" y="3917298"/>
            <a:ext cx="595749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8,3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97" name="AutoShape 37"/>
          <p:cNvSpPr>
            <a:spLocks noChangeShapeType="1"/>
          </p:cNvSpPr>
          <p:nvPr/>
        </p:nvSpPr>
        <p:spPr bwMode="auto">
          <a:xfrm>
            <a:off x="4852746" y="3578108"/>
            <a:ext cx="139902" cy="339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6" name="AutoShape 36"/>
          <p:cNvSpPr>
            <a:spLocks noChangeShapeType="1"/>
          </p:cNvSpPr>
          <p:nvPr/>
        </p:nvSpPr>
        <p:spPr bwMode="auto">
          <a:xfrm flipH="1">
            <a:off x="4653386" y="4312438"/>
            <a:ext cx="128243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5" name="AutoShape 35"/>
          <p:cNvSpPr>
            <a:spLocks noChangeShapeType="1"/>
          </p:cNvSpPr>
          <p:nvPr/>
        </p:nvSpPr>
        <p:spPr bwMode="auto">
          <a:xfrm>
            <a:off x="5202500" y="4312438"/>
            <a:ext cx="128243" cy="36017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4" name="AutoShape 34"/>
          <p:cNvSpPr>
            <a:spLocks noChangeShapeType="1"/>
          </p:cNvSpPr>
          <p:nvPr/>
        </p:nvSpPr>
        <p:spPr bwMode="auto">
          <a:xfrm flipH="1">
            <a:off x="5019462" y="2000240"/>
            <a:ext cx="695546" cy="4029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3" name="AutoShape 33"/>
          <p:cNvSpPr>
            <a:spLocks noChangeShapeType="1"/>
          </p:cNvSpPr>
          <p:nvPr/>
        </p:nvSpPr>
        <p:spPr bwMode="auto">
          <a:xfrm flipH="1">
            <a:off x="4642893" y="2798320"/>
            <a:ext cx="165550" cy="38464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2" name="AutoShape 32"/>
          <p:cNvSpPr>
            <a:spLocks noChangeShapeType="1"/>
          </p:cNvSpPr>
          <p:nvPr/>
        </p:nvSpPr>
        <p:spPr bwMode="auto">
          <a:xfrm>
            <a:off x="4143372" y="1214422"/>
            <a:ext cx="1619902" cy="48357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91" name="Oval 31"/>
          <p:cNvSpPr>
            <a:spLocks noChangeArrowheads="1"/>
          </p:cNvSpPr>
          <p:nvPr/>
        </p:nvSpPr>
        <p:spPr bwMode="auto">
          <a:xfrm>
            <a:off x="6621905" y="2403181"/>
            <a:ext cx="754874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0,13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90" name="Oval 30"/>
          <p:cNvSpPr>
            <a:spLocks noChangeArrowheads="1"/>
          </p:cNvSpPr>
          <p:nvPr/>
        </p:nvSpPr>
        <p:spPr bwMode="auto">
          <a:xfrm>
            <a:off x="6390500" y="3182969"/>
            <a:ext cx="595749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6,7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89" name="Oval 29"/>
          <p:cNvSpPr>
            <a:spLocks noChangeArrowheads="1"/>
          </p:cNvSpPr>
          <p:nvPr/>
        </p:nvSpPr>
        <p:spPr bwMode="auto">
          <a:xfrm>
            <a:off x="6000760" y="3917298"/>
            <a:ext cx="714380" cy="46274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10,3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86" name="AutoShape 26"/>
          <p:cNvSpPr>
            <a:spLocks noChangeShapeType="1"/>
          </p:cNvSpPr>
          <p:nvPr/>
        </p:nvSpPr>
        <p:spPr bwMode="auto">
          <a:xfrm flipH="1">
            <a:off x="6367183" y="3578108"/>
            <a:ext cx="110756" cy="339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5" name="AutoShape 25"/>
          <p:cNvSpPr>
            <a:spLocks noChangeShapeType="1"/>
          </p:cNvSpPr>
          <p:nvPr/>
        </p:nvSpPr>
        <p:spPr bwMode="auto">
          <a:xfrm>
            <a:off x="6898810" y="3578108"/>
            <a:ext cx="235501" cy="34035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4" name="AutoShape 24"/>
          <p:cNvSpPr>
            <a:spLocks noChangeShapeType="1"/>
          </p:cNvSpPr>
          <p:nvPr/>
        </p:nvSpPr>
        <p:spPr bwMode="auto">
          <a:xfrm flipH="1">
            <a:off x="6688956" y="2857496"/>
            <a:ext cx="169059" cy="32547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3" name="AutoShape 23"/>
          <p:cNvSpPr>
            <a:spLocks noChangeShapeType="1"/>
          </p:cNvSpPr>
          <p:nvPr/>
        </p:nvSpPr>
        <p:spPr bwMode="auto">
          <a:xfrm>
            <a:off x="7254394" y="2798320"/>
            <a:ext cx="184204" cy="38464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2" name="AutoShape 22"/>
          <p:cNvSpPr>
            <a:spLocks noChangeShapeType="1"/>
          </p:cNvSpPr>
          <p:nvPr/>
        </p:nvSpPr>
        <p:spPr bwMode="auto">
          <a:xfrm>
            <a:off x="6252645" y="2037811"/>
            <a:ext cx="758028" cy="33150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81" name="Rectangle 21"/>
          <p:cNvSpPr>
            <a:spLocks noChangeArrowheads="1"/>
          </p:cNvSpPr>
          <p:nvPr/>
        </p:nvSpPr>
        <p:spPr bwMode="auto">
          <a:xfrm>
            <a:off x="7715272" y="1688667"/>
            <a:ext cx="1285884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[1]=2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80" name="Rectangle 20"/>
          <p:cNvSpPr>
            <a:spLocks noChangeArrowheads="1"/>
          </p:cNvSpPr>
          <p:nvPr/>
        </p:nvSpPr>
        <p:spPr bwMode="auto">
          <a:xfrm>
            <a:off x="7715272" y="2403181"/>
            <a:ext cx="1357322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=2,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[2]=6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9" name="Rectangle 19"/>
          <p:cNvSpPr>
            <a:spLocks noChangeArrowheads="1"/>
          </p:cNvSpPr>
          <p:nvPr/>
        </p:nvSpPr>
        <p:spPr bwMode="auto">
          <a:xfrm>
            <a:off x="7715272" y="3214686"/>
            <a:ext cx="1357322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=3,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[3]=4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8" name="Rectangle 18"/>
          <p:cNvSpPr>
            <a:spLocks noChangeArrowheads="1"/>
          </p:cNvSpPr>
          <p:nvPr/>
        </p:nvSpPr>
        <p:spPr bwMode="auto">
          <a:xfrm>
            <a:off x="7715272" y="3983738"/>
            <a:ext cx="1295532" cy="3030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=4,</a:t>
            </a: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[4]=3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7" name="AutoShape 17"/>
          <p:cNvSpPr>
            <a:spLocks noChangeShapeType="1"/>
          </p:cNvSpPr>
          <p:nvPr/>
        </p:nvSpPr>
        <p:spPr bwMode="auto">
          <a:xfrm>
            <a:off x="5229315" y="2798320"/>
            <a:ext cx="144565" cy="39164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4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776" name="Oval 16"/>
          <p:cNvSpPr>
            <a:spLocks noChangeArrowheads="1"/>
          </p:cNvSpPr>
          <p:nvPr/>
        </p:nvSpPr>
        <p:spPr bwMode="auto">
          <a:xfrm>
            <a:off x="5075423" y="3189963"/>
            <a:ext cx="595749" cy="462744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5" name="Oval 15"/>
          <p:cNvSpPr>
            <a:spLocks noChangeArrowheads="1"/>
          </p:cNvSpPr>
          <p:nvPr/>
        </p:nvSpPr>
        <p:spPr bwMode="auto">
          <a:xfrm>
            <a:off x="71406" y="3182969"/>
            <a:ext cx="785818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13,7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4" name="Oval 14"/>
          <p:cNvSpPr>
            <a:spLocks noChangeArrowheads="1"/>
          </p:cNvSpPr>
          <p:nvPr/>
        </p:nvSpPr>
        <p:spPr bwMode="auto">
          <a:xfrm>
            <a:off x="428596" y="3918464"/>
            <a:ext cx="714380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11,3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3" name="Oval 13"/>
          <p:cNvSpPr>
            <a:spLocks noChangeArrowheads="1"/>
          </p:cNvSpPr>
          <p:nvPr/>
        </p:nvSpPr>
        <p:spPr bwMode="auto">
          <a:xfrm>
            <a:off x="1643043" y="3148001"/>
            <a:ext cx="785818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11,7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2" name="Oval 12"/>
          <p:cNvSpPr>
            <a:spLocks noChangeArrowheads="1"/>
          </p:cNvSpPr>
          <p:nvPr/>
        </p:nvSpPr>
        <p:spPr bwMode="auto">
          <a:xfrm>
            <a:off x="1537073" y="467260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7,0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1" name="Oval 11"/>
          <p:cNvSpPr>
            <a:spLocks noChangeArrowheads="1"/>
          </p:cNvSpPr>
          <p:nvPr/>
        </p:nvSpPr>
        <p:spPr bwMode="auto">
          <a:xfrm>
            <a:off x="2214546" y="4672609"/>
            <a:ext cx="714380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70" name="Oval 10"/>
          <p:cNvSpPr>
            <a:spLocks noChangeArrowheads="1"/>
          </p:cNvSpPr>
          <p:nvPr/>
        </p:nvSpPr>
        <p:spPr bwMode="auto">
          <a:xfrm>
            <a:off x="2937257" y="4672609"/>
            <a:ext cx="594583" cy="46157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9,0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9" name="Oval 9"/>
          <p:cNvSpPr>
            <a:spLocks noChangeArrowheads="1"/>
          </p:cNvSpPr>
          <p:nvPr/>
        </p:nvSpPr>
        <p:spPr bwMode="auto">
          <a:xfrm>
            <a:off x="3310328" y="3918464"/>
            <a:ext cx="594583" cy="4615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5,3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8" name="Oval 8"/>
          <p:cNvSpPr>
            <a:spLocks noChangeArrowheads="1"/>
          </p:cNvSpPr>
          <p:nvPr/>
        </p:nvSpPr>
        <p:spPr bwMode="auto">
          <a:xfrm>
            <a:off x="4000496" y="3918464"/>
            <a:ext cx="714380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7" name="Oval 7"/>
          <p:cNvSpPr>
            <a:spLocks noChangeArrowheads="1"/>
          </p:cNvSpPr>
          <p:nvPr/>
        </p:nvSpPr>
        <p:spPr bwMode="auto">
          <a:xfrm>
            <a:off x="4214810" y="4672609"/>
            <a:ext cx="735867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11,0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6" name="Oval 6"/>
          <p:cNvSpPr>
            <a:spLocks noChangeArrowheads="1"/>
          </p:cNvSpPr>
          <p:nvPr/>
        </p:nvSpPr>
        <p:spPr bwMode="auto">
          <a:xfrm>
            <a:off x="5033452" y="4672609"/>
            <a:ext cx="59458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8,0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5" name="Oval 5"/>
          <p:cNvSpPr>
            <a:spLocks noChangeArrowheads="1"/>
          </p:cNvSpPr>
          <p:nvPr/>
        </p:nvSpPr>
        <p:spPr bwMode="auto">
          <a:xfrm>
            <a:off x="5643570" y="4672609"/>
            <a:ext cx="70962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13,0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4" name="Oval 4"/>
          <p:cNvSpPr>
            <a:spLocks noChangeArrowheads="1"/>
          </p:cNvSpPr>
          <p:nvPr/>
        </p:nvSpPr>
        <p:spPr bwMode="auto">
          <a:xfrm>
            <a:off x="6435968" y="4672609"/>
            <a:ext cx="779238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10,0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3" name="Oval 3"/>
          <p:cNvSpPr>
            <a:spLocks noChangeArrowheads="1"/>
          </p:cNvSpPr>
          <p:nvPr/>
        </p:nvSpPr>
        <p:spPr bwMode="auto">
          <a:xfrm>
            <a:off x="7141306" y="3182969"/>
            <a:ext cx="59458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762" name="Oval 2"/>
          <p:cNvSpPr>
            <a:spLocks noChangeArrowheads="1"/>
          </p:cNvSpPr>
          <p:nvPr/>
        </p:nvSpPr>
        <p:spPr bwMode="auto">
          <a:xfrm>
            <a:off x="6837020" y="3918464"/>
            <a:ext cx="594583" cy="461579"/>
          </a:xfrm>
          <a:prstGeom prst="ellipse">
            <a:avLst/>
          </a:prstGeom>
          <a:ln>
            <a:prstDash val="dash"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38405" rIns="0" bIns="38405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6,3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1472" y="214290"/>
            <a:ext cx="42148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w={5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6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4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3}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t=10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103A7B-0AA1-9536-DBF3-8713D750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55</a:t>
            </a:fld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857232"/>
            <a:ext cx="8215370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loading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：该算法的解空间树中有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个结点，每找到一个更优解时需要将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复制到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bestx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（执行时间为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），所以最坏情况下算法的时间复杂度为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6A53BB-EE20-7715-CCB3-130BC281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56</a:t>
            </a:fld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428860" y="428604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5.7</a:t>
            </a:r>
            <a:r>
              <a:rPr lang="pt-BR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0/1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背包问题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282" y="1357298"/>
            <a:ext cx="8572560" cy="25991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有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个编号为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的物品，重量为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={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，…，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，价值为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={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，给定一个容量为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的背包。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从这些物品中选取全部或者部分物品装入该背包中，每个物品要么选中要么不选中，即物品不能被分割，找到选中物品不仅能够放到背包中而且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价值最大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的方案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最大价值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12" y="4714884"/>
            <a:ext cx="1214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W=6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结果为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8</a:t>
            </a:r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85984" y="4143380"/>
          <a:ext cx="3786214" cy="184943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15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06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物品编号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重量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价值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643"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66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b="1" kern="100">
                        <a:solidFill>
                          <a:srgbClr val="0066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5F256D-5A84-1289-3B8F-E77E11CA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57</a:t>
            </a:fld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2844" y="285728"/>
            <a:ext cx="64294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100" y="357166"/>
            <a:ext cx="307183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）存储结构设计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34" y="1000108"/>
            <a:ext cx="8429684" cy="414650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Goods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物品类型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no;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物品的编号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w;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物品的重量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v;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物品的价值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Goods(int no,int w,int v)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构造函数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this-&gt;no=no;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this-&gt;w=w;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this-&gt;v=v;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 operator&lt;(const Goods&amp;s) const	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v/w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递减排序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(double)v/w&gt;(double)s.v/s.w;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158" y="5259845"/>
            <a:ext cx="81439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表示不选择物品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，最优解向量用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bestx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表示，最大价值用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bestv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表示（初始为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4889AA-17CE-C687-8399-BBE8CE12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58</a:t>
            </a:fld>
            <a:endParaRPr lang="en-US" altLang="zh-C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5720" y="428604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左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剪支</a:t>
            </a:r>
          </a:p>
        </p:txBody>
      </p:sp>
      <p:sp>
        <p:nvSpPr>
          <p:cNvPr id="46173" name="Rectangle 9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285720" y="1142984"/>
            <a:ext cx="8501122" cy="273161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左剪支与子集和问题的类似。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当搜索到第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）层的某个结点时，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表示当前选择的物品重量和（其中不包含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检查当前物品被选中后总重量是否超过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，若超过则剪支，即仅仅扩展满足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cw+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FF00FF"/>
                </a:solidFill>
                <a:latin typeface="+mn-ea"/>
                <a:cs typeface="Times New Roman" pitchFamily="18" charset="0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的左孩子结点。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4794AE-AC6F-04F6-9ADE-DE785983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59</a:t>
            </a:fld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4282" y="500042"/>
            <a:ext cx="20002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3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右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剪支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20" y="1142984"/>
            <a:ext cx="8501122" cy="188843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采用限界函数（上界函数）。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所有物品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按单位重量价值递减排序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例如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前面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表排序后的结果如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，序号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发生了改变，后面改为按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而不是物品编号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的顺序搜索。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928662" y="3651264"/>
          <a:ext cx="6000793" cy="166021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07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序号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i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物品编号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no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重量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价值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v/w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1.5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1.3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0.8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43768" y="4286256"/>
            <a:ext cx="642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W=6</a:t>
            </a:r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ED3F2D-CA86-612E-AA38-C0540F82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60</a:t>
            </a:fld>
            <a:endParaRPr lang="en-US" altLang="zh-CN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5720" y="458721"/>
            <a:ext cx="8501122" cy="207236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表示当前选择的物品重量和（不含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w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表示当前选择的物品价值和（不含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此时背包剩余容量为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rw=W-cw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，如果按背包容量连续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及其后面的物品，直到装满，其价值一定是最大的（因为物品按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v/w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递减排序），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最大价值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为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42"/>
          <p:cNvGrpSpPr/>
          <p:nvPr/>
        </p:nvGrpSpPr>
        <p:grpSpPr>
          <a:xfrm>
            <a:off x="1214442" y="2786058"/>
            <a:ext cx="7143772" cy="2971814"/>
            <a:chOff x="357158" y="2928934"/>
            <a:chExt cx="6643706" cy="2971814"/>
          </a:xfrm>
        </p:grpSpPr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393390" y="3333837"/>
              <a:ext cx="381055" cy="38091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822018" y="3357562"/>
              <a:ext cx="674278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019314" y="4033610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1495404" y="4137844"/>
              <a:ext cx="1054159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cxnSp>
          <p:nvCxnSpPr>
            <p:cNvPr id="22" name="直接连接符 21"/>
            <p:cNvCxnSpPr>
              <a:stCxn id="10" idx="3"/>
              <a:endCxn id="12" idx="0"/>
            </p:cNvCxnSpPr>
            <p:nvPr/>
          </p:nvCxnSpPr>
          <p:spPr>
            <a:xfrm rot="5400000">
              <a:off x="1141917" y="3726333"/>
              <a:ext cx="374642" cy="239913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11"/>
            <p:cNvSpPr>
              <a:spLocks noChangeArrowheads="1"/>
            </p:cNvSpPr>
            <p:nvPr/>
          </p:nvSpPr>
          <p:spPr bwMode="auto">
            <a:xfrm>
              <a:off x="686842" y="4712732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27" name="直接连接符 26"/>
            <p:cNvCxnSpPr>
              <a:stCxn id="12" idx="3"/>
              <a:endCxn id="25" idx="0"/>
            </p:cNvCxnSpPr>
            <p:nvPr/>
          </p:nvCxnSpPr>
          <p:spPr>
            <a:xfrm rot="5400000">
              <a:off x="799843" y="4437620"/>
              <a:ext cx="352079" cy="198145"/>
            </a:xfrm>
            <a:prstGeom prst="line">
              <a:avLst/>
            </a:prstGeom>
            <a:ln w="19050"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1142948" y="4786322"/>
              <a:ext cx="1007991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2000" b="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357158" y="5403299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31" name="直接连接符 30"/>
            <p:cNvCxnSpPr>
              <a:stCxn id="25" idx="3"/>
              <a:endCxn id="29" idx="0"/>
            </p:cNvCxnSpPr>
            <p:nvPr/>
          </p:nvCxnSpPr>
          <p:spPr>
            <a:xfrm rot="5400000">
              <a:off x="463042" y="5123859"/>
              <a:ext cx="363524" cy="195357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781025" y="5476116"/>
              <a:ext cx="714380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1250514" y="2928934"/>
              <a:ext cx="857256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cv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cw</a:t>
              </a:r>
              <a:endPara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00364" y="4929198"/>
              <a:ext cx="4000500" cy="97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" name="TextBox 40"/>
            <p:cNvSpPr txBox="1"/>
            <p:nvPr/>
          </p:nvSpPr>
          <p:spPr>
            <a:xfrm>
              <a:off x="2928925" y="4214818"/>
              <a:ext cx="36733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试探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：物品</a:t>
              </a: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～</a:t>
              </a: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可以整个装入，物品</a:t>
              </a: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只能部分装入</a:t>
              </a:r>
            </a:p>
          </p:txBody>
        </p:sp>
        <p:sp>
          <p:nvSpPr>
            <p:cNvPr id="42" name="右大括号 41"/>
            <p:cNvSpPr/>
            <p:nvPr/>
          </p:nvSpPr>
          <p:spPr>
            <a:xfrm>
              <a:off x="2571736" y="3429000"/>
              <a:ext cx="214314" cy="228601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E4F8B53-18DE-77A4-4C9E-C782B028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61</a:t>
            </a:fld>
            <a:endParaRPr lang="en-US" altLang="zh-C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5720" y="285728"/>
            <a:ext cx="8501122" cy="8104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：如果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不选择物品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时，此时背包剩余容量为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rw=W-cw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余下重量的物品的最大价值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r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+1)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2143108" y="1500174"/>
            <a:ext cx="3929090" cy="2905144"/>
            <a:chOff x="2143108" y="1500174"/>
            <a:chExt cx="3929090" cy="2905144"/>
          </a:xfrm>
        </p:grpSpPr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3397656" y="2071678"/>
              <a:ext cx="1031468" cy="35719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]=0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2768177" y="1780127"/>
              <a:ext cx="381055" cy="38091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3254780" y="1780390"/>
              <a:ext cx="808061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340668" y="2652474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3816758" y="2647170"/>
              <a:ext cx="969556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20" name="Rectangle 2"/>
            <p:cNvSpPr>
              <a:spLocks noChangeArrowheads="1"/>
            </p:cNvSpPr>
            <p:nvPr/>
          </p:nvSpPr>
          <p:spPr bwMode="auto">
            <a:xfrm>
              <a:off x="2143108" y="2742070"/>
              <a:ext cx="401229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</a:p>
          </p:txBody>
        </p:sp>
        <p:cxnSp>
          <p:nvCxnSpPr>
            <p:cNvPr id="22" name="直接连接符 21"/>
            <p:cNvCxnSpPr>
              <a:stCxn id="10" idx="5"/>
              <a:endCxn id="12" idx="0"/>
            </p:cNvCxnSpPr>
            <p:nvPr/>
          </p:nvCxnSpPr>
          <p:spPr>
            <a:xfrm rot="16200000" flipH="1">
              <a:off x="3038423" y="2160262"/>
              <a:ext cx="547216" cy="437207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10" idx="3"/>
            </p:cNvCxnSpPr>
            <p:nvPr/>
          </p:nvCxnSpPr>
          <p:spPr>
            <a:xfrm rot="5400000">
              <a:off x="2303840" y="2069529"/>
              <a:ext cx="484412" cy="555870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11"/>
            <p:cNvSpPr>
              <a:spLocks noChangeArrowheads="1"/>
            </p:cNvSpPr>
            <p:nvPr/>
          </p:nvSpPr>
          <p:spPr bwMode="auto">
            <a:xfrm>
              <a:off x="3008196" y="3331596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27" name="直接连接符 26"/>
            <p:cNvCxnSpPr>
              <a:stCxn id="12" idx="3"/>
              <a:endCxn id="25" idx="0"/>
            </p:cNvCxnSpPr>
            <p:nvPr/>
          </p:nvCxnSpPr>
          <p:spPr>
            <a:xfrm rot="5400000">
              <a:off x="3121197" y="3056484"/>
              <a:ext cx="352079" cy="198145"/>
            </a:xfrm>
            <a:prstGeom prst="line">
              <a:avLst/>
            </a:prstGeom>
            <a:ln w="19050"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3531006" y="3367086"/>
              <a:ext cx="1040994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2000" b="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2678512" y="4022163"/>
              <a:ext cx="379934" cy="38315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31" name="直接连接符 30"/>
            <p:cNvCxnSpPr>
              <a:stCxn id="25" idx="3"/>
              <a:endCxn id="29" idx="0"/>
            </p:cNvCxnSpPr>
            <p:nvPr/>
          </p:nvCxnSpPr>
          <p:spPr>
            <a:xfrm rot="5400000">
              <a:off x="2784396" y="3742723"/>
              <a:ext cx="363524" cy="195357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102379" y="4094980"/>
              <a:ext cx="714380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层</a:t>
              </a:r>
            </a:p>
          </p:txBody>
        </p:sp>
        <p:sp>
          <p:nvSpPr>
            <p:cNvPr id="36" name="Rectangle 8"/>
            <p:cNvSpPr>
              <a:spLocks noChangeArrowheads="1"/>
            </p:cNvSpPr>
            <p:nvPr/>
          </p:nvSpPr>
          <p:spPr bwMode="auto">
            <a:xfrm>
              <a:off x="2683276" y="1500174"/>
              <a:ext cx="285752" cy="2912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cv</a:t>
              </a:r>
              <a:endPara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8" name="右大括号 37"/>
            <p:cNvSpPr/>
            <p:nvPr/>
          </p:nvSpPr>
          <p:spPr>
            <a:xfrm>
              <a:off x="4714876" y="2762244"/>
              <a:ext cx="285752" cy="1571636"/>
            </a:xfrm>
            <a:prstGeom prst="righ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72066" y="3333748"/>
              <a:ext cx="1000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r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+1)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44" y="4500570"/>
            <a:ext cx="40005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B8DC71-98F5-4DEB-FC27-B1515DE6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62</a:t>
            </a:fld>
            <a:endParaRPr lang="en-US" altLang="zh-C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71472" y="1714488"/>
            <a:ext cx="8215370" cy="4095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double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bound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(int cw,int cv,int i) {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计算第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层结点的上界函数值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int rw=W-cw;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背包的剩余容量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double b=cv;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表示物品价值的上界值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int j=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while (j&lt;n &amp;&amp; g[j].w&lt;=rw)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rw-=g[j].w;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选择物品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b+=g[j].v;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累计价值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j++;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if (j&lt;n) 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最后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一个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物品只能部分装入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	b+=(double)g[j].v/g[j].w*rw;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return b;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20" y="142852"/>
            <a:ext cx="2000264" cy="5147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72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限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界函数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华文中宋" pitchFamily="2" charset="-122"/>
              <a:ea typeface="华文中宋" pitchFamily="2" charset="-122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282" y="857232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不选择物品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时这条路径走下去能够选择物品的最大价值为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bound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(cw,cv,i+1)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29058" y="1285860"/>
            <a:ext cx="3643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对于第</a:t>
            </a:r>
            <a:r>
              <a:rPr lang="en-US" altLang="zh-CN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层结点实参为</a:t>
            </a:r>
            <a:r>
              <a:rPr lang="en-US" altLang="zh-CN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+1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282" y="5955589"/>
            <a:ext cx="8429684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仅仅扩展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bound(cw,cv,i+1)&gt;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bestv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右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结点。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rot="10800000">
            <a:off x="3357554" y="1500174"/>
            <a:ext cx="500066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5EE019-977A-9FF5-72DC-0690D059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63</a:t>
            </a:fld>
            <a:endParaRPr lang="en-US" altLang="zh-C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344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1214414" y="793744"/>
          <a:ext cx="6215106" cy="166021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70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序号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i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物品编号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no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重量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价值</a:t>
                      </a: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v/w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1.5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1.3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1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FF"/>
                          </a:solidFill>
                          <a:latin typeface="Consolas" pitchFamily="49" charset="0"/>
                          <a:ea typeface="仿宋" pitchFamily="49" charset="-122"/>
                          <a:cs typeface="Times New Roman" pitchFamily="18" charset="0"/>
                        </a:rPr>
                        <a:t>0.8</a:t>
                      </a:r>
                      <a:endParaRPr lang="zh-CN" sz="2000" kern="100">
                        <a:solidFill>
                          <a:srgbClr val="FF00FF"/>
                        </a:solidFill>
                        <a:latin typeface="Consolas" pitchFamily="49" charset="0"/>
                        <a:ea typeface="仿宋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57158" y="142852"/>
            <a:ext cx="1714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右</a:t>
            </a:r>
            <a:r>
              <a:rPr lang="zh-CN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剪支</a:t>
            </a:r>
            <a:r>
              <a:rPr lang="zh-CN" altLang="en-US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实例</a:t>
            </a:r>
            <a:endParaRPr lang="zh-CN" altLang="en-US" sz="2200">
              <a:solidFill>
                <a:srgbClr val="0000FF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03447" name="Oval 23"/>
          <p:cNvSpPr>
            <a:spLocks noChangeArrowheads="1"/>
          </p:cNvSpPr>
          <p:nvPr/>
        </p:nvSpPr>
        <p:spPr bwMode="auto">
          <a:xfrm>
            <a:off x="4193346" y="2928934"/>
            <a:ext cx="957084" cy="454065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0,0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3834" y="1285860"/>
            <a:ext cx="642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W=6</a:t>
            </a:r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2372115" y="3316502"/>
            <a:ext cx="1961394" cy="834367"/>
            <a:chOff x="2372115" y="3316502"/>
            <a:chExt cx="1961394" cy="834367"/>
          </a:xfrm>
        </p:grpSpPr>
        <p:sp>
          <p:nvSpPr>
            <p:cNvPr id="103443" name="Oval 19"/>
            <p:cNvSpPr>
              <a:spLocks noChangeArrowheads="1"/>
            </p:cNvSpPr>
            <p:nvPr/>
          </p:nvSpPr>
          <p:spPr bwMode="auto">
            <a:xfrm>
              <a:off x="3102753" y="3712256"/>
              <a:ext cx="912045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2,3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72115" y="3443320"/>
              <a:ext cx="1128315" cy="414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cs typeface="Times New Roman" pitchFamily="18" charset="0"/>
                </a:rPr>
                <a:t>(cw,cv)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9" name="直接连接符 38"/>
            <p:cNvCxnSpPr>
              <a:stCxn id="103447" idx="3"/>
            </p:cNvCxnSpPr>
            <p:nvPr/>
          </p:nvCxnSpPr>
          <p:spPr>
            <a:xfrm rot="5400000">
              <a:off x="3860721" y="3241964"/>
              <a:ext cx="398249" cy="547326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5000627" y="3316502"/>
            <a:ext cx="3429025" cy="1155550"/>
            <a:chOff x="5000627" y="3316502"/>
            <a:chExt cx="3429025" cy="1155550"/>
          </a:xfrm>
        </p:grpSpPr>
        <p:sp>
          <p:nvSpPr>
            <p:cNvPr id="103437" name="Oval 13"/>
            <p:cNvSpPr>
              <a:spLocks noChangeArrowheads="1"/>
            </p:cNvSpPr>
            <p:nvPr/>
          </p:nvSpPr>
          <p:spPr bwMode="auto">
            <a:xfrm>
              <a:off x="5000627" y="3642126"/>
              <a:ext cx="1481677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0,0,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6.6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57950" y="3386080"/>
              <a:ext cx="14784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cs typeface="Times New Roman" pitchFamily="18" charset="0"/>
                </a:rPr>
                <a:t>(cw,cv,ub)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00760" y="4071942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ub=4+1+2*0.8=6.6</a:t>
              </a:r>
              <a:endParaRPr lang="zh-CN" altLang="en-US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1" name="直接连接符 40"/>
            <p:cNvCxnSpPr>
              <a:stCxn id="103447" idx="5"/>
              <a:endCxn id="103437" idx="0"/>
            </p:cNvCxnSpPr>
            <p:nvPr/>
          </p:nvCxnSpPr>
          <p:spPr>
            <a:xfrm rot="16200000" flipH="1">
              <a:off x="5213056" y="3113715"/>
              <a:ext cx="325623" cy="731198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>
            <a:off x="3752913" y="4086635"/>
            <a:ext cx="3819483" cy="1028359"/>
            <a:chOff x="3752913" y="4086635"/>
            <a:chExt cx="3819483" cy="1028359"/>
          </a:xfrm>
        </p:grpSpPr>
        <p:sp>
          <p:nvSpPr>
            <p:cNvPr id="103438" name="Oval 14"/>
            <p:cNvSpPr>
              <a:spLocks noChangeArrowheads="1"/>
            </p:cNvSpPr>
            <p:nvPr/>
          </p:nvSpPr>
          <p:spPr bwMode="auto">
            <a:xfrm>
              <a:off x="3752913" y="4453975"/>
              <a:ext cx="1510309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2,3,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6.4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43504" y="4714884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ub=3+1+3*0.8=6.4</a:t>
              </a:r>
              <a:endParaRPr lang="zh-CN" altLang="en-US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3" name="直接连接符 42"/>
            <p:cNvCxnSpPr>
              <a:stCxn id="103443" idx="5"/>
              <a:endCxn id="103438" idx="0"/>
            </p:cNvCxnSpPr>
            <p:nvPr/>
          </p:nvCxnSpPr>
          <p:spPr>
            <a:xfrm rot="16200000" flipH="1">
              <a:off x="4010981" y="3956887"/>
              <a:ext cx="367339" cy="626836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857224" y="5678241"/>
            <a:ext cx="1092202" cy="803575"/>
            <a:chOff x="857224" y="5678241"/>
            <a:chExt cx="1092202" cy="803575"/>
          </a:xfrm>
        </p:grpSpPr>
        <p:sp>
          <p:nvSpPr>
            <p:cNvPr id="103440" name="Oval 16"/>
            <p:cNvSpPr>
              <a:spLocks noChangeArrowheads="1"/>
            </p:cNvSpPr>
            <p:nvPr/>
          </p:nvSpPr>
          <p:spPr bwMode="auto">
            <a:xfrm>
              <a:off x="857224" y="6043203"/>
              <a:ext cx="1092202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11,12</a:t>
              </a:r>
            </a:p>
          </p:txBody>
        </p:sp>
        <p:cxnSp>
          <p:nvCxnSpPr>
            <p:cNvPr id="45" name="直接连接符 44"/>
            <p:cNvCxnSpPr>
              <a:stCxn id="103446" idx="3"/>
              <a:endCxn id="103440" idx="0"/>
            </p:cNvCxnSpPr>
            <p:nvPr/>
          </p:nvCxnSpPr>
          <p:spPr>
            <a:xfrm rot="5400000">
              <a:off x="1400627" y="5680939"/>
              <a:ext cx="364962" cy="359566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组合 61"/>
          <p:cNvGrpSpPr/>
          <p:nvPr/>
        </p:nvGrpSpPr>
        <p:grpSpPr>
          <a:xfrm>
            <a:off x="2238964" y="5678240"/>
            <a:ext cx="2547350" cy="790501"/>
            <a:chOff x="2238964" y="5678240"/>
            <a:chExt cx="2547350" cy="790501"/>
          </a:xfrm>
        </p:grpSpPr>
        <p:sp>
          <p:nvSpPr>
            <p:cNvPr id="103442" name="Oval 18"/>
            <p:cNvSpPr>
              <a:spLocks noChangeArrowheads="1"/>
            </p:cNvSpPr>
            <p:nvPr/>
          </p:nvSpPr>
          <p:spPr bwMode="auto">
            <a:xfrm>
              <a:off x="2238964" y="6030128"/>
              <a:ext cx="1185498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6,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,6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72758" y="6041046"/>
              <a:ext cx="1313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bestv=8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7" name="直接连接符 46"/>
            <p:cNvCxnSpPr>
              <a:stCxn id="103446" idx="5"/>
              <a:endCxn id="103442" idx="0"/>
            </p:cNvCxnSpPr>
            <p:nvPr/>
          </p:nvCxnSpPr>
          <p:spPr>
            <a:xfrm rot="16200000" flipH="1">
              <a:off x="2443815" y="5642229"/>
              <a:ext cx="351887" cy="423909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1629325" y="4839054"/>
            <a:ext cx="912045" cy="903420"/>
            <a:chOff x="1629325" y="4839054"/>
            <a:chExt cx="912045" cy="903420"/>
          </a:xfrm>
        </p:grpSpPr>
        <p:sp>
          <p:nvSpPr>
            <p:cNvPr id="103446" name="Oval 22"/>
            <p:cNvSpPr>
              <a:spLocks noChangeArrowheads="1"/>
            </p:cNvSpPr>
            <p:nvPr/>
          </p:nvSpPr>
          <p:spPr bwMode="auto">
            <a:xfrm>
              <a:off x="1629325" y="5303861"/>
              <a:ext cx="912045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6,8</a:t>
              </a:r>
            </a:p>
          </p:txBody>
        </p:sp>
        <p:cxnSp>
          <p:nvCxnSpPr>
            <p:cNvPr id="49" name="直接连接符 48"/>
            <p:cNvCxnSpPr>
              <a:stCxn id="103445" idx="3"/>
              <a:endCxn id="103446" idx="0"/>
            </p:cNvCxnSpPr>
            <p:nvPr/>
          </p:nvCxnSpPr>
          <p:spPr>
            <a:xfrm rot="5400000">
              <a:off x="2074550" y="4849852"/>
              <a:ext cx="464808" cy="443211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3121302" y="4839053"/>
            <a:ext cx="3855450" cy="990321"/>
            <a:chOff x="3121302" y="4839053"/>
            <a:chExt cx="3855450" cy="990321"/>
          </a:xfrm>
        </p:grpSpPr>
        <p:sp>
          <p:nvSpPr>
            <p:cNvPr id="103441" name="Oval 17"/>
            <p:cNvSpPr>
              <a:spLocks noChangeArrowheads="1"/>
            </p:cNvSpPr>
            <p:nvPr/>
          </p:nvSpPr>
          <p:spPr bwMode="auto">
            <a:xfrm>
              <a:off x="3121302" y="5288409"/>
              <a:ext cx="1450698" cy="43861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5,7,7.8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547860" y="5429264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ub=3+4+1*0.8=7.8</a:t>
              </a:r>
              <a:endParaRPr lang="zh-CN" altLang="en-US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51" name="直接连接符 50"/>
            <p:cNvCxnSpPr>
              <a:stCxn id="103445" idx="5"/>
              <a:endCxn id="103441" idx="0"/>
            </p:cNvCxnSpPr>
            <p:nvPr/>
          </p:nvCxnSpPr>
          <p:spPr>
            <a:xfrm rot="16200000" flipH="1">
              <a:off x="3285383" y="4727141"/>
              <a:ext cx="449356" cy="673179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2394993" y="4086636"/>
            <a:ext cx="912045" cy="816650"/>
            <a:chOff x="2394993" y="4086636"/>
            <a:chExt cx="912045" cy="816650"/>
          </a:xfrm>
        </p:grpSpPr>
        <p:sp>
          <p:nvSpPr>
            <p:cNvPr id="103445" name="Oval 21"/>
            <p:cNvSpPr>
              <a:spLocks noChangeArrowheads="1"/>
            </p:cNvSpPr>
            <p:nvPr/>
          </p:nvSpPr>
          <p:spPr bwMode="auto">
            <a:xfrm>
              <a:off x="2394993" y="4464673"/>
              <a:ext cx="912045" cy="438613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5,7</a:t>
              </a:r>
            </a:p>
          </p:txBody>
        </p:sp>
        <p:cxnSp>
          <p:nvCxnSpPr>
            <p:cNvPr id="53" name="直接连接符 52"/>
            <p:cNvCxnSpPr>
              <a:stCxn id="103443" idx="3"/>
              <a:endCxn id="103445" idx="0"/>
            </p:cNvCxnSpPr>
            <p:nvPr/>
          </p:nvCxnSpPr>
          <p:spPr>
            <a:xfrm rot="5400000">
              <a:off x="2854650" y="4083003"/>
              <a:ext cx="378037" cy="385303"/>
            </a:xfrm>
            <a:prstGeom prst="lin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747EAD-1186-B0A4-D797-D892482B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85728"/>
            <a:ext cx="8643998" cy="630093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cw,int cv,int i) {  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tot++;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累计调用次数 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i&gt;=n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(cw&lt;=W &amp;&amp; cv&gt;bestv)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找到一个更优解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bestv=cv;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没有到达叶子结点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cw+g[i].w&lt;=W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  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x[i]=1;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(cw+g[i].w,cv+g[i].v,i+1);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double b=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bound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(cw,cv,i+1);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计算限界函数值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b&gt;bestv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{			         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右剪支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x[i]=0;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不选取物品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(cw,cv,i+1);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0629F5-DE98-6D44-828F-453EDD87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785794"/>
            <a:ext cx="8286808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knap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算法分析：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该算法在不考虑剪支时解空间树中有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个结点，求上界函数值和保存最优解的时间为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，所以最坏情况下算法的时间复杂度为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6E26FC-A056-DAF2-82DD-5827540D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66</a:t>
            </a:fld>
            <a:endParaRPr lang="en-US" altLang="zh-C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74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3" name="TextBox 62">
            <a:hlinkClick r:id="" action="ppaction://noaction"/>
          </p:cNvPr>
          <p:cNvSpPr txBox="1"/>
          <p:nvPr/>
        </p:nvSpPr>
        <p:spPr>
          <a:xfrm>
            <a:off x="857224" y="500042"/>
            <a:ext cx="692948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5.8 </a:t>
            </a:r>
            <a:r>
              <a:rPr lang="zh-CN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基于</a:t>
            </a:r>
            <a:r>
              <a:rPr lang="zh-CN" altLang="en-US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排列</a:t>
            </a:r>
            <a:r>
              <a:rPr lang="zh-CN" altLang="zh-CN" sz="32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树的回溯算法框架</a:t>
            </a:r>
            <a:endParaRPr lang="zh-CN" altLang="en-US" sz="32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14282" y="1571612"/>
            <a:ext cx="342902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latin typeface="Consolas" pitchFamily="49" charset="0"/>
                <a:ea typeface="微软雅黑" pitchFamily="34" charset="-122"/>
              </a:rPr>
              <a:t>5.8.1 </a:t>
            </a:r>
            <a:r>
              <a:rPr lang="zh-CN" altLang="en-US" sz="2800" dirty="0">
                <a:latin typeface="Consolas" pitchFamily="49" charset="0"/>
                <a:ea typeface="微软雅黑" pitchFamily="34" charset="-122"/>
              </a:rPr>
              <a:t>求全排列</a:t>
            </a:r>
            <a:endParaRPr lang="zh-CN" altLang="zh-CN" sz="28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71472" y="2714620"/>
            <a:ext cx="8072494" cy="222112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个不同整数的数组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，设计一个算法求其所有元素的全排列。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，其全排列是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）（输出顺序无关）。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B243B9-DCE8-9B3E-99D9-A957C084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67</a:t>
            </a:fld>
            <a:endParaRPr lang="en-US" altLang="zh-CN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28604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285860"/>
            <a:ext cx="7929618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，解向量为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，每个解向量对应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的一个排列，显然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中任意元素即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选一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但所有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不能重复，为此设置一个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used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设置，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used[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是否使用过。解向量树的第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层结点用于确定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的值。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22F570-E332-840F-2DF2-CA660D34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68</a:t>
            </a:fld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445" y="285728"/>
            <a:ext cx="9001156" cy="529642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&amp;a,int i)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j=0;j&lt;n;j++)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if(used[j]) continue;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剪支：跳过已经使用过的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x[i]=a[j];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used[j]=1;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转向解空间树的下一层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used[j]=0;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x[i]=0;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54F58A-6B2C-944E-CB6B-CCEBC820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69</a:t>
            </a:fld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28604"/>
            <a:ext cx="114300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285860"/>
            <a:ext cx="8215370" cy="270843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改进解法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，首先将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中，通过交换方式避免使用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used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与其中的每一个元素交换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，目的是让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取所有可能的元素值（由于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元素已经使用过，所以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不能取这些元素值）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采用交换的方式也保证了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的所有元素不重复。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E45723-F45E-9213-EEC9-0118BA0E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70</a:t>
            </a:fld>
            <a:endParaRPr lang="en-US" altLang="zh-CN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9" name="Rectangle 11"/>
          <p:cNvSpPr>
            <a:spLocks noChangeArrowheads="1"/>
          </p:cNvSpPr>
          <p:nvPr/>
        </p:nvSpPr>
        <p:spPr bwMode="auto">
          <a:xfrm>
            <a:off x="6268410" y="3395148"/>
            <a:ext cx="1161110" cy="3196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auto">
          <a:xfrm>
            <a:off x="7786711" y="3420038"/>
            <a:ext cx="1143008" cy="36615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62" name="Rectangle 34"/>
          <p:cNvSpPr>
            <a:spLocks noChangeArrowheads="1"/>
          </p:cNvSpPr>
          <p:nvPr/>
        </p:nvSpPr>
        <p:spPr bwMode="auto">
          <a:xfrm>
            <a:off x="1714480" y="3407592"/>
            <a:ext cx="1178089" cy="30715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51" name="Rectangle 23"/>
          <p:cNvSpPr>
            <a:spLocks noChangeArrowheads="1"/>
          </p:cNvSpPr>
          <p:nvPr/>
        </p:nvSpPr>
        <p:spPr bwMode="auto">
          <a:xfrm>
            <a:off x="4857753" y="3420038"/>
            <a:ext cx="1180754" cy="36615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45" name="Rectangle 17"/>
          <p:cNvSpPr>
            <a:spLocks noChangeArrowheads="1"/>
          </p:cNvSpPr>
          <p:nvPr/>
        </p:nvSpPr>
        <p:spPr bwMode="auto">
          <a:xfrm>
            <a:off x="1928795" y="1976344"/>
            <a:ext cx="1323002" cy="30964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43" name="Rectangle 15"/>
          <p:cNvSpPr>
            <a:spLocks noChangeArrowheads="1"/>
          </p:cNvSpPr>
          <p:nvPr/>
        </p:nvSpPr>
        <p:spPr bwMode="auto">
          <a:xfrm>
            <a:off x="4806676" y="2200366"/>
            <a:ext cx="1148928" cy="299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6163908" y="1951452"/>
            <a:ext cx="1265612" cy="4059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x[0]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x[2]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71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3769" name="Rectangle 41"/>
          <p:cNvSpPr>
            <a:spLocks noChangeArrowheads="1"/>
          </p:cNvSpPr>
          <p:nvPr/>
        </p:nvSpPr>
        <p:spPr bwMode="auto">
          <a:xfrm>
            <a:off x="4228306" y="1428736"/>
            <a:ext cx="1129512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x={1,2,3}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8" name="Rectangle 40"/>
          <p:cNvSpPr>
            <a:spLocks noChangeArrowheads="1"/>
          </p:cNvSpPr>
          <p:nvPr/>
        </p:nvSpPr>
        <p:spPr bwMode="auto">
          <a:xfrm>
            <a:off x="1324322" y="2822648"/>
            <a:ext cx="1104538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x={1,2,3}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7" name="Rectangle 39"/>
          <p:cNvSpPr>
            <a:spLocks noChangeArrowheads="1"/>
          </p:cNvSpPr>
          <p:nvPr/>
        </p:nvSpPr>
        <p:spPr bwMode="auto">
          <a:xfrm>
            <a:off x="523142" y="3902930"/>
            <a:ext cx="1119900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x={1,2,3}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6" name="Rectangle 38"/>
          <p:cNvSpPr>
            <a:spLocks noChangeArrowheads="1"/>
          </p:cNvSpPr>
          <p:nvPr/>
        </p:nvSpPr>
        <p:spPr bwMode="auto">
          <a:xfrm>
            <a:off x="1880502" y="3902930"/>
            <a:ext cx="1191300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x={1,3,2}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65" name="Rectangle 37"/>
          <p:cNvSpPr>
            <a:spLocks noChangeArrowheads="1"/>
          </p:cNvSpPr>
          <p:nvPr/>
        </p:nvSpPr>
        <p:spPr bwMode="auto">
          <a:xfrm>
            <a:off x="0" y="3382702"/>
            <a:ext cx="1285851" cy="332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64" name="AutoShape 36"/>
          <p:cNvSpPr>
            <a:spLocks noChangeShapeType="1"/>
          </p:cNvSpPr>
          <p:nvPr/>
        </p:nvSpPr>
        <p:spPr bwMode="auto">
          <a:xfrm flipH="1">
            <a:off x="1016622" y="3258246"/>
            <a:ext cx="532958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63" name="AutoShape 35"/>
          <p:cNvSpPr>
            <a:spLocks noChangeShapeType="1"/>
          </p:cNvSpPr>
          <p:nvPr/>
        </p:nvSpPr>
        <p:spPr bwMode="auto">
          <a:xfrm>
            <a:off x="1955976" y="3258246"/>
            <a:ext cx="418007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61" name="AutoShape 33"/>
          <p:cNvSpPr>
            <a:spLocks noChangeShapeType="1"/>
          </p:cNvSpPr>
          <p:nvPr/>
        </p:nvSpPr>
        <p:spPr bwMode="auto">
          <a:xfrm>
            <a:off x="913282" y="4341017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60" name="Rectangle 32"/>
          <p:cNvSpPr>
            <a:spLocks noChangeArrowheads="1"/>
          </p:cNvSpPr>
          <p:nvPr/>
        </p:nvSpPr>
        <p:spPr bwMode="auto">
          <a:xfrm>
            <a:off x="541720" y="4714386"/>
            <a:ext cx="958446" cy="3576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9" name="AutoShape 31"/>
          <p:cNvSpPr>
            <a:spLocks noChangeShapeType="1"/>
          </p:cNvSpPr>
          <p:nvPr/>
        </p:nvSpPr>
        <p:spPr bwMode="auto">
          <a:xfrm>
            <a:off x="2283414" y="4341017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58" name="Rectangle 30"/>
          <p:cNvSpPr>
            <a:spLocks noChangeArrowheads="1"/>
          </p:cNvSpPr>
          <p:nvPr/>
        </p:nvSpPr>
        <p:spPr bwMode="auto">
          <a:xfrm>
            <a:off x="1880502" y="4714386"/>
            <a:ext cx="905548" cy="286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132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7" name="Rectangle 29"/>
          <p:cNvSpPr>
            <a:spLocks noChangeArrowheads="1"/>
          </p:cNvSpPr>
          <p:nvPr/>
        </p:nvSpPr>
        <p:spPr bwMode="auto">
          <a:xfrm>
            <a:off x="4227144" y="2835094"/>
            <a:ext cx="1202111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x={2,1,3}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6" name="Rectangle 28"/>
          <p:cNvSpPr>
            <a:spLocks noChangeArrowheads="1"/>
          </p:cNvSpPr>
          <p:nvPr/>
        </p:nvSpPr>
        <p:spPr bwMode="auto">
          <a:xfrm>
            <a:off x="3553690" y="3915376"/>
            <a:ext cx="1161186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x={2,1,3}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5" name="Rectangle 27"/>
          <p:cNvSpPr>
            <a:spLocks noChangeArrowheads="1"/>
          </p:cNvSpPr>
          <p:nvPr/>
        </p:nvSpPr>
        <p:spPr bwMode="auto">
          <a:xfrm>
            <a:off x="4911050" y="3915376"/>
            <a:ext cx="1161148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x={2,3,1}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54" name="Rectangle 26"/>
          <p:cNvSpPr>
            <a:spLocks noChangeArrowheads="1"/>
          </p:cNvSpPr>
          <p:nvPr/>
        </p:nvSpPr>
        <p:spPr bwMode="auto">
          <a:xfrm>
            <a:off x="3377198" y="3395148"/>
            <a:ext cx="1123364" cy="3196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  <a:sym typeface="Symbol" pitchFamily="18" charset="2"/>
              </a:rPr>
              <a:t>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x[1]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3753" name="AutoShape 25"/>
          <p:cNvSpPr>
            <a:spLocks noChangeShapeType="1"/>
          </p:cNvSpPr>
          <p:nvPr/>
        </p:nvSpPr>
        <p:spPr bwMode="auto">
          <a:xfrm flipH="1">
            <a:off x="3955440" y="3270691"/>
            <a:ext cx="532958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52" name="AutoShape 24"/>
          <p:cNvSpPr>
            <a:spLocks noChangeShapeType="1"/>
          </p:cNvSpPr>
          <p:nvPr/>
        </p:nvSpPr>
        <p:spPr bwMode="auto">
          <a:xfrm>
            <a:off x="4894794" y="3270691"/>
            <a:ext cx="418007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50" name="AutoShape 22"/>
          <p:cNvSpPr>
            <a:spLocks noChangeShapeType="1"/>
          </p:cNvSpPr>
          <p:nvPr/>
        </p:nvSpPr>
        <p:spPr bwMode="auto">
          <a:xfrm>
            <a:off x="3943829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9" name="Rectangle 21"/>
          <p:cNvSpPr>
            <a:spLocks noChangeArrowheads="1"/>
          </p:cNvSpPr>
          <p:nvPr/>
        </p:nvSpPr>
        <p:spPr bwMode="auto">
          <a:xfrm>
            <a:off x="3540917" y="4726832"/>
            <a:ext cx="959645" cy="2738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213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8" name="AutoShape 20"/>
          <p:cNvSpPr>
            <a:spLocks noChangeShapeType="1"/>
          </p:cNvSpPr>
          <p:nvPr/>
        </p:nvSpPr>
        <p:spPr bwMode="auto">
          <a:xfrm>
            <a:off x="5313962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4911050" y="4726832"/>
            <a:ext cx="1018272" cy="2738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231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6" name="AutoShape 18"/>
          <p:cNvSpPr>
            <a:spLocks noChangeShapeType="1"/>
          </p:cNvSpPr>
          <p:nvPr/>
        </p:nvSpPr>
        <p:spPr bwMode="auto">
          <a:xfrm flipH="1">
            <a:off x="1817801" y="1864334"/>
            <a:ext cx="2729815" cy="95831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4" name="AutoShape 16"/>
          <p:cNvSpPr>
            <a:spLocks noChangeShapeType="1"/>
          </p:cNvSpPr>
          <p:nvPr/>
        </p:nvSpPr>
        <p:spPr bwMode="auto">
          <a:xfrm flipH="1">
            <a:off x="4720625" y="1864334"/>
            <a:ext cx="1161" cy="97076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42" name="Rectangle 14"/>
          <p:cNvSpPr>
            <a:spLocks noChangeArrowheads="1"/>
          </p:cNvSpPr>
          <p:nvPr/>
        </p:nvSpPr>
        <p:spPr bwMode="auto">
          <a:xfrm>
            <a:off x="7048688" y="2835094"/>
            <a:ext cx="1166649" cy="435598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x={3,2,1}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1" name="Rectangle 13"/>
          <p:cNvSpPr>
            <a:spLocks noChangeArrowheads="1"/>
          </p:cNvSpPr>
          <p:nvPr/>
        </p:nvSpPr>
        <p:spPr bwMode="auto">
          <a:xfrm>
            <a:off x="6444900" y="3915376"/>
            <a:ext cx="1127495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x={3,2,1}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40" name="Rectangle 12"/>
          <p:cNvSpPr>
            <a:spLocks noChangeArrowheads="1"/>
          </p:cNvSpPr>
          <p:nvPr/>
        </p:nvSpPr>
        <p:spPr bwMode="auto">
          <a:xfrm>
            <a:off x="7802262" y="3915376"/>
            <a:ext cx="1127456" cy="438087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x={3,1,2}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38" name="AutoShape 10"/>
          <p:cNvSpPr>
            <a:spLocks noChangeShapeType="1"/>
          </p:cNvSpPr>
          <p:nvPr/>
        </p:nvSpPr>
        <p:spPr bwMode="auto">
          <a:xfrm flipH="1">
            <a:off x="6846652" y="3270691"/>
            <a:ext cx="532958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7" name="AutoShape 9"/>
          <p:cNvSpPr>
            <a:spLocks noChangeShapeType="1"/>
          </p:cNvSpPr>
          <p:nvPr/>
        </p:nvSpPr>
        <p:spPr bwMode="auto">
          <a:xfrm>
            <a:off x="7786006" y="3270691"/>
            <a:ext cx="418007" cy="6446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5" name="AutoShape 7"/>
          <p:cNvSpPr>
            <a:spLocks noChangeShapeType="1"/>
          </p:cNvSpPr>
          <p:nvPr/>
        </p:nvSpPr>
        <p:spPr bwMode="auto">
          <a:xfrm>
            <a:off x="6835041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6432129" y="4726832"/>
            <a:ext cx="925953" cy="2738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321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33" name="AutoShape 5"/>
          <p:cNvSpPr>
            <a:spLocks noChangeShapeType="1"/>
          </p:cNvSpPr>
          <p:nvPr/>
        </p:nvSpPr>
        <p:spPr bwMode="auto">
          <a:xfrm>
            <a:off x="8205173" y="4353462"/>
            <a:ext cx="1161" cy="3111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arrow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7802262" y="4726832"/>
            <a:ext cx="984580" cy="34524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输出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312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3731" name="AutoShape 3"/>
          <p:cNvSpPr>
            <a:spLocks noChangeShapeType="1"/>
          </p:cNvSpPr>
          <p:nvPr/>
        </p:nvSpPr>
        <p:spPr bwMode="auto">
          <a:xfrm>
            <a:off x="4942400" y="1864334"/>
            <a:ext cx="2599768" cy="97076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034" y="357166"/>
            <a:ext cx="2500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3}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8F85A2-AF88-2FCF-9B57-26D98DEF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71</a:t>
            </a:fld>
            <a:endParaRPr lang="en-US" altLang="zh-CN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321" y="500042"/>
            <a:ext cx="8658959" cy="4219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n=x.size();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交换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回溯：交换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5143512"/>
            <a:ext cx="3214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初始时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x=a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218C34-EDA4-E615-B3AB-F2135F82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72</a:t>
            </a:fld>
            <a:endParaRPr lang="en-US" altLang="zh-CN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1000108"/>
            <a:ext cx="8358246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</a:t>
            </a:r>
            <a:r>
              <a:rPr lang="zh-CN" altLang="zh-CN" sz="220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算法分析：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两个算法的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时间复杂度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均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441456-3B54-340E-BD12-98411050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73</a:t>
            </a:fld>
            <a:endParaRPr lang="en-US" altLang="zh-CN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42852"/>
            <a:ext cx="521497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latin typeface="Consolas" pitchFamily="49" charset="0"/>
                <a:ea typeface="微软雅黑" pitchFamily="34" charset="-122"/>
              </a:rPr>
              <a:t>5.8.2 </a:t>
            </a:r>
            <a:r>
              <a:rPr lang="zh-CN" altLang="en-US" sz="2800" dirty="0">
                <a:latin typeface="Consolas" pitchFamily="49" charset="0"/>
                <a:ea typeface="微软雅黑" pitchFamily="34" charset="-122"/>
              </a:rPr>
              <a:t>排列</a:t>
            </a:r>
            <a:r>
              <a:rPr lang="zh-CN" altLang="zh-CN" sz="2800" dirty="0">
                <a:latin typeface="Consolas" pitchFamily="49" charset="0"/>
                <a:ea typeface="微软雅黑" pitchFamily="34" charset="-122"/>
              </a:rPr>
              <a:t>树回溯算法框架</a:t>
            </a:r>
            <a:endParaRPr lang="zh-CN" altLang="zh-CN" sz="28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883" y="991861"/>
            <a:ext cx="8801835" cy="558041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x[n];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为解向量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求解排列树的递归框架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i&gt;=n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搜索到叶子结点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产生一个可能解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(j=i;j&lt;=n;j++)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所有可能的路径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n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的操作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constraint(i) &amp;&amp; bound(i)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(i+1);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满足约束条件和限界函数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: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恢复状态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n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回退到第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层结点的操作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5E7FB5-B8F1-7130-08EA-B020FB06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74</a:t>
            </a:fld>
            <a:endParaRPr lang="en-US" altLang="zh-CN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57158" y="1428736"/>
            <a:ext cx="8429684" cy="144497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在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×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  <a:cs typeface="Times New Roman" pitchFamily="18" charset="0"/>
              </a:rPr>
              <a:t>≥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）的方格棋盘上放置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个皇后，并且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所有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皇后不同行、不同列、不同左右对角线（否则称为有冲突）。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要求给出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个皇后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全部解。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7" name="TextBox 6">
            <a:hlinkClick r:id="" action="ppaction://noaction"/>
          </p:cNvPr>
          <p:cNvSpPr txBox="1"/>
          <p:nvPr/>
        </p:nvSpPr>
        <p:spPr>
          <a:xfrm>
            <a:off x="2643174" y="500042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5.9</a:t>
            </a:r>
            <a:r>
              <a:rPr lang="en-US" altLang="zh-CN" sz="2800" i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 n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皇后问题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10" name="组合 58"/>
          <p:cNvGrpSpPr/>
          <p:nvPr/>
        </p:nvGrpSpPr>
        <p:grpSpPr>
          <a:xfrm>
            <a:off x="2857488" y="3143248"/>
            <a:ext cx="2571768" cy="2632923"/>
            <a:chOff x="2643174" y="2500306"/>
            <a:chExt cx="2571768" cy="2632923"/>
          </a:xfrm>
        </p:grpSpPr>
        <p:sp>
          <p:nvSpPr>
            <p:cNvPr id="11" name="Rectangle 49"/>
            <p:cNvSpPr>
              <a:spLocks noChangeArrowheads="1"/>
            </p:cNvSpPr>
            <p:nvPr/>
          </p:nvSpPr>
          <p:spPr bwMode="auto">
            <a:xfrm>
              <a:off x="3392964" y="4778797"/>
              <a:ext cx="348337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3037215" y="4778797"/>
              <a:ext cx="350808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" name="Rectangle 47"/>
            <p:cNvSpPr>
              <a:spLocks noChangeArrowheads="1"/>
            </p:cNvSpPr>
            <p:nvPr/>
          </p:nvSpPr>
          <p:spPr bwMode="auto">
            <a:xfrm>
              <a:off x="4098286" y="4778797"/>
              <a:ext cx="349573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>
              <a:off x="3738831" y="4778797"/>
              <a:ext cx="350808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" name="Rectangle 45"/>
            <p:cNvSpPr>
              <a:spLocks noChangeArrowheads="1"/>
            </p:cNvSpPr>
            <p:nvPr/>
          </p:nvSpPr>
          <p:spPr bwMode="auto">
            <a:xfrm>
              <a:off x="4803607" y="4778797"/>
              <a:ext cx="349573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" name="Rectangle 44"/>
            <p:cNvSpPr>
              <a:spLocks noChangeArrowheads="1"/>
            </p:cNvSpPr>
            <p:nvPr/>
          </p:nvSpPr>
          <p:spPr bwMode="auto">
            <a:xfrm>
              <a:off x="4449094" y="4778797"/>
              <a:ext cx="350808" cy="350727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3392964" y="4416955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" name="Rectangle 42"/>
            <p:cNvSpPr>
              <a:spLocks noChangeArrowheads="1"/>
            </p:cNvSpPr>
            <p:nvPr/>
          </p:nvSpPr>
          <p:spPr bwMode="auto">
            <a:xfrm>
              <a:off x="3037215" y="4416955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" name="Rectangle 41"/>
            <p:cNvSpPr>
              <a:spLocks noChangeArrowheads="1"/>
            </p:cNvSpPr>
            <p:nvPr/>
          </p:nvSpPr>
          <p:spPr bwMode="auto">
            <a:xfrm>
              <a:off x="4098286" y="4416955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>
              <a:off x="3738831" y="4416955"/>
              <a:ext cx="350808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" name="Rectangle 39"/>
            <p:cNvSpPr>
              <a:spLocks noChangeArrowheads="1"/>
            </p:cNvSpPr>
            <p:nvPr/>
          </p:nvSpPr>
          <p:spPr bwMode="auto">
            <a:xfrm>
              <a:off x="4803607" y="4416955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2" name="Rectangle 38"/>
            <p:cNvSpPr>
              <a:spLocks noChangeArrowheads="1"/>
            </p:cNvSpPr>
            <p:nvPr/>
          </p:nvSpPr>
          <p:spPr bwMode="auto">
            <a:xfrm>
              <a:off x="4449094" y="4416955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3" name="Rectangle 37"/>
            <p:cNvSpPr>
              <a:spLocks noChangeArrowheads="1"/>
            </p:cNvSpPr>
            <p:nvPr/>
          </p:nvSpPr>
          <p:spPr bwMode="auto">
            <a:xfrm>
              <a:off x="3392964" y="4057584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4" name="Rectangle 36"/>
            <p:cNvSpPr>
              <a:spLocks noChangeArrowheads="1"/>
            </p:cNvSpPr>
            <p:nvPr/>
          </p:nvSpPr>
          <p:spPr bwMode="auto">
            <a:xfrm>
              <a:off x="3037215" y="4057584"/>
              <a:ext cx="350808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5" name="Rectangle 35"/>
            <p:cNvSpPr>
              <a:spLocks noChangeArrowheads="1"/>
            </p:cNvSpPr>
            <p:nvPr/>
          </p:nvSpPr>
          <p:spPr bwMode="auto">
            <a:xfrm>
              <a:off x="4098286" y="405758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6" name="Rectangle 34"/>
            <p:cNvSpPr>
              <a:spLocks noChangeArrowheads="1"/>
            </p:cNvSpPr>
            <p:nvPr/>
          </p:nvSpPr>
          <p:spPr bwMode="auto">
            <a:xfrm>
              <a:off x="3738831" y="405758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7" name="Rectangle 33"/>
            <p:cNvSpPr>
              <a:spLocks noChangeArrowheads="1"/>
            </p:cNvSpPr>
            <p:nvPr/>
          </p:nvSpPr>
          <p:spPr bwMode="auto">
            <a:xfrm>
              <a:off x="4803607" y="405758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>
              <a:off x="4449094" y="405758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3392964" y="3690802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3037215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4098286" y="3690802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3738831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4803607" y="3690802"/>
              <a:ext cx="349573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4449094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5" name="Rectangle 25"/>
            <p:cNvSpPr>
              <a:spLocks noChangeArrowheads="1"/>
            </p:cNvSpPr>
            <p:nvPr/>
          </p:nvSpPr>
          <p:spPr bwMode="auto">
            <a:xfrm>
              <a:off x="3392964" y="3331430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6" name="Rectangle 24"/>
            <p:cNvSpPr>
              <a:spLocks noChangeArrowheads="1"/>
            </p:cNvSpPr>
            <p:nvPr/>
          </p:nvSpPr>
          <p:spPr bwMode="auto">
            <a:xfrm>
              <a:off x="3037215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7" name="Rectangle 23"/>
            <p:cNvSpPr>
              <a:spLocks noChangeArrowheads="1"/>
            </p:cNvSpPr>
            <p:nvPr/>
          </p:nvSpPr>
          <p:spPr bwMode="auto">
            <a:xfrm>
              <a:off x="4098286" y="3331430"/>
              <a:ext cx="349573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8" name="Rectangle 22"/>
            <p:cNvSpPr>
              <a:spLocks noChangeArrowheads="1"/>
            </p:cNvSpPr>
            <p:nvPr/>
          </p:nvSpPr>
          <p:spPr bwMode="auto">
            <a:xfrm>
              <a:off x="3738831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4803607" y="3331430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0" name="Rectangle 20"/>
            <p:cNvSpPr>
              <a:spLocks noChangeArrowheads="1"/>
            </p:cNvSpPr>
            <p:nvPr/>
          </p:nvSpPr>
          <p:spPr bwMode="auto">
            <a:xfrm>
              <a:off x="4449094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1" name="Rectangle 19"/>
            <p:cNvSpPr>
              <a:spLocks noChangeArrowheads="1"/>
            </p:cNvSpPr>
            <p:nvPr/>
          </p:nvSpPr>
          <p:spPr bwMode="auto">
            <a:xfrm>
              <a:off x="3392964" y="2968354"/>
              <a:ext cx="348337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2" name="Rectangle 18"/>
            <p:cNvSpPr>
              <a:spLocks noChangeArrowheads="1"/>
            </p:cNvSpPr>
            <p:nvPr/>
          </p:nvSpPr>
          <p:spPr bwMode="auto">
            <a:xfrm>
              <a:off x="3037215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3" name="Rectangle 17"/>
            <p:cNvSpPr>
              <a:spLocks noChangeArrowheads="1"/>
            </p:cNvSpPr>
            <p:nvPr/>
          </p:nvSpPr>
          <p:spPr bwMode="auto">
            <a:xfrm>
              <a:off x="4098286" y="296835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4" name="Rectangle 16"/>
            <p:cNvSpPr>
              <a:spLocks noChangeArrowheads="1"/>
            </p:cNvSpPr>
            <p:nvPr/>
          </p:nvSpPr>
          <p:spPr bwMode="auto">
            <a:xfrm>
              <a:off x="3738831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5" name="Rectangle 15"/>
            <p:cNvSpPr>
              <a:spLocks noChangeArrowheads="1"/>
            </p:cNvSpPr>
            <p:nvPr/>
          </p:nvSpPr>
          <p:spPr bwMode="auto">
            <a:xfrm>
              <a:off x="4803607" y="296835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6" name="Rectangle 14"/>
            <p:cNvSpPr>
              <a:spLocks noChangeArrowheads="1"/>
            </p:cNvSpPr>
            <p:nvPr/>
          </p:nvSpPr>
          <p:spPr bwMode="auto">
            <a:xfrm>
              <a:off x="4449094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3405317" y="2500306"/>
              <a:ext cx="348337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8" name="Rectangle 12"/>
            <p:cNvSpPr>
              <a:spLocks noChangeArrowheads="1"/>
            </p:cNvSpPr>
            <p:nvPr/>
          </p:nvSpPr>
          <p:spPr bwMode="auto">
            <a:xfrm>
              <a:off x="3037215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4135343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3763536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1" name="Rectangle 9"/>
            <p:cNvSpPr>
              <a:spLocks noChangeArrowheads="1"/>
            </p:cNvSpPr>
            <p:nvPr/>
          </p:nvSpPr>
          <p:spPr bwMode="auto">
            <a:xfrm>
              <a:off x="4865369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2" name="Rectangle 8"/>
            <p:cNvSpPr>
              <a:spLocks noChangeArrowheads="1"/>
            </p:cNvSpPr>
            <p:nvPr/>
          </p:nvSpPr>
          <p:spPr bwMode="auto">
            <a:xfrm>
              <a:off x="4498503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643174" y="4783737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4" name="Rectangle 6"/>
            <p:cNvSpPr>
              <a:spLocks noChangeArrowheads="1"/>
            </p:cNvSpPr>
            <p:nvPr/>
          </p:nvSpPr>
          <p:spPr bwMode="auto">
            <a:xfrm>
              <a:off x="2643174" y="4420660"/>
              <a:ext cx="349573" cy="34825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2643174" y="4061288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6" name="Rectangle 4"/>
            <p:cNvSpPr>
              <a:spLocks noChangeArrowheads="1"/>
            </p:cNvSpPr>
            <p:nvPr/>
          </p:nvSpPr>
          <p:spPr bwMode="auto">
            <a:xfrm>
              <a:off x="2643174" y="3694507"/>
              <a:ext cx="349573" cy="35072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7" name="Rectangle 3"/>
            <p:cNvSpPr>
              <a:spLocks noChangeArrowheads="1"/>
            </p:cNvSpPr>
            <p:nvPr/>
          </p:nvSpPr>
          <p:spPr bwMode="auto">
            <a:xfrm>
              <a:off x="2643174" y="3335135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8" name="Rectangle 2"/>
            <p:cNvSpPr>
              <a:spLocks noChangeArrowheads="1"/>
            </p:cNvSpPr>
            <p:nvPr/>
          </p:nvSpPr>
          <p:spPr bwMode="auto">
            <a:xfrm>
              <a:off x="2643174" y="2972059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2500298" y="6000768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[0..5]={1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D1E66F-AF37-82D8-BF94-DAA4E9B0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75</a:t>
            </a:fld>
            <a:endParaRPr lang="en-US" altLang="zh-CN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1279317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100" y="922127"/>
            <a:ext cx="7643866" cy="226921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同样用整数数组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皇后问题的求解结果，即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）的值表示第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个皇后所在的列号，即该皇后放在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的位置上。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相当于解向量，显然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的取值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恰好是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的某个排列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97331" name="Rectangle 5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92F1F8-08AB-19BC-211F-F316B455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57224" y="412932"/>
            <a:ext cx="8143932" cy="201593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位置上放第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个的皇后，是否与已放好的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个皇后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有冲突呢？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位置与前面某个皇后同列，则有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如果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位置与前面某个皇后同对角线，则恰好构成一个等腰直角三角形，即有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]-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]|==|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成立。</a:t>
            </a:r>
          </a:p>
        </p:txBody>
      </p:sp>
      <p:sp>
        <p:nvSpPr>
          <p:cNvPr id="9115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14282" y="5214950"/>
            <a:ext cx="8715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归纳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满足以下条件，则存在冲突，否则不冲突：</a:t>
            </a:r>
          </a:p>
          <a:p>
            <a:pPr algn="l">
              <a:lnSpc>
                <a:spcPct val="100000"/>
              </a:lnSpc>
            </a:pP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]==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|| (abs(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]-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)==abs(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-32" y="857232"/>
            <a:ext cx="64291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冲突判断</a:t>
            </a:r>
            <a:endParaRPr lang="zh-CN" altLang="zh-CN" sz="20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31"/>
          <p:cNvGrpSpPr/>
          <p:nvPr/>
        </p:nvGrpSpPr>
        <p:grpSpPr>
          <a:xfrm>
            <a:off x="285720" y="2571744"/>
            <a:ext cx="8429684" cy="2428892"/>
            <a:chOff x="285720" y="2571744"/>
            <a:chExt cx="8429684" cy="2428892"/>
          </a:xfrm>
        </p:grpSpPr>
        <p:sp>
          <p:nvSpPr>
            <p:cNvPr id="91157" name="Text Box 21"/>
            <p:cNvSpPr txBox="1">
              <a:spLocks noChangeArrowheads="1"/>
            </p:cNvSpPr>
            <p:nvPr/>
          </p:nvSpPr>
          <p:spPr bwMode="auto">
            <a:xfrm>
              <a:off x="4929190" y="3546268"/>
              <a:ext cx="1093836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]-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180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6" name="Text Box 20"/>
            <p:cNvSpPr txBox="1">
              <a:spLocks noChangeArrowheads="1"/>
            </p:cNvSpPr>
            <p:nvPr/>
          </p:nvSpPr>
          <p:spPr bwMode="auto">
            <a:xfrm>
              <a:off x="285720" y="4121750"/>
              <a:ext cx="1106425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91154" name="Text Box 18"/>
            <p:cNvSpPr txBox="1">
              <a:spLocks noChangeArrowheads="1"/>
            </p:cNvSpPr>
            <p:nvPr/>
          </p:nvSpPr>
          <p:spPr bwMode="auto">
            <a:xfrm>
              <a:off x="2013225" y="4067767"/>
              <a:ext cx="456455" cy="2447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3" name="Line 17"/>
            <p:cNvSpPr>
              <a:spLocks noChangeShapeType="1"/>
            </p:cNvSpPr>
            <p:nvPr/>
          </p:nvSpPr>
          <p:spPr bwMode="auto">
            <a:xfrm flipH="1">
              <a:off x="1455001" y="2913075"/>
              <a:ext cx="1336443" cy="147415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2" name="AutoShape 16"/>
            <p:cNvSpPr>
              <a:spLocks noChangeArrowheads="1"/>
            </p:cNvSpPr>
            <p:nvPr/>
          </p:nvSpPr>
          <p:spPr bwMode="auto">
            <a:xfrm>
              <a:off x="2680698" y="2871851"/>
              <a:ext cx="148161" cy="163245"/>
            </a:xfrm>
            <a:prstGeom prst="flowChartConnector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1" name="Text Box 15"/>
            <p:cNvSpPr txBox="1">
              <a:spLocks noChangeArrowheads="1"/>
            </p:cNvSpPr>
            <p:nvPr/>
          </p:nvSpPr>
          <p:spPr bwMode="auto">
            <a:xfrm>
              <a:off x="2786050" y="2672863"/>
              <a:ext cx="1066877" cy="32750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])</a:t>
              </a:r>
            </a:p>
          </p:txBody>
        </p:sp>
        <p:sp>
          <p:nvSpPr>
            <p:cNvPr id="91150" name="Line 14"/>
            <p:cNvSpPr>
              <a:spLocks noChangeShapeType="1"/>
            </p:cNvSpPr>
            <p:nvPr/>
          </p:nvSpPr>
          <p:spPr bwMode="auto">
            <a:xfrm>
              <a:off x="1576225" y="4403719"/>
              <a:ext cx="1179302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9" name="Line 13"/>
            <p:cNvSpPr>
              <a:spLocks noChangeShapeType="1"/>
            </p:cNvSpPr>
            <p:nvPr/>
          </p:nvSpPr>
          <p:spPr bwMode="auto">
            <a:xfrm>
              <a:off x="2755526" y="3053236"/>
              <a:ext cx="0" cy="135048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8" name="Text Box 12"/>
            <p:cNvSpPr txBox="1">
              <a:spLocks noChangeArrowheads="1"/>
            </p:cNvSpPr>
            <p:nvPr/>
          </p:nvSpPr>
          <p:spPr bwMode="auto">
            <a:xfrm>
              <a:off x="2786050" y="3524833"/>
              <a:ext cx="1285883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</a:p>
          </p:txBody>
        </p:sp>
        <p:sp>
          <p:nvSpPr>
            <p:cNvPr id="91147" name="Text Box 11"/>
            <p:cNvSpPr txBox="1">
              <a:spLocks noChangeArrowheads="1"/>
            </p:cNvSpPr>
            <p:nvPr/>
          </p:nvSpPr>
          <p:spPr bwMode="auto">
            <a:xfrm>
              <a:off x="6570531" y="4000504"/>
              <a:ext cx="417545" cy="2761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6" name="Text Box 10"/>
            <p:cNvSpPr txBox="1">
              <a:spLocks noChangeArrowheads="1"/>
            </p:cNvSpPr>
            <p:nvPr/>
          </p:nvSpPr>
          <p:spPr bwMode="auto">
            <a:xfrm>
              <a:off x="7568746" y="4049196"/>
              <a:ext cx="1146658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91144" name="AutoShape 8"/>
            <p:cNvSpPr>
              <a:spLocks noChangeArrowheads="1"/>
            </p:cNvSpPr>
            <p:nvPr/>
          </p:nvSpPr>
          <p:spPr bwMode="auto">
            <a:xfrm>
              <a:off x="6081150" y="2819085"/>
              <a:ext cx="148161" cy="163245"/>
            </a:xfrm>
            <a:prstGeom prst="flowChartConnector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3" name="Text Box 7"/>
            <p:cNvSpPr txBox="1">
              <a:spLocks noChangeArrowheads="1"/>
            </p:cNvSpPr>
            <p:nvPr/>
          </p:nvSpPr>
          <p:spPr bwMode="auto">
            <a:xfrm>
              <a:off x="6286512" y="2571744"/>
              <a:ext cx="1214446" cy="2857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])</a:t>
              </a:r>
            </a:p>
          </p:txBody>
        </p:sp>
        <p:sp>
          <p:nvSpPr>
            <p:cNvPr id="91142" name="Line 6"/>
            <p:cNvSpPr>
              <a:spLocks noChangeShapeType="1"/>
            </p:cNvSpPr>
            <p:nvPr/>
          </p:nvSpPr>
          <p:spPr bwMode="auto">
            <a:xfrm>
              <a:off x="6173938" y="4374038"/>
              <a:ext cx="121073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1" name="Line 5"/>
            <p:cNvSpPr>
              <a:spLocks noChangeShapeType="1"/>
            </p:cNvSpPr>
            <p:nvPr/>
          </p:nvSpPr>
          <p:spPr bwMode="auto">
            <a:xfrm>
              <a:off x="6157475" y="3030150"/>
              <a:ext cx="0" cy="135213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0" name="Freeform 4"/>
            <p:cNvSpPr>
              <a:spLocks/>
            </p:cNvSpPr>
            <p:nvPr/>
          </p:nvSpPr>
          <p:spPr bwMode="auto">
            <a:xfrm>
              <a:off x="6212849" y="2954299"/>
              <a:ext cx="1248144" cy="13537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2" y="938"/>
                </a:cxn>
              </a:cxnLst>
              <a:rect l="0" t="0" r="r" b="b"/>
              <a:pathLst>
                <a:path w="952" h="938">
                  <a:moveTo>
                    <a:pt x="0" y="0"/>
                  </a:moveTo>
                  <a:lnTo>
                    <a:pt x="952" y="938"/>
                  </a:lnTo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39" name="Text Box 3"/>
            <p:cNvSpPr txBox="1">
              <a:spLocks noChangeArrowheads="1"/>
            </p:cNvSpPr>
            <p:nvPr/>
          </p:nvSpPr>
          <p:spPr bwMode="auto">
            <a:xfrm>
              <a:off x="1306841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1138" name="Text Box 2"/>
            <p:cNvSpPr txBox="1">
              <a:spLocks noChangeArrowheads="1"/>
            </p:cNvSpPr>
            <p:nvPr/>
          </p:nvSpPr>
          <p:spPr bwMode="auto">
            <a:xfrm>
              <a:off x="6025776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1155" name="AutoShape 19"/>
            <p:cNvSpPr>
              <a:spLocks noChangeArrowheads="1"/>
            </p:cNvSpPr>
            <p:nvPr/>
          </p:nvSpPr>
          <p:spPr bwMode="auto">
            <a:xfrm>
              <a:off x="1393642" y="4311378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5" name="AutoShape 9"/>
            <p:cNvSpPr>
              <a:spLocks noChangeArrowheads="1"/>
            </p:cNvSpPr>
            <p:nvPr/>
          </p:nvSpPr>
          <p:spPr bwMode="auto">
            <a:xfrm>
              <a:off x="7381675" y="4258612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FC51964-993F-F033-AC31-4C8CE567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77</a:t>
            </a:fld>
            <a:endParaRPr lang="en-US" altLang="zh-C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28604"/>
            <a:ext cx="8858312" cy="39926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bool 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j) {       	</a:t>
            </a:r>
            <a:r>
              <a:rPr lang="nb-NO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测试</a:t>
            </a:r>
            <a:r>
              <a:rPr lang="nb-NO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(i,j)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位置能否放置皇后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(i==0) return true;         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总是可以放置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int k=0;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while (k&lt;i) {                  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//k=1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是已放置了皇后的行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nb-NO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(q[k]==j) || (abs(q[k]-j)==abs(i-k))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k++;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E99580-417B-3185-374D-94B5BCCE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78</a:t>
            </a:fld>
            <a:endParaRPr lang="en-US" altLang="zh-CN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28604"/>
            <a:ext cx="8858312" cy="443049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n,int i) {	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(i&gt;=n)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(n);				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所有皇后放置结束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j=i;j&lt;n;j++) {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在第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行上试探每一个列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swap(q[i],q[j]);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放置在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if(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(i,q[i]))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		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swap(q[i],q[j]);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972459-8560-2513-C293-1712A508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79</a:t>
            </a:fld>
            <a:endParaRPr lang="en-US" altLang="zh-CN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785794"/>
            <a:ext cx="8643998" cy="168428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queen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						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皇后问题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for(int i=0;i&lt;n;i++) q[i]=i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      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nb-NO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0-n-1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nb-NO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nb-NO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46AEE2-CD49-2975-4385-DA9F4AF3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80</a:t>
            </a:fld>
            <a:endParaRPr lang="en-US" altLang="zh-CN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857232"/>
            <a:ext cx="8215370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queen(n)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：该算法对应的解空间树是一棵排列树，结点个数为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，每个分支调用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valid()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算法的时间最多为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，所以算法时间复杂度为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E67A9F-D37D-01B9-2524-23E37959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81</a:t>
            </a:fld>
            <a:endParaRPr lang="en-US" altLang="zh-CN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357422" y="428604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5.10 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任务分配问题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501122" cy="216736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8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问题描述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）个任务需要分配给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个人执行，每个任务只能分配给一个人，每个人只能执行一个任务。第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个人执行第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个任务的成本是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）。求出总成本最小的一种分配方案。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8794" y="4071942"/>
          <a:ext cx="5072099" cy="192882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9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56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人员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BF1E50-9399-DF3D-221C-5A611316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82</a:t>
            </a:fld>
            <a:endParaRPr lang="en-US" altLang="zh-CN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142984"/>
            <a:ext cx="64294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0100" y="1078595"/>
            <a:ext cx="7858180" cy="171329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个任务编号均用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每个合适的分配方案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一定是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的一个排列，可以求出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的全排列，每个排列作为一个分配方案，求出其成本，比较找到一个最小成本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bestc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即可。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B81139-EFCE-02B2-29F4-D7CD3CB5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83</a:t>
            </a:fld>
            <a:endParaRPr lang="en-US" altLang="zh-CN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5"/>
          <p:cNvGrpSpPr/>
          <p:nvPr/>
        </p:nvGrpSpPr>
        <p:grpSpPr>
          <a:xfrm>
            <a:off x="1500166" y="714356"/>
            <a:ext cx="4714910" cy="2419546"/>
            <a:chOff x="1214413" y="2571744"/>
            <a:chExt cx="4714910" cy="2419546"/>
          </a:xfrm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1918699" y="3542600"/>
              <a:ext cx="482545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cost</a:t>
              </a: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658601" y="2978312"/>
              <a:ext cx="3199281" cy="6086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这里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swap(x[i],x[j])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表示人员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安排任务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x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2371372" y="2582259"/>
              <a:ext cx="390632" cy="397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4189862" y="2571744"/>
              <a:ext cx="828369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层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371372" y="3763408"/>
              <a:ext cx="389483" cy="399558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AutoShape 10"/>
            <p:cNvSpPr>
              <a:spLocks noChangeShapeType="1"/>
            </p:cNvSpPr>
            <p:nvPr/>
          </p:nvSpPr>
          <p:spPr bwMode="auto">
            <a:xfrm>
              <a:off x="2566688" y="2979480"/>
              <a:ext cx="1149" cy="78392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Oval 9"/>
            <p:cNvSpPr>
              <a:spLocks noChangeArrowheads="1"/>
            </p:cNvSpPr>
            <p:nvPr/>
          </p:nvSpPr>
          <p:spPr bwMode="auto">
            <a:xfrm>
              <a:off x="2371372" y="4591732"/>
              <a:ext cx="389483" cy="399558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3857620" y="3857628"/>
              <a:ext cx="1160612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层</a:t>
              </a: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3463223" y="4617434"/>
              <a:ext cx="2466100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第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层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叶子结点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17" name="AutoShape 6"/>
            <p:cNvSpPr>
              <a:spLocks noChangeShapeType="1"/>
            </p:cNvSpPr>
            <p:nvPr/>
          </p:nvSpPr>
          <p:spPr bwMode="auto">
            <a:xfrm>
              <a:off x="2566688" y="4162966"/>
              <a:ext cx="1149" cy="42876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AutoShape 5"/>
            <p:cNvSpPr>
              <a:spLocks/>
            </p:cNvSpPr>
            <p:nvPr/>
          </p:nvSpPr>
          <p:spPr bwMode="auto">
            <a:xfrm>
              <a:off x="2138142" y="4077680"/>
              <a:ext cx="164295" cy="675276"/>
            </a:xfrm>
            <a:prstGeom prst="leftBrace">
              <a:avLst>
                <a:gd name="adj1" fmla="val 33683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1330454" y="4244747"/>
              <a:ext cx="828369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minsum</a:t>
              </a:r>
            </a:p>
          </p:txBody>
        </p:sp>
        <p:sp>
          <p:nvSpPr>
            <p:cNvPr id="20" name="AutoShape 3"/>
            <p:cNvSpPr>
              <a:spLocks noChangeShapeType="1"/>
            </p:cNvSpPr>
            <p:nvPr/>
          </p:nvSpPr>
          <p:spPr bwMode="auto">
            <a:xfrm flipH="1">
              <a:off x="1549897" y="2921065"/>
              <a:ext cx="878922" cy="86337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Rectangle 2"/>
            <p:cNvSpPr>
              <a:spLocks noChangeArrowheads="1"/>
            </p:cNvSpPr>
            <p:nvPr/>
          </p:nvSpPr>
          <p:spPr bwMode="auto">
            <a:xfrm>
              <a:off x="1214413" y="3574144"/>
              <a:ext cx="411312" cy="303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00034" y="214290"/>
            <a:ext cx="8286808" cy="46166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仅仅扩展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bound(x,cost,i+1)&lt;bestc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的孩子结点。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2844" y="3357562"/>
            <a:ext cx="8786874" cy="33770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bound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cost,int i)	{			</a:t>
            </a:r>
            <a:r>
              <a:rPr lang="en-US" altLang="zh-CN" sz="2000" b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b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求下界算法</a:t>
            </a: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int minsum=0;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for (int i1=i;i1&lt;n;i1++) {		</a:t>
            </a:r>
            <a:r>
              <a:rPr lang="en-US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c[i..n-1]</a:t>
            </a:r>
            <a:r>
              <a:rPr lang="zh-CN" altLang="zh-CN" sz="2000" b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行中最小元素和</a:t>
            </a: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	int minc=INF;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	for (int j1=0;j1&lt;n;j1++) {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		if (used[x[j1]]==false &amp;&amp; c[i1][x[j1]]&lt;minc)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		minc=c[i1][x[j1]];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	minsum+=minc;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	return cost+minsum;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1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B92E518-6942-53B4-F072-2459B346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84</a:t>
            </a:fld>
            <a:endParaRPr lang="en-US" altLang="zh-CN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763625"/>
            <a:ext cx="8786874" cy="283845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cost,int i)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if (i&gt;=n) {				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到达一个叶子结点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cost&lt;bestc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     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比较求最优解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bestc=cost;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0A0ACA-B6BE-8F68-8F8B-A0C98889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85</a:t>
            </a:fld>
            <a:endParaRPr lang="en-US" altLang="zh-CN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285728"/>
            <a:ext cx="8786874" cy="55314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j=i;j&lt;n;j++)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为人员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试探任务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为人员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分配任务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used[x[i]]=true;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cost+=c[i][x[i]];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bound(cost,i+1)&lt;bestc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(cost,i+1);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继续为人员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i+1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分配任务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cost-=c[i][x[i]];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//cost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used[x[i]]=false;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//used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swap(x[i],x[j]);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107E55-6B1D-BC9A-FFEA-7780298B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86</a:t>
            </a:fld>
            <a:endParaRPr lang="en-US" altLang="zh-CN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57158" y="1285860"/>
            <a:ext cx="8429684" cy="128496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allocate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：该算法的解空间树是一棵排列树，结点个数为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，剪支操作的时间为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47F8C9-020B-E038-5935-C5675C8C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571736" y="357166"/>
            <a:ext cx="3929090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5.11 </a:t>
            </a:r>
            <a:r>
              <a:rPr lang="zh-CN" altLang="en-US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zh-CN" sz="280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问题</a:t>
            </a:r>
            <a:endParaRPr lang="zh-CN" altLang="en-US" sz="2800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429684" cy="160310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36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假设有一个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旅行商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要拜访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个城市，他必须选择所要走的路径，路径的限制是每个城市只能拜访一次，而且最后要回到原来出发的城市，要求路径长度最短的路径。</a:t>
            </a:r>
          </a:p>
        </p:txBody>
      </p:sp>
      <p:grpSp>
        <p:nvGrpSpPr>
          <p:cNvPr id="2" name="组合 98"/>
          <p:cNvGrpSpPr/>
          <p:nvPr/>
        </p:nvGrpSpPr>
        <p:grpSpPr>
          <a:xfrm>
            <a:off x="785786" y="3286123"/>
            <a:ext cx="7286676" cy="2432914"/>
            <a:chOff x="1214414" y="3429000"/>
            <a:chExt cx="6286544" cy="2000264"/>
          </a:xfrm>
        </p:grpSpPr>
        <p:sp>
          <p:nvSpPr>
            <p:cNvPr id="6" name="Text Box 29"/>
            <p:cNvSpPr txBox="1">
              <a:spLocks noChangeArrowheads="1"/>
            </p:cNvSpPr>
            <p:nvPr/>
          </p:nvSpPr>
          <p:spPr bwMode="auto">
            <a:xfrm>
              <a:off x="1940597" y="4749139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7" name="Text Box 28"/>
            <p:cNvSpPr txBox="1">
              <a:spLocks noChangeArrowheads="1"/>
            </p:cNvSpPr>
            <p:nvPr/>
          </p:nvSpPr>
          <p:spPr bwMode="auto">
            <a:xfrm>
              <a:off x="1745503" y="4536871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8" name="Text Box 27"/>
            <p:cNvSpPr txBox="1">
              <a:spLocks noChangeArrowheads="1"/>
            </p:cNvSpPr>
            <p:nvPr/>
          </p:nvSpPr>
          <p:spPr bwMode="auto">
            <a:xfrm>
              <a:off x="1774767" y="4223883"/>
              <a:ext cx="247119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9" name="Text Box 26"/>
            <p:cNvSpPr txBox="1">
              <a:spLocks noChangeArrowheads="1"/>
            </p:cNvSpPr>
            <p:nvPr/>
          </p:nvSpPr>
          <p:spPr bwMode="auto">
            <a:xfrm>
              <a:off x="2056569" y="3941220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36</a:t>
              </a:r>
            </a:p>
          </p:txBody>
        </p:sp>
        <p:sp>
          <p:nvSpPr>
            <p:cNvPr id="10" name="Text Box 25"/>
            <p:cNvSpPr txBox="1">
              <a:spLocks noChangeArrowheads="1"/>
            </p:cNvSpPr>
            <p:nvPr/>
          </p:nvSpPr>
          <p:spPr bwMode="auto">
            <a:xfrm>
              <a:off x="1498384" y="4328934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1214414" y="433218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485776" y="3789599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2485776" y="3500438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1318464" y="365205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5" name="Oval 20"/>
            <p:cNvSpPr>
              <a:spLocks noChangeArrowheads="1"/>
            </p:cNvSpPr>
            <p:nvPr/>
          </p:nvSpPr>
          <p:spPr bwMode="auto">
            <a:xfrm>
              <a:off x="1318464" y="4978735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3165353" y="3620651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3165353" y="494732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1704316" y="3836169"/>
              <a:ext cx="1475126" cy="10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1684807" y="3758192"/>
              <a:ext cx="1475126" cy="1083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2274424" y="518342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2274424" y="485527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23" name="Freeform 13"/>
            <p:cNvSpPr>
              <a:spLocks/>
            </p:cNvSpPr>
            <p:nvPr/>
          </p:nvSpPr>
          <p:spPr bwMode="auto">
            <a:xfrm>
              <a:off x="1689142" y="5204000"/>
              <a:ext cx="1475126" cy="216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1679388" y="5118443"/>
              <a:ext cx="1475126" cy="1083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1442023" y="4023528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1531983" y="3995370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3370201" y="429969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3068889" y="4304025"/>
              <a:ext cx="244951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9" name="Line 7"/>
            <p:cNvSpPr>
              <a:spLocks noChangeShapeType="1"/>
            </p:cNvSpPr>
            <p:nvPr/>
          </p:nvSpPr>
          <p:spPr bwMode="auto">
            <a:xfrm>
              <a:off x="3316008" y="3974793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0" name="Line 6"/>
            <p:cNvSpPr>
              <a:spLocks noChangeShapeType="1"/>
            </p:cNvSpPr>
            <p:nvPr/>
          </p:nvSpPr>
          <p:spPr bwMode="auto">
            <a:xfrm flipV="1">
              <a:off x="3394046" y="3971544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1669633" y="3919560"/>
              <a:ext cx="1549912" cy="10667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2" name="Freeform 4"/>
            <p:cNvSpPr>
              <a:spLocks/>
            </p:cNvSpPr>
            <p:nvPr/>
          </p:nvSpPr>
          <p:spPr bwMode="auto">
            <a:xfrm>
              <a:off x="1581841" y="3997536"/>
              <a:ext cx="1585680" cy="106025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3" name="Freeform 3"/>
            <p:cNvSpPr>
              <a:spLocks/>
            </p:cNvSpPr>
            <p:nvPr/>
          </p:nvSpPr>
          <p:spPr bwMode="auto">
            <a:xfrm>
              <a:off x="1564499" y="3907647"/>
              <a:ext cx="1629034" cy="1080836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4" name="Freeform 2"/>
            <p:cNvSpPr>
              <a:spLocks/>
            </p:cNvSpPr>
            <p:nvPr/>
          </p:nvSpPr>
          <p:spPr bwMode="auto">
            <a:xfrm>
              <a:off x="1633866" y="3959631"/>
              <a:ext cx="1611692" cy="106784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14810" y="3429000"/>
              <a:ext cx="3286148" cy="1923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28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26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23</a:t>
              </a:r>
              <a:endParaRPr lang="zh-CN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A5CFAC-2EDA-09CF-908B-FA0FB8DF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88</a:t>
            </a:fld>
            <a:endParaRPr lang="en-US" altLang="zh-CN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088769"/>
            <a:ext cx="57150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0100" y="714356"/>
            <a:ext cx="7786742" cy="225702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存储带权图。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起点为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设计解向量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），每个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表示一个图中顶点，实际上每个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表示一条路径，初始时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置为起点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为其他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个顶点编号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1500166" y="3429000"/>
            <a:ext cx="535193" cy="53758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733162" y="4429132"/>
            <a:ext cx="3638996" cy="36049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共经过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个顶点，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1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不重复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2515296" y="3429000"/>
            <a:ext cx="535193" cy="53758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baseline="-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577788" y="3429000"/>
            <a:ext cx="536772" cy="53758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baseline="-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5813285" y="3429000"/>
            <a:ext cx="626760" cy="53441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1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6940505" y="3429000"/>
            <a:ext cx="535193" cy="5360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s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4" name="AutoShape 6"/>
          <p:cNvSpPr>
            <a:spLocks noChangeShapeType="1"/>
          </p:cNvSpPr>
          <p:nvPr/>
        </p:nvSpPr>
        <p:spPr bwMode="auto">
          <a:xfrm>
            <a:off x="2035359" y="3697791"/>
            <a:ext cx="479937" cy="1581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5" name="AutoShape 5"/>
          <p:cNvSpPr>
            <a:spLocks noChangeShapeType="1"/>
          </p:cNvSpPr>
          <p:nvPr/>
        </p:nvSpPr>
        <p:spPr bwMode="auto">
          <a:xfrm>
            <a:off x="3050489" y="3697791"/>
            <a:ext cx="527299" cy="1581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6" name="AutoShape 4"/>
          <p:cNvSpPr>
            <a:spLocks noChangeShapeType="1"/>
          </p:cNvSpPr>
          <p:nvPr/>
        </p:nvSpPr>
        <p:spPr bwMode="auto">
          <a:xfrm flipV="1">
            <a:off x="4114560" y="3696210"/>
            <a:ext cx="1698725" cy="1581"/>
          </a:xfrm>
          <a:prstGeom prst="straightConnector1">
            <a:avLst/>
          </a:prstGeom>
          <a:noFill/>
          <a:ln w="28575">
            <a:solidFill>
              <a:srgbClr val="FF00FF"/>
            </a:solidFill>
            <a:prstDash val="dash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7" name="AutoShape 3"/>
          <p:cNvSpPr>
            <a:spLocks noChangeShapeType="1"/>
          </p:cNvSpPr>
          <p:nvPr/>
        </p:nvSpPr>
        <p:spPr bwMode="auto">
          <a:xfrm>
            <a:off x="6440044" y="3696210"/>
            <a:ext cx="500461" cy="1581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8" name="AutoShape 2"/>
          <p:cNvSpPr>
            <a:spLocks/>
          </p:cNvSpPr>
          <p:nvPr/>
        </p:nvSpPr>
        <p:spPr bwMode="auto">
          <a:xfrm rot="16200000">
            <a:off x="4333773" y="2526569"/>
            <a:ext cx="308319" cy="3373768"/>
          </a:xfrm>
          <a:prstGeom prst="leftBrace">
            <a:avLst>
              <a:gd name="adj1" fmla="val 9132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57356" y="4929198"/>
            <a:ext cx="58579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TSP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路径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～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-1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为非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n-1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个顶点的排列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310E50-2537-3CF0-1D7E-720848F5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89</a:t>
            </a:fld>
            <a:endParaRPr lang="en-US" altLang="zh-CN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2060381" y="1382133"/>
            <a:ext cx="1857388" cy="2857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baseline="-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=s=0,d=0</a:t>
            </a:r>
          </a:p>
        </p:txBody>
      </p:sp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425" name="Rectangle 17"/>
          <p:cNvSpPr>
            <a:spLocks noChangeArrowheads="1"/>
          </p:cNvSpPr>
          <p:nvPr/>
        </p:nvSpPr>
        <p:spPr bwMode="auto">
          <a:xfrm>
            <a:off x="1285852" y="1948308"/>
            <a:ext cx="1836351" cy="63698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0→1</a:t>
            </a:r>
            <a:r>
              <a:rPr kumimoji="0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d+=A[0][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</a:p>
        </p:txBody>
      </p:sp>
      <p:sp>
        <p:nvSpPr>
          <p:cNvPr id="17424" name="Rectangle 16"/>
          <p:cNvSpPr>
            <a:spLocks noChangeArrowheads="1"/>
          </p:cNvSpPr>
          <p:nvPr/>
        </p:nvSpPr>
        <p:spPr bwMode="auto">
          <a:xfrm>
            <a:off x="4304346" y="2019746"/>
            <a:ext cx="2125041" cy="56554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kumimoji="0"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0→</a:t>
            </a:r>
            <a:r>
              <a:rPr kumimoji="0" lang="en-US" altLang="zh-CN" sz="20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kumimoji="0"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 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d+=A[0][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</a:p>
        </p:txBody>
      </p:sp>
      <p:sp>
        <p:nvSpPr>
          <p:cNvPr id="17423" name="Oval 15"/>
          <p:cNvSpPr>
            <a:spLocks noChangeArrowheads="1"/>
          </p:cNvSpPr>
          <p:nvPr/>
        </p:nvSpPr>
        <p:spPr bwMode="auto">
          <a:xfrm>
            <a:off x="3615351" y="1815899"/>
            <a:ext cx="402212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6402321" y="1799472"/>
            <a:ext cx="1527265" cy="35719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层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kumimoji="0"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endParaRPr kumimoji="0" lang="zh-CN" altLang="en-US" sz="20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21" name="AutoShape 13"/>
          <p:cNvSpPr>
            <a:spLocks noChangeShapeType="1"/>
          </p:cNvSpPr>
          <p:nvPr/>
        </p:nvSpPr>
        <p:spPr bwMode="auto">
          <a:xfrm flipH="1">
            <a:off x="2592616" y="2113640"/>
            <a:ext cx="1082058" cy="87474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2249727" y="2937048"/>
            <a:ext cx="402212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3604673" y="2937048"/>
            <a:ext cx="404585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6402321" y="2967491"/>
            <a:ext cx="739169" cy="266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层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2842614" y="2982223"/>
            <a:ext cx="493571" cy="266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itchFamily="18" charset="0"/>
              </a:rPr>
              <a:t>…</a:t>
            </a:r>
          </a:p>
        </p:txBody>
      </p:sp>
      <p:sp>
        <p:nvSpPr>
          <p:cNvPr id="17416" name="AutoShape 8"/>
          <p:cNvSpPr>
            <a:spLocks noChangeShapeType="1"/>
          </p:cNvSpPr>
          <p:nvPr/>
        </p:nvSpPr>
        <p:spPr bwMode="auto">
          <a:xfrm flipH="1">
            <a:off x="3807558" y="2164974"/>
            <a:ext cx="9492" cy="77207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4954872" y="2937048"/>
            <a:ext cx="404585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4244178" y="2982223"/>
            <a:ext cx="493571" cy="2669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itchFamily="18" charset="0"/>
              </a:rPr>
              <a:t>…</a:t>
            </a:r>
          </a:p>
        </p:txBody>
      </p:sp>
      <p:sp>
        <p:nvSpPr>
          <p:cNvPr id="17413" name="AutoShape 5"/>
          <p:cNvSpPr>
            <a:spLocks noChangeShapeType="1"/>
          </p:cNvSpPr>
          <p:nvPr/>
        </p:nvSpPr>
        <p:spPr bwMode="auto">
          <a:xfrm>
            <a:off x="3958239" y="2113640"/>
            <a:ext cx="1055956" cy="87474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0034" y="4071942"/>
            <a:ext cx="8001024" cy="93625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288000" indent="-288000" algn="l">
              <a:lnSpc>
                <a:spcPts val="28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中的某个值后当前路径长度为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22" name="Oval 15"/>
          <p:cNvSpPr>
            <a:spLocks noChangeArrowheads="1"/>
          </p:cNvSpPr>
          <p:nvPr/>
        </p:nvSpPr>
        <p:spPr bwMode="auto">
          <a:xfrm>
            <a:off x="3620728" y="942216"/>
            <a:ext cx="402212" cy="349076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7158" y="357166"/>
            <a:ext cx="12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假设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s=0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cxnSp>
        <p:nvCxnSpPr>
          <p:cNvPr id="26" name="直接连接符 25"/>
          <p:cNvCxnSpPr>
            <a:stCxn id="22" idx="4"/>
            <a:endCxn id="17423" idx="0"/>
          </p:cNvCxnSpPr>
          <p:nvPr/>
        </p:nvCxnSpPr>
        <p:spPr>
          <a:xfrm rot="5400000">
            <a:off x="3556843" y="1550907"/>
            <a:ext cx="524607" cy="5377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6357951" y="889590"/>
            <a:ext cx="1500198" cy="3383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第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层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kumimoji="0"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x</a:t>
            </a:r>
            <a:r>
              <a:rPr kumimoji="0" lang="en-US" altLang="zh-CN" sz="2000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endParaRPr kumimoji="0" lang="zh-CN" altLang="en-US" sz="20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D16868-7BCB-A712-A93A-C71E80DC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000108"/>
            <a:ext cx="8643998" cy="273482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08000" bIns="108000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当搜索到达某个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叶子结点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），对应的路径长度是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-1]][s]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（因为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路径是闭合的回路），对应的路径是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{s}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。通过长度的比较求最优解。</a:t>
            </a:r>
          </a:p>
          <a:p>
            <a:pPr marL="457200" indent="-457200" algn="l">
              <a:lnSpc>
                <a:spcPts val="30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剪支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若当前已经求出最短路径长度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bestd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，如果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值，对应的路径长度为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，仅仅扩展满足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d+A[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-1]][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]]&lt;bestd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的路径。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42E6BF-518A-E3C3-FB90-312139F0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428604"/>
            <a:ext cx="8643998" cy="47959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x;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解向量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 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bestx;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保存最短路径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d;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路径的长度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bestd=INF;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保存最短路径长度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s,int i)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回溯算法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if(i&gt;=n)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达到一个叶子结点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d+A[x[n-1]][s]&lt;bestd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比较求最优解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bestd=d+A[x[n-1]][s];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长度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bestx=x;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更新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bestx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bestx.push_back(s);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末尾添加起始点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D52185-2534-5876-9572-90C9C1C8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428604"/>
            <a:ext cx="8643998" cy="550770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j=i;j&lt;n;j++)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试探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走到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的分支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A[x[i-1]][x[j]]!=0 &amp;&amp; A[x[i-1]][x[j]]!=INF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//x[i-1]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有边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d+A[x[i-1]][x[j]]&lt;bestd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剪支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swap(x[i],x[j]);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d+=A[x[i-1]][x[i]];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(A,s,i+1);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d-=A[x[i-1]][x[i]];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swap(x[i],x[j]);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7207A6-6A6D-C006-D117-C68FCCD1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428604"/>
            <a:ext cx="8643998" cy="55314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TSP(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起始点为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x.push_back(s);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添加起始顶点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i=0;i&lt;n;i++)	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的顶点添加到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if(i!=s) x.push_back(i);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d=0;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dfs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(A,s,1);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x[1]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开始求解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最短路径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");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输出最短路径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j=0;j&lt;bestx.size();j++)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if(j==0)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printf("%d",bestx[j]);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printf("-&gt;%d",bestx[j]);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printf("\n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%d\n",bestd);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409B81-41B5-21BE-DD2A-00AE4713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5"/>
          <p:cNvSpPr txBox="1"/>
          <p:nvPr/>
        </p:nvSpPr>
        <p:spPr>
          <a:xfrm>
            <a:off x="500034" y="428604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grpSp>
        <p:nvGrpSpPr>
          <p:cNvPr id="2" name="组合 38"/>
          <p:cNvGrpSpPr/>
          <p:nvPr/>
        </p:nvGrpSpPr>
        <p:grpSpPr>
          <a:xfrm>
            <a:off x="2214546" y="357166"/>
            <a:ext cx="2714644" cy="2143140"/>
            <a:chOff x="1214414" y="3500438"/>
            <a:chExt cx="2402906" cy="1928826"/>
          </a:xfrm>
        </p:grpSpPr>
        <p:sp>
          <p:nvSpPr>
            <p:cNvPr id="40" name="Text Box 29"/>
            <p:cNvSpPr txBox="1">
              <a:spLocks noChangeArrowheads="1"/>
            </p:cNvSpPr>
            <p:nvPr/>
          </p:nvSpPr>
          <p:spPr bwMode="auto">
            <a:xfrm>
              <a:off x="1940597" y="4749139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1745503" y="4536871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42" name="Text Box 27"/>
            <p:cNvSpPr txBox="1">
              <a:spLocks noChangeArrowheads="1"/>
            </p:cNvSpPr>
            <p:nvPr/>
          </p:nvSpPr>
          <p:spPr bwMode="auto">
            <a:xfrm>
              <a:off x="1774767" y="4223883"/>
              <a:ext cx="247119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43" name="Text Box 26"/>
            <p:cNvSpPr txBox="1">
              <a:spLocks noChangeArrowheads="1"/>
            </p:cNvSpPr>
            <p:nvPr/>
          </p:nvSpPr>
          <p:spPr bwMode="auto">
            <a:xfrm>
              <a:off x="2056569" y="3941220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36</a:t>
              </a:r>
            </a:p>
          </p:txBody>
        </p:sp>
        <p:sp>
          <p:nvSpPr>
            <p:cNvPr id="44" name="Text Box 25"/>
            <p:cNvSpPr txBox="1">
              <a:spLocks noChangeArrowheads="1"/>
            </p:cNvSpPr>
            <p:nvPr/>
          </p:nvSpPr>
          <p:spPr bwMode="auto">
            <a:xfrm>
              <a:off x="1498384" y="4328934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5" name="Text Box 24"/>
            <p:cNvSpPr txBox="1">
              <a:spLocks noChangeArrowheads="1"/>
            </p:cNvSpPr>
            <p:nvPr/>
          </p:nvSpPr>
          <p:spPr bwMode="auto">
            <a:xfrm>
              <a:off x="1214414" y="433218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6" name="Text Box 23"/>
            <p:cNvSpPr txBox="1">
              <a:spLocks noChangeArrowheads="1"/>
            </p:cNvSpPr>
            <p:nvPr/>
          </p:nvSpPr>
          <p:spPr bwMode="auto">
            <a:xfrm>
              <a:off x="2485776" y="3789599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2485776" y="3500438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48" name="Oval 21"/>
            <p:cNvSpPr>
              <a:spLocks noChangeArrowheads="1"/>
            </p:cNvSpPr>
            <p:nvPr/>
          </p:nvSpPr>
          <p:spPr bwMode="auto">
            <a:xfrm>
              <a:off x="1318464" y="365205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318464" y="4978735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3165353" y="3620651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3165353" y="494732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" name="Freeform 17"/>
            <p:cNvSpPr>
              <a:spLocks/>
            </p:cNvSpPr>
            <p:nvPr/>
          </p:nvSpPr>
          <p:spPr bwMode="auto">
            <a:xfrm>
              <a:off x="1704316" y="3836169"/>
              <a:ext cx="1475126" cy="10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3" name="Freeform 16"/>
            <p:cNvSpPr>
              <a:spLocks/>
            </p:cNvSpPr>
            <p:nvPr/>
          </p:nvSpPr>
          <p:spPr bwMode="auto">
            <a:xfrm>
              <a:off x="1684807" y="3758192"/>
              <a:ext cx="1475126" cy="1083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2274424" y="518342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55" name="Text Box 14"/>
            <p:cNvSpPr txBox="1">
              <a:spLocks noChangeArrowheads="1"/>
            </p:cNvSpPr>
            <p:nvPr/>
          </p:nvSpPr>
          <p:spPr bwMode="auto">
            <a:xfrm>
              <a:off x="2274424" y="485527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56" name="Freeform 13"/>
            <p:cNvSpPr>
              <a:spLocks/>
            </p:cNvSpPr>
            <p:nvPr/>
          </p:nvSpPr>
          <p:spPr bwMode="auto">
            <a:xfrm>
              <a:off x="1689142" y="5204000"/>
              <a:ext cx="1475126" cy="216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1679388" y="5118443"/>
              <a:ext cx="1475126" cy="1083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8" name="Line 11"/>
            <p:cNvSpPr>
              <a:spLocks noChangeShapeType="1"/>
            </p:cNvSpPr>
            <p:nvPr/>
          </p:nvSpPr>
          <p:spPr bwMode="auto">
            <a:xfrm>
              <a:off x="1442023" y="4023528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 flipV="1">
              <a:off x="1531983" y="3995370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0" name="Text Box 9"/>
            <p:cNvSpPr txBox="1">
              <a:spLocks noChangeArrowheads="1"/>
            </p:cNvSpPr>
            <p:nvPr/>
          </p:nvSpPr>
          <p:spPr bwMode="auto">
            <a:xfrm>
              <a:off x="3370201" y="429969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61" name="Text Box 8"/>
            <p:cNvSpPr txBox="1">
              <a:spLocks noChangeArrowheads="1"/>
            </p:cNvSpPr>
            <p:nvPr/>
          </p:nvSpPr>
          <p:spPr bwMode="auto">
            <a:xfrm>
              <a:off x="3068889" y="4304025"/>
              <a:ext cx="244951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62" name="Line 7"/>
            <p:cNvSpPr>
              <a:spLocks noChangeShapeType="1"/>
            </p:cNvSpPr>
            <p:nvPr/>
          </p:nvSpPr>
          <p:spPr bwMode="auto">
            <a:xfrm>
              <a:off x="3316008" y="3974793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3" name="Line 6"/>
            <p:cNvSpPr>
              <a:spLocks noChangeShapeType="1"/>
            </p:cNvSpPr>
            <p:nvPr/>
          </p:nvSpPr>
          <p:spPr bwMode="auto">
            <a:xfrm flipV="1">
              <a:off x="3394046" y="3971544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4" name="Freeform 5"/>
            <p:cNvSpPr>
              <a:spLocks/>
            </p:cNvSpPr>
            <p:nvPr/>
          </p:nvSpPr>
          <p:spPr bwMode="auto">
            <a:xfrm>
              <a:off x="1669633" y="3919560"/>
              <a:ext cx="1549912" cy="10667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5" name="Freeform 4"/>
            <p:cNvSpPr>
              <a:spLocks/>
            </p:cNvSpPr>
            <p:nvPr/>
          </p:nvSpPr>
          <p:spPr bwMode="auto">
            <a:xfrm>
              <a:off x="1581841" y="3997536"/>
              <a:ext cx="1585680" cy="106025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6" name="Freeform 3"/>
            <p:cNvSpPr>
              <a:spLocks/>
            </p:cNvSpPr>
            <p:nvPr/>
          </p:nvSpPr>
          <p:spPr bwMode="auto">
            <a:xfrm>
              <a:off x="1564499" y="3907647"/>
              <a:ext cx="1629034" cy="1080836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67" name="Freeform 2"/>
            <p:cNvSpPr>
              <a:spLocks/>
            </p:cNvSpPr>
            <p:nvPr/>
          </p:nvSpPr>
          <p:spPr bwMode="auto">
            <a:xfrm>
              <a:off x="1633866" y="3959631"/>
              <a:ext cx="1611692" cy="106784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14480" y="3214686"/>
            <a:ext cx="408646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下箭头 36"/>
          <p:cNvSpPr/>
          <p:nvPr/>
        </p:nvSpPr>
        <p:spPr>
          <a:xfrm>
            <a:off x="3428992" y="2643182"/>
            <a:ext cx="285752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F46896-1EA3-FDA5-5047-4A10E6E2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95</a:t>
            </a:fld>
            <a:endParaRPr lang="en-US" altLang="zh-CN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71472" y="1142984"/>
            <a:ext cx="8143932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算法中求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共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个元素的全排列，解空间中结点个数为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-1)!)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叶子结点的个数同级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到达叶子结点时进行路径长度比较并执行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bestx=x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实现路径复制的时间为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-1)!)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grpSp>
        <p:nvGrpSpPr>
          <p:cNvPr id="2" name="组合 7"/>
          <p:cNvGrpSpPr/>
          <p:nvPr/>
        </p:nvGrpSpPr>
        <p:grpSpPr>
          <a:xfrm>
            <a:off x="2571736" y="4357694"/>
            <a:ext cx="4357718" cy="1762125"/>
            <a:chOff x="714348" y="3357562"/>
            <a:chExt cx="4357718" cy="1762125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4348" y="3357562"/>
              <a:ext cx="1019175" cy="176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1857356" y="3929066"/>
              <a:ext cx="3214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  <a:cs typeface="Consolas" pitchFamily="49" charset="0"/>
                </a:rPr>
                <a:t>如何提高剪支效率！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928926" y="428604"/>
            <a:ext cx="314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TSP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9100EB-1FD4-A5EC-4DD0-BC01D8B8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non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itchFamily="49" charset="0"/>
            <a:ea typeface="楷体" pitchFamily="49" charset="-122"/>
            <a:cs typeface="Consolas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8602</TotalTime>
  <Words>11416</Words>
  <Application>Microsoft Office PowerPoint</Application>
  <PresentationFormat>全屏显示(4:3)</PresentationFormat>
  <Paragraphs>1405</Paragraphs>
  <Slides>96</Slides>
  <Notes>62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05" baseType="lpstr">
      <vt:lpstr>仿宋</vt:lpstr>
      <vt:lpstr>华文中宋</vt:lpstr>
      <vt:lpstr>楷体</vt:lpstr>
      <vt:lpstr>微软雅黑</vt:lpstr>
      <vt:lpstr>Arial</vt:lpstr>
      <vt:lpstr>Calibri</vt:lpstr>
      <vt:lpstr>Consolas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FZZ</cp:lastModifiedBy>
  <cp:revision>1946</cp:revision>
  <dcterms:created xsi:type="dcterms:W3CDTF">2004-03-31T23:50:14Z</dcterms:created>
  <dcterms:modified xsi:type="dcterms:W3CDTF">2024-10-20T04:46:03Z</dcterms:modified>
</cp:coreProperties>
</file>