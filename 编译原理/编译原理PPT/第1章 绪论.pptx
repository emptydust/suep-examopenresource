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315" r:id="rId2"/>
    <p:sldId id="536" r:id="rId3"/>
    <p:sldId id="268" r:id="rId4"/>
    <p:sldId id="285" r:id="rId5"/>
    <p:sldId id="316" r:id="rId6"/>
    <p:sldId id="287" r:id="rId7"/>
    <p:sldId id="317" r:id="rId8"/>
    <p:sldId id="289" r:id="rId9"/>
    <p:sldId id="290" r:id="rId10"/>
    <p:sldId id="291" r:id="rId11"/>
    <p:sldId id="321" r:id="rId12"/>
    <p:sldId id="318" r:id="rId13"/>
    <p:sldId id="320" r:id="rId14"/>
    <p:sldId id="292" r:id="rId15"/>
    <p:sldId id="293" r:id="rId16"/>
    <p:sldId id="322" r:id="rId17"/>
    <p:sldId id="294" r:id="rId18"/>
    <p:sldId id="295" r:id="rId19"/>
    <p:sldId id="296" r:id="rId20"/>
    <p:sldId id="323" r:id="rId21"/>
    <p:sldId id="297" r:id="rId22"/>
    <p:sldId id="477" r:id="rId23"/>
    <p:sldId id="327" r:id="rId24"/>
    <p:sldId id="328" r:id="rId25"/>
    <p:sldId id="329" r:id="rId26"/>
    <p:sldId id="330" r:id="rId27"/>
    <p:sldId id="331" r:id="rId28"/>
    <p:sldId id="534" r:id="rId29"/>
    <p:sldId id="312" r:id="rId30"/>
    <p:sldId id="313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04" autoAdjust="0"/>
  </p:normalViewPr>
  <p:slideViewPr>
    <p:cSldViewPr snapToGrid="0">
      <p:cViewPr varScale="1">
        <p:scale>
          <a:sx n="61" d="100"/>
          <a:sy n="61" d="100"/>
        </p:scale>
        <p:origin x="6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F6DC8-6223-4FB2-BF3A-F86C8CAB46F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7DF6F-824B-41AF-9AA9-43F8A868E1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26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4BC7C568-39D7-C089-5B07-C665FE1332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B00C027C-F8C1-8DBB-187E-6CE2FBD617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D7973F7-ADF5-BC33-ED35-50DB3CD06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CFB6E6-E96B-4DCD-8134-061AF93B6AA8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BFBA814A-3842-2C3D-0B23-FB0B9695B6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A1C4DDA9-84E7-5858-6299-CBF92178EE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z="1800" dirty="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62A7DD38-3988-45C6-84CB-A4DDC3414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928B7F-4E7E-45D1-86BF-433E9BBCA06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5E324D3C-3A57-C529-DD5E-5EC4416034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8D838DEE-8118-C367-08BE-339EF6B5D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1CC4B871-D605-4757-A380-E49450CDB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15EE38-2108-48FC-B2F4-FA47B83A11F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C9E5F4D7-343F-73C1-EFAA-133C1FAABC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D4BC007-7107-F9BA-9201-3D22726302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9CC1CF2A-9795-FDDA-5246-52AE07FE7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57D93-8852-4A22-9BE4-3291A9468FB9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A14368F-61D9-DB7A-38AC-516414FD7A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40B57D3D-BB67-F9BD-54AF-00F9A9F3A0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z="1800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EE0216C-48BC-76B1-CAF1-8367F6480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8CE300-E4C7-4BFD-BD63-27ABBA4AE848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4C242AF8-8E80-A4C0-6FF1-FE0DA3D288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B2DB430-EA9D-2763-2485-12BD9FCF90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24928AB7-CA2E-F3C2-68E3-F959F787A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5DFF52-FA96-46BE-92BA-F7843C21FE20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E8A4E483-2BAE-9902-1B7F-4549CC6B11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DE29AD54-4237-9C2A-CB87-8B8BE7E897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0C9FE6DF-8CD8-183E-EB50-E9BE60049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D4CEF0-0ABE-4DB4-9539-96DF41ECDFBA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AC01B200-4315-82B3-8286-0A67910E45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35C90880-5DCD-511F-7A87-6255DBF3BE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z="1800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6F58CB4D-7F7C-CAF2-AFB5-FB0FF0B1B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502F7E-3DB5-46BC-9A42-9C1AFA2541DB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702D655-EA86-88A9-02EE-897E96B84B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C88FDE56-ED74-A623-515F-E25A42880D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z="1800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6BBC8C09-8940-B488-96C6-725493E03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0E25C7-A056-403D-B51F-F356E89AE1A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CA8B03B7-3AD0-F0DE-C2C8-E303E13C34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56CE3A98-FDC9-D7BE-BB28-24DF11B4F5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B117869-16C0-3272-BB66-62D1AA3A0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33334-CA78-40D5-AB3A-DE3A4373B1C4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0AC6985-1CF1-6CBE-155B-896267E412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3360E2AB-52C1-1BF2-F934-82609636DD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sz="1800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AE8C445-F2D0-FE5C-84B9-CCA00A977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544330-ACA5-4E04-8465-5F80707C7BD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76B6FD73-D237-2A7D-928C-22B7239F1D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75E9FF20-ED55-0C2E-DFAA-A38FB885DC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14D40F75-D6E6-E03E-673C-B6FA771F0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A3F72-D6D5-4FD4-86BB-7A36A339CB7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  <a:ea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AB98B2E5-B99D-D1EA-3661-860E53FD7F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15EF6C1F-988B-B0C0-527E-D78DE8079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DED4F333-C1B9-EDC3-858C-136D4F5624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1A5065-1F47-4E45-8641-441B5A75D8F2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EB7C989F-E316-EF18-FAE8-654207FE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BD7F0FE3-B953-D98F-6A2D-60F3A7DF9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D9B0FD02-A9F5-1929-9252-07D63BBE3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3E9823-2C4F-4461-81D8-FB0D9501B78D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1863970D-0B97-F3C4-C39D-08F66D086F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83CADB14-82DD-1D56-45C3-0E9F1DB85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294E5497-E37F-7932-A0B3-2C0250E6D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8B2C84-118A-4339-BBE2-B3505C3AB02A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13E2E625-61AC-F00E-A448-2DF3F68BD9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3196CCBD-A385-48C8-6517-61A9F732E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CB650E97-DC7F-3E3D-5CD0-E989494450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39441-6D29-454A-94CB-DBFD3B4C1105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49127342-1724-4E41-A378-C6F6FDFCD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15FEFF66-424C-162D-DCD7-84D31C7C5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D023DAEE-B604-74B4-1312-BA527BB69A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C3BF7-7140-44B8-A963-D6290BD24FD2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E06E7739-770A-6E51-58B9-7728A8BF9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0B0CB30F-0270-377A-6F99-A385C801C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6F0FE974-E4AA-326E-4BF5-F5634EFED9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EC03BD-5234-411B-80C0-CCEA6803E617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C6557D2-236E-F3E7-02C6-368F743063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37FAF78-1BE6-5C7F-B15F-1A22EA6CC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CABF0E3-42DE-F979-EFB2-F9ABF420E7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41427B-C483-4C3B-85BE-F0CF7A794A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13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56F353-42E8-DFCA-641E-7D82F21B9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56B979-F025-E327-1F4E-6F36AD1CB6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646E2D-9893-BA13-D271-720690B805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9922E-CDFD-4460-8AA1-C0B08759EE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58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C353B7-AF21-11CB-DCB2-0150CB3B90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ED29E9-8810-A91C-37AC-D2155A853E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A04E08-CC01-B64D-D2A1-219EAE62F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6D2C1-9056-4202-82AB-14931FB62D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60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9B43F-9A9B-3CDD-C8F8-930F99A76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6F154-8B2A-06A6-C00C-04212CF352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D5041B-FDEA-C039-0C7A-09C31DE892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A475E-C525-4502-A479-1E40CB0445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90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C173ED-97C4-EEB5-6EEA-B30CA17585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D5F6960-A835-24A8-A43A-9DE4DE6F1C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E933FE-CD7D-EE4A-3751-093E43FB4E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69469-25C7-4F3C-8CD2-0E26BA33F0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68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BE08272-AD9E-5ACB-F345-6F00051B13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30E5A3-62A2-237F-FEC5-7A6380D4D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5C7E1ED-1579-3701-EBFA-E229C091C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715C2-84F3-4E7D-AE02-31F759C9B8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98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794259-1809-F456-337F-C2FDD66CA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AA41749-7D9F-4E9C-6304-764D3A833C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785C6D-0036-FEF9-3A84-A66DD2A87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68E3A-4462-47E1-AB22-D2095BF833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386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F3E06-9691-F09E-69B7-BB63807CA6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CBA7A-B4F8-4720-FA59-917F3DF14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61E76A-2889-447C-CDBB-FCA4F19A21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777D0-8E20-4921-8C28-1875A39B7E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89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12A3D-4132-0542-12DB-DE3219A718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C6C79-A459-942A-34AC-227E66F74B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2821E-F6D2-01B3-0F84-DDE4F55D8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BC080-A3D0-40CA-BA3C-11258B65F1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04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C9D212-0FF2-AC96-F66D-4C3D27A436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727D98-3C70-9FB7-609E-0862CC1C7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D9703E-55C8-424C-329F-145D85304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48C55-AC24-430E-B58D-6F171FA52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0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42918" y="609601"/>
            <a:ext cx="2846916" cy="5489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167" y="609601"/>
            <a:ext cx="8337551" cy="5489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A51E77-EF8E-96F3-DD67-A779AE9C0F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E0284C-1D20-941C-119D-DC447BF3EF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8D18CF-4362-7263-B7F3-E1B7F57425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5DC31-7F56-4F08-9507-1345659FB1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999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-98425"/>
            <a:ext cx="10972800" cy="935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567" y="1052514"/>
            <a:ext cx="5850467" cy="5616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0233" y="1052514"/>
            <a:ext cx="5852584" cy="5616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51819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02167" y="1905001"/>
            <a:ext cx="11387667" cy="41941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FBC0E1-FCD2-FF2C-7C99-4A4FD817C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7864C1-E406-6695-5168-6E51555B1F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46F885-30B7-EAB2-7A33-5CD694BED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A73B-2105-4B63-AB1D-09A0DD02D9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336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168D63-2834-3729-0C73-5EEAFEA8C3F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609600"/>
            <a:ext cx="1138766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931A8DE-0A9D-0562-CEFF-6DD36068C56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905001"/>
            <a:ext cx="11387667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3376C639-4DAC-EC19-C94A-80F0A9ADCC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C29959B3-2DD5-6B6D-69EA-36F76C6ABC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D2D601E-618A-E5BA-8775-5AE550E34B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FA75F1-EE91-4199-A159-7165A27FCD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39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0E827874-F1A5-050F-9600-70A378EAB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5626" y="960439"/>
            <a:ext cx="8842375" cy="5138737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</a:rPr>
              <a:t>考核方式</a:t>
            </a:r>
            <a:r>
              <a:rPr lang="zh-CN" altLang="en-US" sz="2800" b="1" dirty="0">
                <a:solidFill>
                  <a:srgbClr val="000000"/>
                </a:solidFill>
              </a:rPr>
              <a:t>：考试</a:t>
            </a:r>
            <a:r>
              <a:rPr lang="en-US" altLang="zh-CN" sz="2800" b="1" dirty="0">
                <a:solidFill>
                  <a:srgbClr val="000000"/>
                </a:solidFill>
              </a:rPr>
              <a:t>(70%)+</a:t>
            </a:r>
            <a:r>
              <a:rPr lang="zh-CN" altLang="en-US" sz="2800" b="1" dirty="0">
                <a:solidFill>
                  <a:srgbClr val="000000"/>
                </a:solidFill>
              </a:rPr>
              <a:t>平时成绩</a:t>
            </a:r>
            <a:r>
              <a:rPr lang="en-US" altLang="zh-CN" sz="2800" b="1" dirty="0">
                <a:solidFill>
                  <a:srgbClr val="000000"/>
                </a:solidFill>
              </a:rPr>
              <a:t>(30%)</a:t>
            </a:r>
          </a:p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</a:rPr>
              <a:t>平时成绩构成：实验</a:t>
            </a:r>
            <a:r>
              <a:rPr lang="en-US" altLang="zh-CN" sz="2800" b="1" dirty="0">
                <a:solidFill>
                  <a:srgbClr val="000000"/>
                </a:solidFill>
              </a:rPr>
              <a:t>50%</a:t>
            </a:r>
            <a:r>
              <a:rPr lang="zh-CN" altLang="en-US" sz="2800" b="1" dirty="0">
                <a:solidFill>
                  <a:srgbClr val="000000"/>
                </a:solidFill>
              </a:rPr>
              <a:t>、测验</a:t>
            </a:r>
            <a:r>
              <a:rPr lang="en-US" altLang="zh-CN" sz="2800" b="1" dirty="0">
                <a:solidFill>
                  <a:srgbClr val="000000"/>
                </a:solidFill>
              </a:rPr>
              <a:t>50%</a:t>
            </a:r>
          </a:p>
          <a:p>
            <a:pPr eaLnBrk="1" hangingPunct="1"/>
            <a:endParaRPr lang="en-US" altLang="zh-CN" sz="2800" b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</a:rPr>
              <a:t>答疑</a:t>
            </a:r>
            <a:r>
              <a:rPr lang="en-US" altLang="zh-CN" sz="2800" b="1" dirty="0">
                <a:solidFill>
                  <a:srgbClr val="0000CC"/>
                </a:solidFill>
              </a:rPr>
              <a:t>:</a:t>
            </a:r>
            <a:r>
              <a:rPr lang="zh-CN" altLang="en-US" sz="2800" b="1" dirty="0">
                <a:solidFill>
                  <a:srgbClr val="0000CC"/>
                </a:solidFill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</a:rPr>
              <a:t>每周五 </a:t>
            </a:r>
            <a:r>
              <a:rPr lang="en-US" altLang="zh-CN" sz="2800" b="1" dirty="0">
                <a:solidFill>
                  <a:srgbClr val="000000"/>
                </a:solidFill>
              </a:rPr>
              <a:t>13:00—14:00  </a:t>
            </a:r>
            <a:r>
              <a:rPr lang="zh-CN" altLang="en-US" sz="2800" b="1" dirty="0">
                <a:solidFill>
                  <a:srgbClr val="000000"/>
                </a:solidFill>
              </a:rPr>
              <a:t>计算机学院</a:t>
            </a:r>
            <a:r>
              <a:rPr lang="en-US" altLang="zh-CN" sz="2800" b="1" dirty="0">
                <a:solidFill>
                  <a:srgbClr val="000000"/>
                </a:solidFill>
              </a:rPr>
              <a:t>312</a:t>
            </a:r>
            <a:r>
              <a:rPr lang="zh-CN" altLang="en-US" sz="2800" b="1" dirty="0">
                <a:solidFill>
                  <a:srgbClr val="000000"/>
                </a:solidFill>
              </a:rPr>
              <a:t>办公室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</a:rPr>
              <a:t>参考书籍：</a:t>
            </a:r>
          </a:p>
          <a:p>
            <a:pPr lvl="1" eaLnBrk="1" hangingPunct="1"/>
            <a:r>
              <a:rPr lang="en-US" altLang="zh-CN" sz="2400" b="1" dirty="0">
                <a:solidFill>
                  <a:srgbClr val="000000"/>
                </a:solidFill>
              </a:rPr>
              <a:t>《</a:t>
            </a:r>
            <a:r>
              <a:rPr lang="zh-CN" altLang="en-US" sz="2400" b="1" dirty="0">
                <a:solidFill>
                  <a:srgbClr val="000000"/>
                </a:solidFill>
              </a:rPr>
              <a:t>编译原理</a:t>
            </a:r>
            <a:r>
              <a:rPr lang="en-US" altLang="zh-CN" sz="2400" b="1" dirty="0">
                <a:solidFill>
                  <a:srgbClr val="000000"/>
                </a:solidFill>
              </a:rPr>
              <a:t>》</a:t>
            </a:r>
            <a:r>
              <a:rPr lang="zh-CN" altLang="en-US" sz="2400" b="1" dirty="0">
                <a:solidFill>
                  <a:srgbClr val="000000"/>
                </a:solidFill>
              </a:rPr>
              <a:t>吕映芝等，清华大学出版社</a:t>
            </a:r>
          </a:p>
          <a:p>
            <a:pPr lvl="1" eaLnBrk="1" hangingPunct="1"/>
            <a:r>
              <a:rPr lang="en-US" altLang="zh-CN" sz="2400" b="1" dirty="0">
                <a:solidFill>
                  <a:srgbClr val="000000"/>
                </a:solidFill>
              </a:rPr>
              <a:t>《</a:t>
            </a:r>
            <a:r>
              <a:rPr lang="en-US" altLang="en-US" sz="2400" b="1" dirty="0">
                <a:solidFill>
                  <a:srgbClr val="000000"/>
                </a:solidFill>
              </a:rPr>
              <a:t> Compiler Construction Principle and Practice </a:t>
            </a:r>
            <a:r>
              <a:rPr lang="en-US" altLang="zh-CN" sz="2400" b="1" dirty="0">
                <a:solidFill>
                  <a:srgbClr val="000000"/>
                </a:solidFill>
              </a:rPr>
              <a:t>》(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</a:rPr>
              <a:t>编译原理及实践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</a:rPr>
              <a:t>， </a:t>
            </a:r>
            <a:r>
              <a:rPr lang="en-US" altLang="en-US" sz="2400" b="1" dirty="0">
                <a:solidFill>
                  <a:srgbClr val="000000"/>
                </a:solidFill>
              </a:rPr>
              <a:t>Kenneth C . Louden </a:t>
            </a:r>
            <a:r>
              <a:rPr lang="zh-CN" altLang="en-US" sz="2400" b="1" dirty="0">
                <a:solidFill>
                  <a:srgbClr val="000000"/>
                </a:solidFill>
              </a:rPr>
              <a:t>， </a:t>
            </a:r>
            <a:r>
              <a:rPr lang="en-US" altLang="en-US" sz="2400" b="1" dirty="0" err="1">
                <a:solidFill>
                  <a:srgbClr val="000000"/>
                </a:solidFill>
              </a:rPr>
              <a:t>机械工业出版社</a:t>
            </a:r>
            <a:endParaRPr lang="en-US" altLang="en-US" sz="2400" b="1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zh-CN" sz="2400" b="1" dirty="0">
                <a:solidFill>
                  <a:srgbClr val="000000"/>
                </a:solidFill>
              </a:rPr>
              <a:t>《Compilers: Principles, Techniques, &amp;Tools》 (</a:t>
            </a:r>
            <a:r>
              <a:rPr lang="zh-CN" altLang="en-US" sz="2400" b="1" dirty="0">
                <a:solidFill>
                  <a:srgbClr val="000000"/>
                </a:solidFill>
              </a:rPr>
              <a:t>编译原理 技术与工具</a:t>
            </a:r>
            <a:r>
              <a:rPr lang="en-US" altLang="zh-CN" sz="2400" b="1" dirty="0">
                <a:solidFill>
                  <a:srgbClr val="000000"/>
                </a:solidFill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</a:rPr>
              <a:t> ，</a:t>
            </a:r>
            <a:r>
              <a:rPr lang="en-US" altLang="zh-CN" sz="2400" b="1" dirty="0">
                <a:solidFill>
                  <a:srgbClr val="000000"/>
                </a:solidFill>
              </a:rPr>
              <a:t>Aho </a:t>
            </a:r>
            <a:r>
              <a:rPr lang="zh-CN" altLang="en-US" sz="2400" b="1" dirty="0">
                <a:solidFill>
                  <a:srgbClr val="000000"/>
                </a:solidFill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</a:rPr>
              <a:t>A.V.</a:t>
            </a:r>
            <a:r>
              <a:rPr lang="zh-CN" altLang="en-US" sz="2400" b="1" dirty="0">
                <a:solidFill>
                  <a:srgbClr val="000000"/>
                </a:solidFill>
              </a:rPr>
              <a:t> ，人民邮电出版社</a:t>
            </a:r>
            <a:endParaRPr lang="en-US" altLang="zh-CN" sz="2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4">
            <a:extLst>
              <a:ext uri="{FF2B5EF4-FFF2-40B4-BE49-F238E27FC236}">
                <a16:creationId xmlns:a16="http://schemas.microsoft.com/office/drawing/2014/main" id="{E1EDE84F-7F95-78F1-B286-0B0BB0A37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866775"/>
            <a:ext cx="8858250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>
            <a:extLst>
              <a:ext uri="{FF2B5EF4-FFF2-40B4-BE49-F238E27FC236}">
                <a16:creationId xmlns:a16="http://schemas.microsoft.com/office/drawing/2014/main" id="{A22C339A-CB7E-A135-BF14-0885292770B8}"/>
              </a:ext>
            </a:extLst>
          </p:cNvPr>
          <p:cNvGrpSpPr>
            <a:grpSpLocks/>
          </p:cNvGrpSpPr>
          <p:nvPr/>
        </p:nvGrpSpPr>
        <p:grpSpPr bwMode="auto">
          <a:xfrm>
            <a:off x="2916239" y="1971676"/>
            <a:ext cx="6619875" cy="3686175"/>
            <a:chOff x="385" y="1393"/>
            <a:chExt cx="5125" cy="2927"/>
          </a:xfrm>
        </p:grpSpPr>
        <p:graphicFrame>
          <p:nvGraphicFramePr>
            <p:cNvPr id="7172" name="Object 27">
              <a:extLst>
                <a:ext uri="{FF2B5EF4-FFF2-40B4-BE49-F238E27FC236}">
                  <a16:creationId xmlns:a16="http://schemas.microsoft.com/office/drawing/2014/main" id="{3DA44E3B-6994-46A4-7C42-B8479C622E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" y="1393"/>
            <a:ext cx="5125" cy="2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3" imgW="7580952" imgH="2768254" progId="Photoshop.Image.7">
                    <p:embed/>
                  </p:oleObj>
                </mc:Choice>
                <mc:Fallback>
                  <p:oleObj name="Image" r:id="rId3" imgW="7580952" imgH="2768254" progId="Photoshop.Image.7">
                    <p:embed/>
                    <p:pic>
                      <p:nvPicPr>
                        <p:cNvPr id="7172" name="Object 27">
                          <a:extLst>
                            <a:ext uri="{FF2B5EF4-FFF2-40B4-BE49-F238E27FC236}">
                              <a16:creationId xmlns:a16="http://schemas.microsoft.com/office/drawing/2014/main" id="{3DA44E3B-6994-46A4-7C42-B8479C622E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1393"/>
                          <a:ext cx="5125" cy="29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3" name="Rectangle 28">
              <a:extLst>
                <a:ext uri="{FF2B5EF4-FFF2-40B4-BE49-F238E27FC236}">
                  <a16:creationId xmlns:a16="http://schemas.microsoft.com/office/drawing/2014/main" id="{8F2F4504-F94E-5E68-3564-E7BB21AA5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" y="1614"/>
              <a:ext cx="4100" cy="2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zh-CN" sz="2800" i="1">
                  <a:solidFill>
                    <a:srgbClr val="006600"/>
                  </a:solidFill>
                  <a:latin typeface="宋体" panose="02010600030101010101" pitchFamily="2" charset="-122"/>
                  <a:ea typeface="楷体_GB2312"/>
                </a:rPr>
                <a:t>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一</a:t>
              </a:r>
              <a:r>
                <a:rPr lang="en-US" altLang="zh-CN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. 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什么叫编译程序</a:t>
              </a: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 二</a:t>
              </a:r>
              <a:r>
                <a:rPr lang="en-US" altLang="zh-CN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. 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编译过程概述</a:t>
              </a: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 三</a:t>
              </a:r>
              <a:r>
                <a:rPr lang="en-US" altLang="zh-CN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. 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编译程序的结构</a:t>
              </a: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 四</a:t>
              </a:r>
              <a:r>
                <a:rPr lang="en-US" altLang="zh-CN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. 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编译程序生成</a:t>
              </a: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 五</a:t>
              </a:r>
              <a:r>
                <a:rPr lang="en-US" altLang="zh-CN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.  </a:t>
              </a:r>
              <a:r>
                <a:rPr lang="zh-CN" altLang="en-US" sz="28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课程学习指导</a:t>
              </a:r>
            </a:p>
          </p:txBody>
        </p:sp>
      </p:grpSp>
      <p:sp>
        <p:nvSpPr>
          <p:cNvPr id="7171" name="Rectangle 2">
            <a:extLst>
              <a:ext uri="{FF2B5EF4-FFF2-40B4-BE49-F238E27FC236}">
                <a16:creationId xmlns:a16="http://schemas.microsoft.com/office/drawing/2014/main" id="{A7BDD9D4-A296-1C65-227C-0040FF0D4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446088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第一章：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2">
            <a:extLst>
              <a:ext uri="{FF2B5EF4-FFF2-40B4-BE49-F238E27FC236}">
                <a16:creationId xmlns:a16="http://schemas.microsoft.com/office/drawing/2014/main" id="{4E3DA11E-E441-9EE9-F47B-17F1A6DDC5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22476" y="523875"/>
            <a:ext cx="4316413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 b="1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219" name="Group 16">
            <a:extLst>
              <a:ext uri="{FF2B5EF4-FFF2-40B4-BE49-F238E27FC236}">
                <a16:creationId xmlns:a16="http://schemas.microsoft.com/office/drawing/2014/main" id="{8ABD8D54-2FBC-F76F-EC9E-CCA9AAC6CBD4}"/>
              </a:ext>
            </a:extLst>
          </p:cNvPr>
          <p:cNvGrpSpPr>
            <a:grpSpLocks/>
          </p:cNvGrpSpPr>
          <p:nvPr/>
        </p:nvGrpSpPr>
        <p:grpSpPr bwMode="auto">
          <a:xfrm>
            <a:off x="1895476" y="1677989"/>
            <a:ext cx="8296275" cy="2484437"/>
            <a:chOff x="404" y="1121"/>
            <a:chExt cx="5226" cy="1565"/>
          </a:xfrm>
        </p:grpSpPr>
        <p:graphicFrame>
          <p:nvGraphicFramePr>
            <p:cNvPr id="9228" name="Object 4">
              <a:extLst>
                <a:ext uri="{FF2B5EF4-FFF2-40B4-BE49-F238E27FC236}">
                  <a16:creationId xmlns:a16="http://schemas.microsoft.com/office/drawing/2014/main" id="{DDD36AB1-25E9-45A8-6019-56C6E9062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4" y="1121"/>
            <a:ext cx="5160" cy="1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3" imgW="7580952" imgH="2768254" progId="Photoshop.Image.7">
                    <p:embed/>
                  </p:oleObj>
                </mc:Choice>
                <mc:Fallback>
                  <p:oleObj name="Image" r:id="rId3" imgW="7580952" imgH="2768254" progId="Photoshop.Image.7">
                    <p:embed/>
                    <p:pic>
                      <p:nvPicPr>
                        <p:cNvPr id="9228" name="Object 4">
                          <a:extLst>
                            <a:ext uri="{FF2B5EF4-FFF2-40B4-BE49-F238E27FC236}">
                              <a16:creationId xmlns:a16="http://schemas.microsoft.com/office/drawing/2014/main" id="{DDD36AB1-25E9-45A8-6019-56C6E90621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1121"/>
                          <a:ext cx="5160" cy="1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Rectangle 5">
              <a:extLst>
                <a:ext uri="{FF2B5EF4-FFF2-40B4-BE49-F238E27FC236}">
                  <a16:creationId xmlns:a16="http://schemas.microsoft.com/office/drawing/2014/main" id="{90C6D4C5-83F3-DDA6-F99D-347BFCAA6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" y="1240"/>
              <a:ext cx="5084" cy="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400" b="1">
                  <a:solidFill>
                    <a:srgbClr val="FF3300"/>
                  </a:solidFill>
                  <a:latin typeface="宋体" panose="02010600030101010101" pitchFamily="2" charset="-122"/>
                  <a:ea typeface="楷体_GB2312"/>
                </a:rPr>
                <a:t>编译程序（</a:t>
              </a:r>
              <a:r>
                <a:rPr lang="en-US" altLang="zh-CN" sz="2400" b="1">
                  <a:solidFill>
                    <a:srgbClr val="FF3300"/>
                  </a:solidFill>
                  <a:latin typeface="宋体" panose="02010600030101010101" pitchFamily="2" charset="-122"/>
                  <a:ea typeface="楷体_GB2312"/>
                </a:rPr>
                <a:t>Compiler</a:t>
              </a:r>
              <a:r>
                <a:rPr lang="zh-CN" altLang="en-US" sz="2400" b="1">
                  <a:solidFill>
                    <a:srgbClr val="FF3300"/>
                  </a:solidFill>
                  <a:latin typeface="宋体" panose="02010600030101010101" pitchFamily="2" charset="-122"/>
                  <a:ea typeface="楷体_GB2312"/>
                </a:rPr>
                <a:t>）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是一种程序。它把用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高级语言写的源程序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作为数据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接收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，经过翻译转换，产生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面向机器的代码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作为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输出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。</a:t>
              </a:r>
            </a:p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这当中代码还可能要由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汇编程序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或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装配程序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作进一步加工，得出</a:t>
              </a:r>
              <a:r>
                <a:rPr lang="zh-CN" altLang="en-US" sz="2400" b="1">
                  <a:solidFill>
                    <a:srgbClr val="0000FF"/>
                  </a:solidFill>
                  <a:latin typeface="宋体" panose="02010600030101010101" pitchFamily="2" charset="-122"/>
                  <a:ea typeface="楷体_GB2312"/>
                </a:rPr>
                <a:t>目标程序</a:t>
              </a:r>
              <a:r>
                <a:rPr lang="zh-CN" altLang="en-US" sz="2400" b="1">
                  <a:solidFill>
                    <a:srgbClr val="003399"/>
                  </a:solidFill>
                  <a:latin typeface="宋体" panose="02010600030101010101" pitchFamily="2" charset="-122"/>
                  <a:ea typeface="楷体_GB2312"/>
                </a:rPr>
                <a:t>，交给计算机执行。</a:t>
              </a:r>
            </a:p>
          </p:txBody>
        </p:sp>
      </p:grpSp>
      <p:sp>
        <p:nvSpPr>
          <p:cNvPr id="9220" name="Rectangle 6">
            <a:extLst>
              <a:ext uri="{FF2B5EF4-FFF2-40B4-BE49-F238E27FC236}">
                <a16:creationId xmlns:a16="http://schemas.microsoft.com/office/drawing/2014/main" id="{A3A6F275-59FA-FC24-77D5-9E134409D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7700" y="741364"/>
            <a:ext cx="38623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003399"/>
                </a:solidFill>
                <a:latin typeface="楷体_GB2312"/>
                <a:ea typeface="楷体_GB2312"/>
              </a:rPr>
              <a:t>一</a:t>
            </a:r>
            <a:r>
              <a:rPr lang="en-US" altLang="zh-CN" sz="2800" b="1">
                <a:solidFill>
                  <a:srgbClr val="003399"/>
                </a:solidFill>
                <a:latin typeface="楷体_GB2312"/>
                <a:ea typeface="楷体_GB2312"/>
              </a:rPr>
              <a:t>.  </a:t>
            </a:r>
            <a:r>
              <a:rPr lang="zh-CN" altLang="en-US" sz="2800" b="1">
                <a:solidFill>
                  <a:srgbClr val="003399"/>
                </a:solidFill>
                <a:latin typeface="楷体_GB2312"/>
                <a:ea typeface="楷体_GB2312"/>
              </a:rPr>
              <a:t>什么叫编译程序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zh-CN" altLang="en-US" sz="2800" b="1">
              <a:solidFill>
                <a:srgbClr val="003399"/>
              </a:solidFill>
              <a:latin typeface="楷体_GB2312"/>
              <a:ea typeface="楷体_GB2312"/>
            </a:endParaRPr>
          </a:p>
        </p:txBody>
      </p:sp>
      <p:sp>
        <p:nvSpPr>
          <p:cNvPr id="118796" name="Rectangle 12">
            <a:extLst>
              <a:ext uri="{FF2B5EF4-FFF2-40B4-BE49-F238E27FC236}">
                <a16:creationId xmlns:a16="http://schemas.microsoft.com/office/drawing/2014/main" id="{8612E0FE-7C30-DEAF-7504-AA01A247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1" y="4579939"/>
            <a:ext cx="2697163" cy="523875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高级语言源程序</a:t>
            </a:r>
          </a:p>
        </p:txBody>
      </p:sp>
      <p:sp>
        <p:nvSpPr>
          <p:cNvPr id="118797" name="Rectangle 13">
            <a:extLst>
              <a:ext uri="{FF2B5EF4-FFF2-40B4-BE49-F238E27FC236}">
                <a16:creationId xmlns:a16="http://schemas.microsoft.com/office/drawing/2014/main" id="{8248E7BA-DF46-38E2-A9D4-D725F4698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014" y="4616451"/>
            <a:ext cx="2327275" cy="51911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/>
                <a:ea typeface="楷体_GB2312"/>
              </a:rPr>
              <a:t>面向机器代码</a:t>
            </a:r>
          </a:p>
        </p:txBody>
      </p:sp>
      <p:sp>
        <p:nvSpPr>
          <p:cNvPr id="9223" name="Line 14">
            <a:extLst>
              <a:ext uri="{FF2B5EF4-FFF2-40B4-BE49-F238E27FC236}">
                <a16:creationId xmlns:a16="http://schemas.microsoft.com/office/drawing/2014/main" id="{D8522B7D-6404-B2FB-E53B-AD50FC192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75" y="4841875"/>
            <a:ext cx="2535238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8799" name="Rectangle 15">
            <a:extLst>
              <a:ext uri="{FF2B5EF4-FFF2-40B4-BE49-F238E27FC236}">
                <a16:creationId xmlns:a16="http://schemas.microsoft.com/office/drawing/2014/main" id="{FE6D3778-1845-0C55-EDEC-21DDBEEAF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76" y="4319588"/>
            <a:ext cx="1793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Compiler</a:t>
            </a:r>
            <a:endParaRPr lang="en-US" altLang="zh-CN" sz="2800" b="1">
              <a:solidFill>
                <a:srgbClr val="DC5900"/>
              </a:solidFill>
              <a:latin typeface="楷体_GB2312"/>
              <a:ea typeface="楷体_GB2312"/>
            </a:endParaRPr>
          </a:p>
        </p:txBody>
      </p:sp>
      <p:sp>
        <p:nvSpPr>
          <p:cNvPr id="118802" name="Rectangle 18">
            <a:extLst>
              <a:ext uri="{FF2B5EF4-FFF2-40B4-BE49-F238E27FC236}">
                <a16:creationId xmlns:a16="http://schemas.microsoft.com/office/drawing/2014/main" id="{5981FDDB-7E1B-CDF7-AAA7-6A0459E3C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939" y="6051551"/>
            <a:ext cx="2327275" cy="51911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/>
                <a:ea typeface="楷体_GB2312"/>
              </a:rPr>
              <a:t>目标程序代码</a:t>
            </a:r>
          </a:p>
        </p:txBody>
      </p:sp>
      <p:sp>
        <p:nvSpPr>
          <p:cNvPr id="9226" name="Line 19">
            <a:extLst>
              <a:ext uri="{FF2B5EF4-FFF2-40B4-BE49-F238E27FC236}">
                <a16:creationId xmlns:a16="http://schemas.microsoft.com/office/drawing/2014/main" id="{AC8A973A-C820-0631-905D-AE3B1471B8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75689" y="5113338"/>
            <a:ext cx="3175" cy="9572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8804" name="Rectangle 20">
            <a:extLst>
              <a:ext uri="{FF2B5EF4-FFF2-40B4-BE49-F238E27FC236}">
                <a16:creationId xmlns:a16="http://schemas.microsoft.com/office/drawing/2014/main" id="{0FF0B8CB-CA73-51EC-3875-282B08E28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4" y="5308601"/>
            <a:ext cx="1792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DC5900"/>
                </a:solidFill>
                <a:latin typeface="楷体_GB2312"/>
                <a:ea typeface="楷体_GB2312"/>
              </a:rPr>
              <a:t>汇编 装配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CC06D3-37C7-158F-A0E5-C99A635E9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5625" y="112713"/>
            <a:ext cx="8540750" cy="1143000"/>
          </a:xfrm>
        </p:spPr>
        <p:txBody>
          <a:bodyPr/>
          <a:lstStyle/>
          <a:p>
            <a:pPr algn="l" eaLnBrk="1" hangingPunct="1"/>
            <a:r>
              <a:rPr lang="zh-CN" altLang="en-US" b="1"/>
              <a:t>二、编译过程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9EF8D34-6AE2-E277-ACBF-AE615E8F7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8925" y="1143001"/>
            <a:ext cx="8929688" cy="792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编译的过程与自然语言间的翻译过程有相似之处：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AB97FB97-84C0-6820-3D17-771EDE3F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511426"/>
            <a:ext cx="478790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/>
              </a:rPr>
              <a:t>1.</a:t>
            </a:r>
            <a:r>
              <a:rPr lang="zh-CN" altLang="en-US" sz="2400" b="1">
                <a:solidFill>
                  <a:srgbClr val="000000"/>
                </a:solidFill>
                <a:ea typeface="楷体_GB2312"/>
              </a:rPr>
              <a:t>识别出每个单词（含义，性质等）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/>
              </a:rPr>
              <a:t>2.</a:t>
            </a:r>
            <a:r>
              <a:rPr lang="zh-CN" altLang="en-US" sz="2400" b="1">
                <a:solidFill>
                  <a:srgbClr val="000000"/>
                </a:solidFill>
                <a:ea typeface="楷体_GB2312"/>
              </a:rPr>
              <a:t>分析语法结构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/>
              </a:rPr>
              <a:t>3.</a:t>
            </a:r>
            <a:r>
              <a:rPr lang="zh-CN" altLang="en-US" sz="2400" b="1">
                <a:solidFill>
                  <a:srgbClr val="000000"/>
                </a:solidFill>
                <a:ea typeface="楷体_GB2312"/>
              </a:rPr>
              <a:t>初步翻译句子的含义，得到草稿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/>
              </a:rPr>
              <a:t>4.</a:t>
            </a:r>
            <a:r>
              <a:rPr lang="zh-CN" altLang="en-US" sz="2400" b="1">
                <a:solidFill>
                  <a:srgbClr val="000000"/>
                </a:solidFill>
                <a:ea typeface="楷体_GB2312"/>
              </a:rPr>
              <a:t>译文修饰</a:t>
            </a: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/>
              </a:rPr>
              <a:t>5.</a:t>
            </a:r>
            <a:r>
              <a:rPr lang="zh-CN" altLang="en-US" sz="2400" b="1">
                <a:solidFill>
                  <a:srgbClr val="000000"/>
                </a:solidFill>
                <a:ea typeface="楷体_GB2312"/>
              </a:rPr>
              <a:t>写出最后译文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5EE7A956-B5CB-F4FD-2B80-D22360632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2479676"/>
            <a:ext cx="4140200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ts val="1438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0000"/>
                </a:solidFill>
                <a:ea typeface="楷体_GB2312"/>
              </a:rPr>
              <a:t>1.</a:t>
            </a:r>
            <a:r>
              <a:rPr lang="zh-CN" altLang="en-US" sz="2400" b="1">
                <a:solidFill>
                  <a:srgbClr val="FF0000"/>
                </a:solidFill>
                <a:ea typeface="楷体_GB2312"/>
              </a:rPr>
              <a:t>词法分析</a:t>
            </a:r>
            <a:endParaRPr lang="en-US" altLang="zh-CN" sz="2400" b="1">
              <a:solidFill>
                <a:srgbClr val="FF0000"/>
              </a:solidFill>
              <a:ea typeface="楷体_GB2312"/>
            </a:endParaRPr>
          </a:p>
          <a:p>
            <a:pPr fontAlgn="base">
              <a:lnSpc>
                <a:spcPct val="150000"/>
              </a:lnSpc>
              <a:spcBef>
                <a:spcPts val="1438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0000"/>
                </a:solidFill>
                <a:ea typeface="楷体_GB2312"/>
              </a:rPr>
              <a:t>2.</a:t>
            </a:r>
            <a:r>
              <a:rPr lang="zh-CN" altLang="en-US" sz="2400" b="1">
                <a:solidFill>
                  <a:srgbClr val="FF0000"/>
                </a:solidFill>
                <a:ea typeface="楷体_GB2312"/>
              </a:rPr>
              <a:t>语法分析</a:t>
            </a:r>
          </a:p>
          <a:p>
            <a:pPr fontAlgn="base">
              <a:lnSpc>
                <a:spcPct val="150000"/>
              </a:lnSpc>
              <a:spcBef>
                <a:spcPts val="1438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0000"/>
                </a:solidFill>
                <a:ea typeface="楷体_GB2312"/>
              </a:rPr>
              <a:t>3.</a:t>
            </a:r>
            <a:r>
              <a:rPr lang="zh-CN" altLang="en-US" sz="2400" b="1">
                <a:solidFill>
                  <a:srgbClr val="FF0000"/>
                </a:solidFill>
                <a:ea typeface="楷体_GB2312"/>
              </a:rPr>
              <a:t>语义分析中间代码生成</a:t>
            </a:r>
            <a:endParaRPr lang="en-US" altLang="zh-CN" sz="2400" b="1">
              <a:solidFill>
                <a:srgbClr val="FF0000"/>
              </a:solidFill>
              <a:ea typeface="楷体_GB2312"/>
            </a:endParaRPr>
          </a:p>
          <a:p>
            <a:pPr fontAlgn="base">
              <a:lnSpc>
                <a:spcPct val="150000"/>
              </a:lnSpc>
              <a:spcBef>
                <a:spcPts val="1438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0000"/>
                </a:solidFill>
                <a:ea typeface="楷体_GB2312"/>
              </a:rPr>
              <a:t>4.</a:t>
            </a:r>
            <a:r>
              <a:rPr lang="zh-CN" altLang="en-US" sz="2400" b="1">
                <a:solidFill>
                  <a:srgbClr val="FF0000"/>
                </a:solidFill>
                <a:ea typeface="楷体_GB2312"/>
              </a:rPr>
              <a:t>优化</a:t>
            </a:r>
          </a:p>
          <a:p>
            <a:pPr fontAlgn="base">
              <a:lnSpc>
                <a:spcPct val="150000"/>
              </a:lnSpc>
              <a:spcBef>
                <a:spcPts val="1438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0000"/>
                </a:solidFill>
                <a:ea typeface="楷体_GB2312"/>
              </a:rPr>
              <a:t>5.</a:t>
            </a:r>
            <a:r>
              <a:rPr lang="zh-CN" altLang="en-US" sz="2400" b="1">
                <a:solidFill>
                  <a:srgbClr val="FF0000"/>
                </a:solidFill>
                <a:ea typeface="楷体_GB2312"/>
              </a:rPr>
              <a:t>目标代码生成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848B5631-4FD3-F6DC-F235-65CE48C90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939" y="1790700"/>
            <a:ext cx="3068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b="1">
                <a:solidFill>
                  <a:srgbClr val="000000"/>
                </a:solidFill>
                <a:ea typeface="楷体_GB2312"/>
              </a:rPr>
              <a:t>英文翻译成中文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2AE98888-A3B6-9774-D4D0-B5B51E813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651" y="1790700"/>
            <a:ext cx="18319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ea typeface="楷体_GB2312"/>
              </a:rPr>
              <a:t>编译过程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9223" grpId="0"/>
      <p:bldP spid="92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>
            <a:extLst>
              <a:ext uri="{FF2B5EF4-FFF2-40B4-BE49-F238E27FC236}">
                <a16:creationId xmlns:a16="http://schemas.microsoft.com/office/drawing/2014/main" id="{A1ECC2D8-150B-2117-BE7E-F3165268D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644526"/>
            <a:ext cx="24481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3600" b="1">
                <a:solidFill>
                  <a:srgbClr val="003399"/>
                </a:solidFill>
                <a:latin typeface="楷体_GB2312"/>
                <a:ea typeface="楷体_GB2312"/>
              </a:rPr>
              <a:t>1.</a:t>
            </a: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词法分析</a:t>
            </a:r>
          </a:p>
        </p:txBody>
      </p:sp>
      <p:sp>
        <p:nvSpPr>
          <p:cNvPr id="120870" name="Rectangle 38">
            <a:extLst>
              <a:ext uri="{FF2B5EF4-FFF2-40B4-BE49-F238E27FC236}">
                <a16:creationId xmlns:a16="http://schemas.microsoft.com/office/drawing/2014/main" id="{64A0CF1C-297F-34FE-4F58-3A5E7144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335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任务</a:t>
            </a:r>
          </a:p>
        </p:txBody>
      </p:sp>
      <p:sp>
        <p:nvSpPr>
          <p:cNvPr id="120871" name="Rectangle 39">
            <a:extLst>
              <a:ext uri="{FF2B5EF4-FFF2-40B4-BE49-F238E27FC236}">
                <a16:creationId xmlns:a16="http://schemas.microsoft.com/office/drawing/2014/main" id="{36847432-B82A-410F-08F9-CF0DEE69B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392488"/>
            <a:ext cx="2012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所做转换</a:t>
            </a:r>
          </a:p>
        </p:txBody>
      </p:sp>
      <p:sp>
        <p:nvSpPr>
          <p:cNvPr id="120872" name="Rectangle 40">
            <a:extLst>
              <a:ext uri="{FF2B5EF4-FFF2-40B4-BE49-F238E27FC236}">
                <a16:creationId xmlns:a16="http://schemas.microsoft.com/office/drawing/2014/main" id="{C501CBF3-C9C3-7985-666D-866CCA4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4981575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依据</a:t>
            </a:r>
          </a:p>
        </p:txBody>
      </p:sp>
      <p:sp>
        <p:nvSpPr>
          <p:cNvPr id="120873" name="Rectangle 41">
            <a:extLst>
              <a:ext uri="{FF2B5EF4-FFF2-40B4-BE49-F238E27FC236}">
                <a16:creationId xmlns:a16="http://schemas.microsoft.com/office/drawing/2014/main" id="{92378748-4A51-D2A9-70F0-5E4324822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22" y="5574834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构词规则</a:t>
            </a:r>
          </a:p>
        </p:txBody>
      </p:sp>
      <p:sp>
        <p:nvSpPr>
          <p:cNvPr id="120874" name="Rectangle 42">
            <a:extLst>
              <a:ext uri="{FF2B5EF4-FFF2-40B4-BE49-F238E27FC236}">
                <a16:creationId xmlns:a16="http://schemas.microsoft.com/office/drawing/2014/main" id="{F962E482-84FD-183D-9992-065EF0C36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4932363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主要理论基础</a:t>
            </a:r>
          </a:p>
        </p:txBody>
      </p:sp>
      <p:sp>
        <p:nvSpPr>
          <p:cNvPr id="120875" name="Rectangle 43">
            <a:extLst>
              <a:ext uri="{FF2B5EF4-FFF2-40B4-BE49-F238E27FC236}">
                <a16:creationId xmlns:a16="http://schemas.microsoft.com/office/drawing/2014/main" id="{822320E8-530F-BA8D-0696-ABAE62B0D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9536" y="5587534"/>
            <a:ext cx="1980029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自动机理论</a:t>
            </a:r>
          </a:p>
        </p:txBody>
      </p:sp>
      <p:sp>
        <p:nvSpPr>
          <p:cNvPr id="120876" name="Rectangle 44">
            <a:extLst>
              <a:ext uri="{FF2B5EF4-FFF2-40B4-BE49-F238E27FC236}">
                <a16:creationId xmlns:a16="http://schemas.microsoft.com/office/drawing/2014/main" id="{3FAE5ABA-4DB9-AD13-DA64-04B4FD627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812" y="4115921"/>
            <a:ext cx="2339102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源程序字符串</a:t>
            </a:r>
          </a:p>
        </p:txBody>
      </p:sp>
      <p:sp>
        <p:nvSpPr>
          <p:cNvPr id="120877" name="Rectangle 45">
            <a:extLst>
              <a:ext uri="{FF2B5EF4-FFF2-40B4-BE49-F238E27FC236}">
                <a16:creationId xmlns:a16="http://schemas.microsoft.com/office/drawing/2014/main" id="{39FF4A72-1029-8090-003A-B223CF1B1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335" y="4087346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单词符号</a:t>
            </a:r>
          </a:p>
        </p:txBody>
      </p:sp>
      <p:sp>
        <p:nvSpPr>
          <p:cNvPr id="120878" name="Line 46">
            <a:extLst>
              <a:ext uri="{FF2B5EF4-FFF2-40B4-BE49-F238E27FC236}">
                <a16:creationId xmlns:a16="http://schemas.microsoft.com/office/drawing/2014/main" id="{E47A532D-C04C-D495-66EE-FAD2BC0790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7213" y="4343400"/>
            <a:ext cx="1935162" cy="206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20879" name="Rectangle 47">
            <a:extLst>
              <a:ext uri="{FF2B5EF4-FFF2-40B4-BE49-F238E27FC236}">
                <a16:creationId xmlns:a16="http://schemas.microsoft.com/office/drawing/2014/main" id="{8CD334B5-5D26-F517-3383-789C7BA7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1" y="1798639"/>
            <a:ext cx="6988175" cy="1430337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输入源程序；扫描、分解字符串，识别出一个个单词（定义符、标识符、运算符、界符、常数）</a:t>
            </a:r>
          </a:p>
        </p:txBody>
      </p:sp>
      <p:sp>
        <p:nvSpPr>
          <p:cNvPr id="120880" name="Line 48">
            <a:extLst>
              <a:ext uri="{FF2B5EF4-FFF2-40B4-BE49-F238E27FC236}">
                <a16:creationId xmlns:a16="http://schemas.microsoft.com/office/drawing/2014/main" id="{52A7E65D-A1A4-5A4B-4BA9-CBB3E7913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8714" y="5838825"/>
            <a:ext cx="3125787" cy="79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20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2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1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0" grpId="0"/>
      <p:bldP spid="120871" grpId="0"/>
      <p:bldP spid="120872" grpId="0"/>
      <p:bldP spid="120873" grpId="0" animBg="1"/>
      <p:bldP spid="120874" grpId="0"/>
      <p:bldP spid="120875" grpId="0" animBg="1"/>
      <p:bldP spid="120876" grpId="0" animBg="1"/>
      <p:bldP spid="120877" grpId="0" animBg="1"/>
      <p:bldP spid="12087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A9FE50AA-099E-AACD-4752-3E37D549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0"/>
            <a:ext cx="3097212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zh-CN" altLang="zh-CN" sz="3600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id="{7E839944-58F3-FFB5-62C2-2973DF682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765175"/>
            <a:ext cx="889317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fontAlgn="base">
              <a:spcAft>
                <a:spcPct val="0"/>
              </a:spcAft>
              <a:buClrTx/>
              <a:buSzTx/>
              <a:buNone/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楷体_GB2312"/>
              </a:rPr>
              <a:t>例：源程序    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楷体_GB2312"/>
              </a:rPr>
              <a:t>for I:=1 to 100 do</a:t>
            </a:r>
          </a:p>
          <a:p>
            <a:pPr lvl="1" fontAlgn="base">
              <a:spcAft>
                <a:spcPct val="0"/>
              </a:spcAft>
              <a:buClrTx/>
              <a:buSzTx/>
              <a:buNone/>
            </a:pPr>
            <a:endParaRPr lang="en-US" altLang="zh-CN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303D6D6B-C848-DB97-416B-68AED4009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1"/>
            <a:ext cx="5184775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zh-CN" altLang="zh-CN" sz="2800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47113" name="Rectangle 9">
            <a:extLst>
              <a:ext uri="{FF2B5EF4-FFF2-40B4-BE49-F238E27FC236}">
                <a16:creationId xmlns:a16="http://schemas.microsoft.com/office/drawing/2014/main" id="{8ACF8DB6-1FC0-370A-4942-CA68DD9CB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1" y="2060576"/>
            <a:ext cx="7777163" cy="4392613"/>
          </a:xfr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FF0000"/>
                </a:solidFill>
              </a:rPr>
              <a:t>经词法分析被分析成一个个的单词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定义符　　　</a:t>
            </a:r>
            <a:r>
              <a:rPr lang="en-US" altLang="zh-CN" sz="2800" b="1">
                <a:solidFill>
                  <a:srgbClr val="000000"/>
                </a:solidFill>
              </a:rPr>
              <a:t>for 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标识符　　　</a:t>
            </a:r>
            <a:r>
              <a:rPr lang="en-US" altLang="zh-CN" sz="2800" b="1">
                <a:solidFill>
                  <a:srgbClr val="000000"/>
                </a:solidFill>
              </a:rPr>
              <a:t>I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赋值符　　　</a:t>
            </a:r>
            <a:r>
              <a:rPr lang="en-US" altLang="zh-CN" sz="2800" b="1">
                <a:solidFill>
                  <a:srgbClr val="000000"/>
                </a:solidFill>
              </a:rPr>
              <a:t>:=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整常数　　　</a:t>
            </a:r>
            <a:r>
              <a:rPr lang="en-US" altLang="zh-CN" sz="2800" b="1">
                <a:solidFill>
                  <a:srgbClr val="000000"/>
                </a:solidFill>
              </a:rPr>
              <a:t>1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定义符　　　</a:t>
            </a:r>
            <a:r>
              <a:rPr lang="en-US" altLang="zh-CN" sz="2800" b="1">
                <a:solidFill>
                  <a:srgbClr val="000000"/>
                </a:solidFill>
              </a:rPr>
              <a:t>to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整常数　　　</a:t>
            </a:r>
            <a:r>
              <a:rPr lang="en-US" altLang="zh-CN" sz="2800" b="1">
                <a:solidFill>
                  <a:srgbClr val="000000"/>
                </a:solidFill>
              </a:rPr>
              <a:t>100</a:t>
            </a:r>
          </a:p>
          <a:p>
            <a:pPr lvl="2" eaLnBrk="1" hangingPunct="1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定义符　　　</a:t>
            </a:r>
            <a:r>
              <a:rPr lang="en-US" altLang="zh-CN" sz="2800" b="1">
                <a:solidFill>
                  <a:srgbClr val="000000"/>
                </a:solidFill>
              </a:rPr>
              <a:t>do</a:t>
            </a:r>
          </a:p>
        </p:txBody>
      </p:sp>
      <p:sp>
        <p:nvSpPr>
          <p:cNvPr id="6" name="箭头: 右 5">
            <a:hlinkClick r:id="rId2" action="ppaction://hlinksldjump"/>
            <a:extLst>
              <a:ext uri="{FF2B5EF4-FFF2-40B4-BE49-F238E27FC236}">
                <a16:creationId xmlns:a16="http://schemas.microsoft.com/office/drawing/2014/main" id="{494C5B2B-A7CF-BD77-9889-D5E0F4998D08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0346531" y="5823179"/>
            <a:ext cx="642939" cy="630010"/>
          </a:xfrm>
          <a:prstGeom prst="rightArrow">
            <a:avLst>
              <a:gd name="adj1" fmla="val 50000"/>
              <a:gd name="adj2" fmla="val 50000"/>
            </a:avLst>
          </a:prstGeom>
          <a:noFill/>
          <a:ln w="57150" algn="ctr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zh-CN" altLang="en-US" sz="2800" b="1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1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1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 build="p" bldLvl="3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Rectangle 4">
            <a:extLst>
              <a:ext uri="{FF2B5EF4-FFF2-40B4-BE49-F238E27FC236}">
                <a16:creationId xmlns:a16="http://schemas.microsoft.com/office/drawing/2014/main" id="{A83D1482-F689-9715-04F3-51311A4AA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335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任务</a:t>
            </a:r>
          </a:p>
        </p:txBody>
      </p:sp>
      <p:sp>
        <p:nvSpPr>
          <p:cNvPr id="134149" name="Rectangle 5">
            <a:extLst>
              <a:ext uri="{FF2B5EF4-FFF2-40B4-BE49-F238E27FC236}">
                <a16:creationId xmlns:a16="http://schemas.microsoft.com/office/drawing/2014/main" id="{44A70FEB-6FA0-2032-CB72-9AB621799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392488"/>
            <a:ext cx="2012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所做转换</a:t>
            </a:r>
          </a:p>
        </p:txBody>
      </p:sp>
      <p:sp>
        <p:nvSpPr>
          <p:cNvPr id="134150" name="Rectangle 6">
            <a:extLst>
              <a:ext uri="{FF2B5EF4-FFF2-40B4-BE49-F238E27FC236}">
                <a16:creationId xmlns:a16="http://schemas.microsoft.com/office/drawing/2014/main" id="{D3BEB0D0-11E2-B037-CA1F-9D807A0AC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4981575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依据</a:t>
            </a:r>
          </a:p>
        </p:txBody>
      </p:sp>
      <p:sp>
        <p:nvSpPr>
          <p:cNvPr id="134151" name="Rectangle 7">
            <a:extLst>
              <a:ext uri="{FF2B5EF4-FFF2-40B4-BE49-F238E27FC236}">
                <a16:creationId xmlns:a16="http://schemas.microsoft.com/office/drawing/2014/main" id="{FFDE1A69-B7F7-9164-8598-C2058B5DC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22" y="5574834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语法规则</a:t>
            </a:r>
          </a:p>
        </p:txBody>
      </p:sp>
      <p:sp>
        <p:nvSpPr>
          <p:cNvPr id="134152" name="Rectangle 8">
            <a:extLst>
              <a:ext uri="{FF2B5EF4-FFF2-40B4-BE49-F238E27FC236}">
                <a16:creationId xmlns:a16="http://schemas.microsoft.com/office/drawing/2014/main" id="{F676E0BF-768E-47E2-47E9-46CD9BB77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4932363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主要理论基础</a:t>
            </a:r>
          </a:p>
        </p:txBody>
      </p:sp>
      <p:sp>
        <p:nvSpPr>
          <p:cNvPr id="134153" name="Rectangle 9">
            <a:extLst>
              <a:ext uri="{FF2B5EF4-FFF2-40B4-BE49-F238E27FC236}">
                <a16:creationId xmlns:a16="http://schemas.microsoft.com/office/drawing/2014/main" id="{7496DA73-90E7-F38A-DF14-E6655AB0C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826" y="5609759"/>
            <a:ext cx="2698175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上下文无关文法</a:t>
            </a:r>
          </a:p>
        </p:txBody>
      </p:sp>
      <p:sp>
        <p:nvSpPr>
          <p:cNvPr id="134154" name="Rectangle 10">
            <a:extLst>
              <a:ext uri="{FF2B5EF4-FFF2-40B4-BE49-F238E27FC236}">
                <a16:creationId xmlns:a16="http://schemas.microsoft.com/office/drawing/2014/main" id="{D488A1F8-BCB4-69C0-20E0-3A852CA97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1285" y="4134971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单词符号</a:t>
            </a:r>
          </a:p>
        </p:txBody>
      </p:sp>
      <p:sp>
        <p:nvSpPr>
          <p:cNvPr id="134155" name="Rectangle 11">
            <a:extLst>
              <a:ext uri="{FF2B5EF4-FFF2-40B4-BE49-F238E27FC236}">
                <a16:creationId xmlns:a16="http://schemas.microsoft.com/office/drawing/2014/main" id="{418EA7C1-8665-4061-1679-F782368BE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118" y="4087346"/>
            <a:ext cx="3775393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语法单位（语法范畴）</a:t>
            </a:r>
          </a:p>
        </p:txBody>
      </p:sp>
      <p:sp>
        <p:nvSpPr>
          <p:cNvPr id="134156" name="Line 12">
            <a:extLst>
              <a:ext uri="{FF2B5EF4-FFF2-40B4-BE49-F238E27FC236}">
                <a16:creationId xmlns:a16="http://schemas.microsoft.com/office/drawing/2014/main" id="{3A16FF7E-67C4-C7D7-4A62-6FE861548B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24413" y="4362450"/>
            <a:ext cx="1636712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34157" name="Rectangle 13">
            <a:extLst>
              <a:ext uri="{FF2B5EF4-FFF2-40B4-BE49-F238E27FC236}">
                <a16:creationId xmlns:a16="http://schemas.microsoft.com/office/drawing/2014/main" id="{FBF314E4-8E5A-5C49-4652-811F3C9B7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1" y="1587501"/>
            <a:ext cx="6988175" cy="1857375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在词法分析基础上，将单词符号串转化为语法单位（语法范畴）（表达式、语句、分程序、过程、函数、程序），并确定整个输入串是否构成语法上正确的程序。</a:t>
            </a:r>
          </a:p>
        </p:txBody>
      </p:sp>
      <p:sp>
        <p:nvSpPr>
          <p:cNvPr id="134158" name="Line 14">
            <a:extLst>
              <a:ext uri="{FF2B5EF4-FFF2-40B4-BE49-F238E27FC236}">
                <a16:creationId xmlns:a16="http://schemas.microsoft.com/office/drawing/2014/main" id="{F830D5E8-D9E4-6ECF-75D5-CCC04A69D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7275" y="5883275"/>
            <a:ext cx="283845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7421" name="Rectangle 3">
            <a:extLst>
              <a:ext uri="{FF2B5EF4-FFF2-40B4-BE49-F238E27FC236}">
                <a16:creationId xmlns:a16="http://schemas.microsoft.com/office/drawing/2014/main" id="{900A0E46-A960-2DE0-BA5F-78546613E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4" y="665163"/>
            <a:ext cx="2698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4000" b="1">
                <a:solidFill>
                  <a:srgbClr val="003399"/>
                </a:solidFill>
                <a:latin typeface="楷体_GB2312"/>
                <a:ea typeface="楷体_GB2312"/>
              </a:rPr>
              <a:t>2.</a:t>
            </a:r>
            <a:r>
              <a:rPr lang="zh-CN" altLang="en-US" sz="4000" b="1">
                <a:solidFill>
                  <a:srgbClr val="003399"/>
                </a:solidFill>
                <a:latin typeface="楷体_GB2312"/>
                <a:ea typeface="楷体_GB2312"/>
              </a:rPr>
              <a:t>语法分析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/>
      <p:bldP spid="134149" grpId="0"/>
      <p:bldP spid="134150" grpId="0"/>
      <p:bldP spid="134151" grpId="0" animBg="1"/>
      <p:bldP spid="134152" grpId="0"/>
      <p:bldP spid="134153" grpId="0" animBg="1"/>
      <p:bldP spid="134154" grpId="0" animBg="1"/>
      <p:bldP spid="134155" grpId="0" animBg="1"/>
      <p:bldP spid="1341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CCDF09FF-7785-2EF7-7F29-69E0125E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4" y="762000"/>
            <a:ext cx="2698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4000" b="1">
                <a:solidFill>
                  <a:srgbClr val="003399"/>
                </a:solidFill>
                <a:latin typeface="楷体_GB2312"/>
                <a:ea typeface="楷体_GB2312"/>
              </a:rPr>
              <a:t>2.</a:t>
            </a:r>
            <a:r>
              <a:rPr lang="zh-CN" altLang="en-US" sz="4000" b="1">
                <a:solidFill>
                  <a:srgbClr val="003399"/>
                </a:solidFill>
                <a:latin typeface="楷体_GB2312"/>
                <a:ea typeface="楷体_GB2312"/>
              </a:rPr>
              <a:t>语法分析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94FF5528-F97A-2CCC-9023-E1005A15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1" y="1741488"/>
            <a:ext cx="100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latin typeface="楷体_GB2312"/>
                <a:ea typeface="楷体_GB2312"/>
              </a:rPr>
              <a:t>示例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0575DD81-2364-4471-1213-8AB8B709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888" y="2279651"/>
            <a:ext cx="615950" cy="461963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TO</a:t>
            </a:r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940D3FD8-BF0B-098D-25AD-4F52D6E00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4411663"/>
            <a:ext cx="1041400" cy="461962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NEXT</a:t>
            </a:r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2D48645D-8BE2-BDAC-1EE2-66C016F56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6" y="2325688"/>
            <a:ext cx="822325" cy="461962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FOR</a:t>
            </a:r>
          </a:p>
        </p:txBody>
      </p:sp>
      <p:sp>
        <p:nvSpPr>
          <p:cNvPr id="135176" name="Rectangle 8">
            <a:extLst>
              <a:ext uri="{FF2B5EF4-FFF2-40B4-BE49-F238E27FC236}">
                <a16:creationId xmlns:a16="http://schemas.microsoft.com/office/drawing/2014/main" id="{F54EED7D-DE91-1B55-67B2-2090464E5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6" y="2300288"/>
            <a:ext cx="398463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5177" name="Rectangle 9">
            <a:extLst>
              <a:ext uri="{FF2B5EF4-FFF2-40B4-BE49-F238E27FC236}">
                <a16:creationId xmlns:a16="http://schemas.microsoft.com/office/drawing/2014/main" id="{906515A2-8930-D6DE-A5D3-EECD0AE9A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9" y="3708401"/>
            <a:ext cx="446087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N</a:t>
            </a:r>
          </a:p>
        </p:txBody>
      </p:sp>
      <p:sp>
        <p:nvSpPr>
          <p:cNvPr id="135178" name="Rectangle 10">
            <a:extLst>
              <a:ext uri="{FF2B5EF4-FFF2-40B4-BE49-F238E27FC236}">
                <a16:creationId xmlns:a16="http://schemas.microsoft.com/office/drawing/2014/main" id="{2DEE0A6B-5DE8-03A4-78AC-25686D82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033713"/>
            <a:ext cx="500062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M</a:t>
            </a:r>
          </a:p>
        </p:txBody>
      </p:sp>
      <p:sp>
        <p:nvSpPr>
          <p:cNvPr id="135179" name="Rectangle 11">
            <a:extLst>
              <a:ext uri="{FF2B5EF4-FFF2-40B4-BE49-F238E27FC236}">
                <a16:creationId xmlns:a16="http://schemas.microsoft.com/office/drawing/2014/main" id="{370F2C07-10EC-1E0A-A0D5-57459C89B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3041651"/>
            <a:ext cx="287338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I</a:t>
            </a:r>
          </a:p>
        </p:txBody>
      </p:sp>
      <p:sp>
        <p:nvSpPr>
          <p:cNvPr id="135180" name="Rectangle 12">
            <a:extLst>
              <a:ext uri="{FF2B5EF4-FFF2-40B4-BE49-F238E27FC236}">
                <a16:creationId xmlns:a16="http://schemas.microsoft.com/office/drawing/2014/main" id="{0A9D0081-9023-3BEC-B313-3BB1B371E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1" y="3698876"/>
            <a:ext cx="328613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J</a:t>
            </a:r>
          </a:p>
        </p:txBody>
      </p:sp>
      <p:sp>
        <p:nvSpPr>
          <p:cNvPr id="135181" name="Rectangle 13">
            <a:extLst>
              <a:ext uri="{FF2B5EF4-FFF2-40B4-BE49-F238E27FC236}">
                <a16:creationId xmlns:a16="http://schemas.microsoft.com/office/drawing/2014/main" id="{AD06B78B-A72F-B878-A8E8-D1F702F39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3" y="3706813"/>
            <a:ext cx="398462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5182" name="Rectangle 14">
            <a:extLst>
              <a:ext uri="{FF2B5EF4-FFF2-40B4-BE49-F238E27FC236}">
                <a16:creationId xmlns:a16="http://schemas.microsoft.com/office/drawing/2014/main" id="{971C4E73-5D45-6626-72B4-99EF7078F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7188" y="3014663"/>
            <a:ext cx="398462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5183" name="Rectangle 15">
            <a:extLst>
              <a:ext uri="{FF2B5EF4-FFF2-40B4-BE49-F238E27FC236}">
                <a16:creationId xmlns:a16="http://schemas.microsoft.com/office/drawing/2014/main" id="{56B80824-BB59-887D-EE85-A70BF15B7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1" y="4416426"/>
            <a:ext cx="398463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9471" name="Rectangle 16">
            <a:extLst>
              <a:ext uri="{FF2B5EF4-FFF2-40B4-BE49-F238E27FC236}">
                <a16:creationId xmlns:a16="http://schemas.microsoft.com/office/drawing/2014/main" id="{91B7FFC5-DC55-EBDB-AFB0-637F5B8E0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201" y="2300288"/>
            <a:ext cx="506413" cy="461962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5185" name="Rectangle 17">
            <a:extLst>
              <a:ext uri="{FF2B5EF4-FFF2-40B4-BE49-F238E27FC236}">
                <a16:creationId xmlns:a16="http://schemas.microsoft.com/office/drawing/2014/main" id="{7EB5E339-8C62-59A6-6BA2-3A027EA1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01" y="2279651"/>
            <a:ext cx="752475" cy="4619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100</a:t>
            </a:r>
          </a:p>
        </p:txBody>
      </p:sp>
      <p:sp>
        <p:nvSpPr>
          <p:cNvPr id="135186" name="Rectangle 18">
            <a:extLst>
              <a:ext uri="{FF2B5EF4-FFF2-40B4-BE49-F238E27FC236}">
                <a16:creationId xmlns:a16="http://schemas.microsoft.com/office/drawing/2014/main" id="{FC5B3321-6A12-C6E4-48B2-9F7BDEF7D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63" y="3062288"/>
            <a:ext cx="506412" cy="461962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5187" name="Rectangle 19">
            <a:extLst>
              <a:ext uri="{FF2B5EF4-FFF2-40B4-BE49-F238E27FC236}">
                <a16:creationId xmlns:a16="http://schemas.microsoft.com/office/drawing/2014/main" id="{675C7FB1-C687-8104-49B4-E2484E00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698876"/>
            <a:ext cx="506412" cy="461963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5188" name="Rectangle 20">
            <a:extLst>
              <a:ext uri="{FF2B5EF4-FFF2-40B4-BE49-F238E27FC236}">
                <a16:creationId xmlns:a16="http://schemas.microsoft.com/office/drawing/2014/main" id="{F4CE2094-262C-D754-DCC5-E7041D03F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284413"/>
            <a:ext cx="373062" cy="4619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</a:t>
            </a:r>
          </a:p>
        </p:txBody>
      </p:sp>
      <p:sp>
        <p:nvSpPr>
          <p:cNvPr id="135189" name="Rectangle 21">
            <a:extLst>
              <a:ext uri="{FF2B5EF4-FFF2-40B4-BE49-F238E27FC236}">
                <a16:creationId xmlns:a16="http://schemas.microsoft.com/office/drawing/2014/main" id="{315D1B73-284B-1A75-0A62-AB1CA5D60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1" y="3040063"/>
            <a:ext cx="563563" cy="4619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</a:t>
            </a:r>
          </a:p>
        </p:txBody>
      </p:sp>
      <p:sp>
        <p:nvSpPr>
          <p:cNvPr id="135190" name="Rectangle 22">
            <a:extLst>
              <a:ext uri="{FF2B5EF4-FFF2-40B4-BE49-F238E27FC236}">
                <a16:creationId xmlns:a16="http://schemas.microsoft.com/office/drawing/2014/main" id="{A7B9F0E2-1C9F-B99C-6D57-F6FE7342A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3717926"/>
            <a:ext cx="563562" cy="4619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</a:t>
            </a:r>
          </a:p>
        </p:txBody>
      </p:sp>
      <p:sp>
        <p:nvSpPr>
          <p:cNvPr id="135191" name="Rectangle 23">
            <a:extLst>
              <a:ext uri="{FF2B5EF4-FFF2-40B4-BE49-F238E27FC236}">
                <a16:creationId xmlns:a16="http://schemas.microsoft.com/office/drawing/2014/main" id="{0E2E1C29-D69E-59CC-9619-D6B31389E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3025776"/>
            <a:ext cx="419100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+</a:t>
            </a:r>
          </a:p>
        </p:txBody>
      </p:sp>
      <p:sp>
        <p:nvSpPr>
          <p:cNvPr id="135192" name="Rectangle 24">
            <a:extLst>
              <a:ext uri="{FF2B5EF4-FFF2-40B4-BE49-F238E27FC236}">
                <a16:creationId xmlns:a16="http://schemas.microsoft.com/office/drawing/2014/main" id="{E6E52506-ED8E-481C-5097-5574D643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263" y="3705226"/>
            <a:ext cx="334962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*</a:t>
            </a:r>
          </a:p>
        </p:txBody>
      </p:sp>
      <p:sp>
        <p:nvSpPr>
          <p:cNvPr id="135193" name="Rectangle 25">
            <a:extLst>
              <a:ext uri="{FF2B5EF4-FFF2-40B4-BE49-F238E27FC236}">
                <a16:creationId xmlns:a16="http://schemas.microsoft.com/office/drawing/2014/main" id="{EF438665-FF63-BA3E-A73B-B75453D04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88" y="3009901"/>
            <a:ext cx="334962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*</a:t>
            </a:r>
          </a:p>
        </p:txBody>
      </p:sp>
      <p:sp>
        <p:nvSpPr>
          <p:cNvPr id="135194" name="Rectangle 26">
            <a:extLst>
              <a:ext uri="{FF2B5EF4-FFF2-40B4-BE49-F238E27FC236}">
                <a16:creationId xmlns:a16="http://schemas.microsoft.com/office/drawing/2014/main" id="{7284D106-0A7D-BB6F-A009-74CDDEEE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3727451"/>
            <a:ext cx="419100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+</a:t>
            </a:r>
          </a:p>
        </p:txBody>
      </p:sp>
      <p:sp>
        <p:nvSpPr>
          <p:cNvPr id="135195" name="Rectangle 27">
            <a:extLst>
              <a:ext uri="{FF2B5EF4-FFF2-40B4-BE49-F238E27FC236}">
                <a16:creationId xmlns:a16="http://schemas.microsoft.com/office/drawing/2014/main" id="{3F805A05-FEFE-C4B3-4963-61EC23878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6" y="5880101"/>
            <a:ext cx="51085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变量、常数及其运算结果均是表达式</a:t>
            </a:r>
          </a:p>
        </p:txBody>
      </p:sp>
      <p:sp>
        <p:nvSpPr>
          <p:cNvPr id="135196" name="Rectangle 28">
            <a:extLst>
              <a:ext uri="{FF2B5EF4-FFF2-40B4-BE49-F238E27FC236}">
                <a16:creationId xmlns:a16="http://schemas.microsoft.com/office/drawing/2014/main" id="{60CF613C-040B-3CCA-7FF0-C6644399A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9" y="3025776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197" name="Rectangle 29">
            <a:extLst>
              <a:ext uri="{FF2B5EF4-FFF2-40B4-BE49-F238E27FC236}">
                <a16:creationId xmlns:a16="http://schemas.microsoft.com/office/drawing/2014/main" id="{E62528E4-EC92-ACAC-8525-AA3AC8AFB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451" y="3038476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198" name="Rectangle 30">
            <a:extLst>
              <a:ext uri="{FF2B5EF4-FFF2-40B4-BE49-F238E27FC236}">
                <a16:creationId xmlns:a16="http://schemas.microsoft.com/office/drawing/2014/main" id="{19A0C267-EC4A-6DFE-F1FD-D45555034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4" y="3716338"/>
            <a:ext cx="1108075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199" name="Rectangle 31">
            <a:extLst>
              <a:ext uri="{FF2B5EF4-FFF2-40B4-BE49-F238E27FC236}">
                <a16:creationId xmlns:a16="http://schemas.microsoft.com/office/drawing/2014/main" id="{B4DD7478-99DF-2745-189A-79BC2E153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214" y="3687763"/>
            <a:ext cx="1108075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200" name="Rectangle 32">
            <a:extLst>
              <a:ext uri="{FF2B5EF4-FFF2-40B4-BE49-F238E27FC236}">
                <a16:creationId xmlns:a16="http://schemas.microsoft.com/office/drawing/2014/main" id="{0D02862E-EDFD-6116-F71A-46F2B63F9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1" y="2289176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201" name="Rectangle 33">
            <a:extLst>
              <a:ext uri="{FF2B5EF4-FFF2-40B4-BE49-F238E27FC236}">
                <a16:creationId xmlns:a16="http://schemas.microsoft.com/office/drawing/2014/main" id="{1A56F749-7D3E-ADF1-AC5C-D24FBCE4C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9" y="2281238"/>
            <a:ext cx="1108075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</a:t>
            </a:r>
          </a:p>
        </p:txBody>
      </p:sp>
      <p:sp>
        <p:nvSpPr>
          <p:cNvPr id="135202" name="Rectangle 34">
            <a:extLst>
              <a:ext uri="{FF2B5EF4-FFF2-40B4-BE49-F238E27FC236}">
                <a16:creationId xmlns:a16="http://schemas.microsoft.com/office/drawing/2014/main" id="{5F10FED0-6D0E-43F5-1DCE-1CC7564E2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9" y="5853113"/>
            <a:ext cx="5724525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赋值句的形式为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“</a:t>
            </a: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变量　：＝　表达式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”</a:t>
            </a:r>
            <a:endParaRPr lang="zh-CN" altLang="en-US" sz="2400" b="1">
              <a:solidFill>
                <a:srgbClr val="FFFFFF"/>
              </a:solidFill>
              <a:latin typeface="楷体_GB2312"/>
              <a:ea typeface="楷体_GB2312"/>
            </a:endParaRPr>
          </a:p>
        </p:txBody>
      </p:sp>
      <p:sp>
        <p:nvSpPr>
          <p:cNvPr id="135203" name="Rectangle 35">
            <a:extLst>
              <a:ext uri="{FF2B5EF4-FFF2-40B4-BE49-F238E27FC236}">
                <a16:creationId xmlns:a16="http://schemas.microsoft.com/office/drawing/2014/main" id="{0F307C48-B67E-BEB4-1ECA-B1DF74135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6" y="3060701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赋值句</a:t>
            </a:r>
          </a:p>
        </p:txBody>
      </p:sp>
      <p:sp>
        <p:nvSpPr>
          <p:cNvPr id="135204" name="Rectangle 36">
            <a:extLst>
              <a:ext uri="{FF2B5EF4-FFF2-40B4-BE49-F238E27FC236}">
                <a16:creationId xmlns:a16="http://schemas.microsoft.com/office/drawing/2014/main" id="{8994531C-E99C-CCA0-552F-906DD24DB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289" y="3717926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赋值句</a:t>
            </a:r>
          </a:p>
        </p:txBody>
      </p:sp>
      <p:sp>
        <p:nvSpPr>
          <p:cNvPr id="135205" name="Rectangle 37">
            <a:extLst>
              <a:ext uri="{FF2B5EF4-FFF2-40B4-BE49-F238E27FC236}">
                <a16:creationId xmlns:a16="http://schemas.microsoft.com/office/drawing/2014/main" id="{9282E174-3355-3DF6-07B2-6209D4F96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588" y="5865813"/>
            <a:ext cx="3568700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多个赋值句可构成语句块</a:t>
            </a:r>
          </a:p>
        </p:txBody>
      </p:sp>
      <p:sp>
        <p:nvSpPr>
          <p:cNvPr id="135206" name="Rectangle 38">
            <a:extLst>
              <a:ext uri="{FF2B5EF4-FFF2-40B4-BE49-F238E27FC236}">
                <a16:creationId xmlns:a16="http://schemas.microsoft.com/office/drawing/2014/main" id="{22ADCC2F-8868-585C-84F5-51BA22723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1" y="3419476"/>
            <a:ext cx="110807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语句块</a:t>
            </a:r>
          </a:p>
        </p:txBody>
      </p:sp>
      <p:sp>
        <p:nvSpPr>
          <p:cNvPr id="135207" name="Rectangle 39">
            <a:extLst>
              <a:ext uri="{FF2B5EF4-FFF2-40B4-BE49-F238E27FC236}">
                <a16:creationId xmlns:a16="http://schemas.microsoft.com/office/drawing/2014/main" id="{700AB3AC-0044-5AF3-B117-E73CD079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1" y="5857876"/>
            <a:ext cx="449262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表达式可作为循环的初值和终值</a:t>
            </a:r>
          </a:p>
        </p:txBody>
      </p:sp>
      <p:sp>
        <p:nvSpPr>
          <p:cNvPr id="135208" name="Rectangle 40">
            <a:extLst>
              <a:ext uri="{FF2B5EF4-FFF2-40B4-BE49-F238E27FC236}">
                <a16:creationId xmlns:a16="http://schemas.microsoft.com/office/drawing/2014/main" id="{E4CA367F-A55D-C74A-56E6-706219C95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638" y="2279651"/>
            <a:ext cx="800100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初值</a:t>
            </a:r>
          </a:p>
        </p:txBody>
      </p:sp>
      <p:sp>
        <p:nvSpPr>
          <p:cNvPr id="135209" name="Rectangle 41">
            <a:extLst>
              <a:ext uri="{FF2B5EF4-FFF2-40B4-BE49-F238E27FC236}">
                <a16:creationId xmlns:a16="http://schemas.microsoft.com/office/drawing/2014/main" id="{29B9870D-75B5-7816-8522-CD91085EF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7613" y="2293938"/>
            <a:ext cx="800100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终值</a:t>
            </a:r>
          </a:p>
        </p:txBody>
      </p:sp>
      <p:sp>
        <p:nvSpPr>
          <p:cNvPr id="135210" name="Rectangle 42">
            <a:extLst>
              <a:ext uri="{FF2B5EF4-FFF2-40B4-BE49-F238E27FC236}">
                <a16:creationId xmlns:a16="http://schemas.microsoft.com/office/drawing/2014/main" id="{D3DD0123-1B3B-2C1E-26C5-CE572C3AC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4" y="5849938"/>
            <a:ext cx="5108575" cy="461962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简单数值变量可作为循环的控制变量</a:t>
            </a:r>
          </a:p>
        </p:txBody>
      </p:sp>
      <p:sp>
        <p:nvSpPr>
          <p:cNvPr id="135211" name="Rectangle 43">
            <a:extLst>
              <a:ext uri="{FF2B5EF4-FFF2-40B4-BE49-F238E27FC236}">
                <a16:creationId xmlns:a16="http://schemas.microsoft.com/office/drawing/2014/main" id="{5EB34E7E-ABAC-92B6-38EC-9FEA3CFD0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2308226"/>
            <a:ext cx="1416050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控制变量</a:t>
            </a:r>
          </a:p>
        </p:txBody>
      </p:sp>
      <p:sp>
        <p:nvSpPr>
          <p:cNvPr id="135212" name="Rectangle 44">
            <a:extLst>
              <a:ext uri="{FF2B5EF4-FFF2-40B4-BE49-F238E27FC236}">
                <a16:creationId xmlns:a16="http://schemas.microsoft.com/office/drawing/2014/main" id="{FF88F757-9CB5-8F45-0045-C1E49DAC1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4397376"/>
            <a:ext cx="1416050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控制变量</a:t>
            </a:r>
          </a:p>
        </p:txBody>
      </p:sp>
      <p:sp>
        <p:nvSpPr>
          <p:cNvPr id="135213" name="Rectangle 45">
            <a:extLst>
              <a:ext uri="{FF2B5EF4-FFF2-40B4-BE49-F238E27FC236}">
                <a16:creationId xmlns:a16="http://schemas.microsoft.com/office/drawing/2014/main" id="{F5C926F1-A19E-5816-E670-13863D8FF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5441951"/>
            <a:ext cx="6032500" cy="101441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此时可以看出上述结果符合ＦＯＲ循环语句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FFFF"/>
                </a:solidFill>
                <a:latin typeface="楷体_GB2312"/>
                <a:ea typeface="楷体_GB2312"/>
              </a:rPr>
              <a:t>的语法定义，故语法分析成功完成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35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/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35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/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35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35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135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/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/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5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4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/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000"/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0"/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135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35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6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135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135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135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000"/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0"/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0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10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000"/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/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1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4" dur="5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13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10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/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135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/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5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10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10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/>
                                        <p:tgtEl>
                                          <p:spTgt spid="135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35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78" dur="500"/>
                                        <p:tgtEl>
                                          <p:spTgt spid="135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3" dur="500"/>
                                        <p:tgtEl>
                                          <p:spTgt spid="13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1000"/>
                                        <p:tgtEl>
                                          <p:spTgt spid="135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1000"/>
                                        <p:tgtEl>
                                          <p:spTgt spid="135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/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/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35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35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05" dur="500"/>
                                        <p:tgtEl>
                                          <p:spTgt spid="135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0" dur="500"/>
                                        <p:tgtEl>
                                          <p:spTgt spid="13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10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135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35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10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35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35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39" dur="500"/>
                                        <p:tgtEl>
                                          <p:spTgt spid="135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4" dur="500"/>
                                        <p:tgtEl>
                                          <p:spTgt spid="13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10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/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/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135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35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35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9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10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/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/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35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73" dur="500"/>
                                        <p:tgtEl>
                                          <p:spTgt spid="135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8" dur="500"/>
                                        <p:tgtEl>
                                          <p:spTgt spid="13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6" grpId="0" animBg="1"/>
      <p:bldP spid="135177" grpId="0" animBg="1"/>
      <p:bldP spid="135178" grpId="0" animBg="1"/>
      <p:bldP spid="135179" grpId="0" animBg="1"/>
      <p:bldP spid="135180" grpId="0" animBg="1"/>
      <p:bldP spid="135181" grpId="0" animBg="1"/>
      <p:bldP spid="135182" grpId="0" animBg="1"/>
      <p:bldP spid="135183" grpId="0" animBg="1"/>
      <p:bldP spid="135185" grpId="0" animBg="1"/>
      <p:bldP spid="135186" grpId="0" animBg="1"/>
      <p:bldP spid="135187" grpId="0" animBg="1"/>
      <p:bldP spid="135188" grpId="0" animBg="1"/>
      <p:bldP spid="135189" grpId="0" animBg="1"/>
      <p:bldP spid="135190" grpId="0" animBg="1"/>
      <p:bldP spid="135191" grpId="0" animBg="1"/>
      <p:bldP spid="135192" grpId="0" animBg="1"/>
      <p:bldP spid="135193" grpId="0" animBg="1"/>
      <p:bldP spid="135194" grpId="0" animBg="1"/>
      <p:bldP spid="135195" grpId="0" animBg="1"/>
      <p:bldP spid="135195" grpId="1" animBg="1"/>
      <p:bldP spid="135196" grpId="0" animBg="1"/>
      <p:bldP spid="135196" grpId="1" animBg="1"/>
      <p:bldP spid="135197" grpId="0" animBg="1"/>
      <p:bldP spid="135197" grpId="1" animBg="1"/>
      <p:bldP spid="135198" grpId="0" animBg="1"/>
      <p:bldP spid="135198" grpId="1" animBg="1"/>
      <p:bldP spid="135199" grpId="0" animBg="1"/>
      <p:bldP spid="135199" grpId="1" animBg="1"/>
      <p:bldP spid="135200" grpId="0" animBg="1"/>
      <p:bldP spid="135200" grpId="1" animBg="1"/>
      <p:bldP spid="135201" grpId="0" animBg="1"/>
      <p:bldP spid="135201" grpId="1" animBg="1"/>
      <p:bldP spid="135202" grpId="0" animBg="1"/>
      <p:bldP spid="135202" grpId="1" animBg="1"/>
      <p:bldP spid="135203" grpId="0" animBg="1"/>
      <p:bldP spid="135203" grpId="1" animBg="1"/>
      <p:bldP spid="135204" grpId="0" animBg="1"/>
      <p:bldP spid="135204" grpId="1" animBg="1"/>
      <p:bldP spid="135205" grpId="0" animBg="1"/>
      <p:bldP spid="135205" grpId="1" animBg="1"/>
      <p:bldP spid="135206" grpId="0" animBg="1"/>
      <p:bldP spid="135207" grpId="0" animBg="1"/>
      <p:bldP spid="135207" grpId="1" animBg="1"/>
      <p:bldP spid="135208" grpId="0" animBg="1"/>
      <p:bldP spid="135209" grpId="0" animBg="1"/>
      <p:bldP spid="135210" grpId="0" animBg="1"/>
      <p:bldP spid="135210" grpId="1" animBg="1"/>
      <p:bldP spid="135211" grpId="0" animBg="1"/>
      <p:bldP spid="135212" grpId="0" animBg="1"/>
      <p:bldP spid="1352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DDBD0733-5724-95DF-996C-2323838D5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6" y="547688"/>
            <a:ext cx="6545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3600" b="1">
                <a:solidFill>
                  <a:srgbClr val="003399"/>
                </a:solidFill>
                <a:latin typeface="楷体_GB2312"/>
                <a:ea typeface="楷体_GB2312"/>
              </a:rPr>
              <a:t>3.</a:t>
            </a: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语义分析以及中间代码生成</a:t>
            </a:r>
          </a:p>
        </p:txBody>
      </p:sp>
      <p:sp>
        <p:nvSpPr>
          <p:cNvPr id="136196" name="Rectangle 4">
            <a:extLst>
              <a:ext uri="{FF2B5EF4-FFF2-40B4-BE49-F238E27FC236}">
                <a16:creationId xmlns:a16="http://schemas.microsoft.com/office/drawing/2014/main" id="{7B09FF32-2976-77B9-E802-66A22709C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335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任务</a:t>
            </a:r>
          </a:p>
        </p:txBody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45EE7087-912D-13A2-9D4E-8C237E98B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392488"/>
            <a:ext cx="2012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所做转换</a:t>
            </a:r>
          </a:p>
        </p:txBody>
      </p:sp>
      <p:sp>
        <p:nvSpPr>
          <p:cNvPr id="136198" name="Rectangle 6">
            <a:extLst>
              <a:ext uri="{FF2B5EF4-FFF2-40B4-BE49-F238E27FC236}">
                <a16:creationId xmlns:a16="http://schemas.microsoft.com/office/drawing/2014/main" id="{57080CD6-BE7C-C2DB-2061-41D893DA2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4981575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依据</a:t>
            </a:r>
          </a:p>
        </p:txBody>
      </p:sp>
      <p:sp>
        <p:nvSpPr>
          <p:cNvPr id="136199" name="Rectangle 7">
            <a:extLst>
              <a:ext uri="{FF2B5EF4-FFF2-40B4-BE49-F238E27FC236}">
                <a16:creationId xmlns:a16="http://schemas.microsoft.com/office/drawing/2014/main" id="{06AF3B4B-4B70-E5AF-6ACF-A7D7748A4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122" y="5574834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语义规则</a:t>
            </a:r>
          </a:p>
        </p:txBody>
      </p:sp>
      <p:sp>
        <p:nvSpPr>
          <p:cNvPr id="136200" name="Rectangle 8">
            <a:extLst>
              <a:ext uri="{FF2B5EF4-FFF2-40B4-BE49-F238E27FC236}">
                <a16:creationId xmlns:a16="http://schemas.microsoft.com/office/drawing/2014/main" id="{DC07B34C-F944-BB4B-A7E0-C1B4BDAE4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600" y="4932363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主要理论基础</a:t>
            </a:r>
          </a:p>
        </p:txBody>
      </p:sp>
      <p:sp>
        <p:nvSpPr>
          <p:cNvPr id="136201" name="Rectangle 9">
            <a:extLst>
              <a:ext uri="{FF2B5EF4-FFF2-40B4-BE49-F238E27FC236}">
                <a16:creationId xmlns:a16="http://schemas.microsoft.com/office/drawing/2014/main" id="{676ED6BC-6E86-BBD7-C393-6A8944463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8435" y="5589121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属性文法</a:t>
            </a:r>
          </a:p>
        </p:txBody>
      </p:sp>
      <p:sp>
        <p:nvSpPr>
          <p:cNvPr id="136202" name="Rectangle 10">
            <a:extLst>
              <a:ext uri="{FF2B5EF4-FFF2-40B4-BE49-F238E27FC236}">
                <a16:creationId xmlns:a16="http://schemas.microsoft.com/office/drawing/2014/main" id="{22159846-5695-B11F-6664-02DB4DAFE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122" y="4115921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语法范畴</a:t>
            </a:r>
          </a:p>
        </p:txBody>
      </p:sp>
      <p:sp>
        <p:nvSpPr>
          <p:cNvPr id="136203" name="Rectangle 11">
            <a:extLst>
              <a:ext uri="{FF2B5EF4-FFF2-40B4-BE49-F238E27FC236}">
                <a16:creationId xmlns:a16="http://schemas.microsoft.com/office/drawing/2014/main" id="{0D03545F-9E2B-E8B1-0D3E-3039CF8C4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335" y="4087346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36204" name="Line 12">
            <a:extLst>
              <a:ext uri="{FF2B5EF4-FFF2-40B4-BE49-F238E27FC236}">
                <a16:creationId xmlns:a16="http://schemas.microsoft.com/office/drawing/2014/main" id="{F5D27327-C749-7C8C-38CE-FF7D7EB164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7213" y="4343400"/>
            <a:ext cx="1935162" cy="206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36205" name="Rectangle 13">
            <a:extLst>
              <a:ext uri="{FF2B5EF4-FFF2-40B4-BE49-F238E27FC236}">
                <a16:creationId xmlns:a16="http://schemas.microsoft.com/office/drawing/2014/main" id="{48974E51-2570-EA7F-2C39-10E47463B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1" y="2038341"/>
            <a:ext cx="6988175" cy="954107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对语法分析所识别出的各类语法范畴，分析其含义，并进行初步翻译（产生中间代码）。</a:t>
            </a:r>
          </a:p>
        </p:txBody>
      </p:sp>
      <p:sp>
        <p:nvSpPr>
          <p:cNvPr id="136206" name="Line 14">
            <a:extLst>
              <a:ext uri="{FF2B5EF4-FFF2-40B4-BE49-F238E27FC236}">
                <a16:creationId xmlns:a16="http://schemas.microsoft.com/office/drawing/2014/main" id="{11413295-F0CB-0D5E-9FC4-5804A409C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013" y="5908676"/>
            <a:ext cx="3289300" cy="476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3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/>
      <p:bldP spid="136197" grpId="0"/>
      <p:bldP spid="136198" grpId="0"/>
      <p:bldP spid="136199" grpId="0" animBg="1"/>
      <p:bldP spid="136200" grpId="0"/>
      <p:bldP spid="136201" grpId="0" animBg="1"/>
      <p:bldP spid="136202" grpId="0" animBg="1"/>
      <p:bldP spid="136203" grpId="0" animBg="1"/>
      <p:bldP spid="1362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A508-1D14-9718-9F0C-51A37F2CE7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00"/>
                </a:solidFill>
              </a:rPr>
              <a:t>第一阶段：对语法范畴进行静态语义检查，例如：变量是否定义、类型是否正确等。</a:t>
            </a:r>
            <a:endParaRPr lang="en-US" altLang="zh-CN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00"/>
                </a:solidFill>
              </a:rPr>
              <a:t>若静态语义检查，则进行第二阶段工作</a:t>
            </a:r>
            <a:endParaRPr lang="en-US" altLang="zh-CN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00"/>
                </a:solidFill>
              </a:rPr>
              <a:t>第二阶段：进行中间代码的翻译</a:t>
            </a:r>
            <a:endParaRPr lang="en-US" altLang="zh-CN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E8E6C9-8FB0-5F73-E6A9-EAACFD686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/>
              <a:t>中间代码生成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95AFAC3-44BC-4CD9-F4CB-59B9E10AB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5625" y="1593851"/>
            <a:ext cx="8540750" cy="4194175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/>
              <a:t> </a:t>
            </a:r>
            <a:r>
              <a:rPr lang="zh-CN" altLang="en-US" b="1">
                <a:solidFill>
                  <a:srgbClr val="000000"/>
                </a:solidFill>
              </a:rPr>
              <a:t>将源程序翻译成中间代码。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</a:rPr>
              <a:t>              所谓“中间代码”是一种含义明确、便于处理的记号系统。这种记号系统与计算机的指令形式有某种程度的接近，能比较容易将其变换为计算机的机器指令。</a:t>
            </a:r>
            <a:endParaRPr lang="en-US" altLang="zh-CN" b="1">
              <a:solidFill>
                <a:srgbClr val="000000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</a:rPr>
              <a:t>如“四元式”，其形式如下：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b="1"/>
          </a:p>
        </p:txBody>
      </p:sp>
      <p:graphicFrame>
        <p:nvGraphicFramePr>
          <p:cNvPr id="61470" name="Group 30">
            <a:extLst>
              <a:ext uri="{FF2B5EF4-FFF2-40B4-BE49-F238E27FC236}">
                <a16:creationId xmlns:a16="http://schemas.microsoft.com/office/drawing/2014/main" id="{DD6BB969-C4AD-13EE-8A84-864861B7EE6F}"/>
              </a:ext>
            </a:extLst>
          </p:cNvPr>
          <p:cNvGraphicFramePr>
            <a:graphicFrameLocks noGrp="1"/>
          </p:cNvGraphicFramePr>
          <p:nvPr/>
        </p:nvGraphicFramePr>
        <p:xfrm>
          <a:off x="3195638" y="5630864"/>
          <a:ext cx="6335712" cy="51753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算符</a:t>
                      </a: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左操作数</a:t>
                      </a: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右操作数</a:t>
                      </a: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结果</a:t>
                      </a: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C1C2C45-DE80-6E7B-0E2D-41C8568A2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303214"/>
            <a:ext cx="8229600" cy="935037"/>
          </a:xfrm>
        </p:spPr>
        <p:txBody>
          <a:bodyPr/>
          <a:lstStyle/>
          <a:p>
            <a:pPr algn="l" eaLnBrk="1" hangingPunct="1"/>
            <a:r>
              <a:rPr lang="zh-CN" altLang="en-US" b="1">
                <a:solidFill>
                  <a:srgbClr val="000000"/>
                </a:solidFill>
              </a:rPr>
              <a:t>中间代码生成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CAADD16-7A98-B050-4C58-32E89C5614E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58925" y="1490664"/>
            <a:ext cx="4387850" cy="6191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例：</a:t>
            </a:r>
            <a:r>
              <a:rPr lang="en-US" altLang="zh-CN" sz="2800" b="1">
                <a:solidFill>
                  <a:srgbClr val="000000"/>
                </a:solidFill>
              </a:rPr>
              <a:t>Z=(X+0.418)*Y/W</a:t>
            </a:r>
          </a:p>
        </p:txBody>
      </p:sp>
      <p:graphicFrame>
        <p:nvGraphicFramePr>
          <p:cNvPr id="53435" name="Group 187">
            <a:extLst>
              <a:ext uri="{FF2B5EF4-FFF2-40B4-BE49-F238E27FC236}">
                <a16:creationId xmlns:a16="http://schemas.microsoft.com/office/drawing/2014/main" id="{20F19671-101E-D623-E807-D55B5534FA6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66988" y="2197100"/>
          <a:ext cx="7396162" cy="2751138"/>
        </p:xfrm>
        <a:graphic>
          <a:graphicData uri="http://schemas.openxmlformats.org/drawingml/2006/table">
            <a:tbl>
              <a:tblPr/>
              <a:tblGrid>
                <a:gridCol w="20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3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楷体_GB2312"/>
                      </a:endParaRP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序号	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算符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左操作数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右操作数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结果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(1)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+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X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0.418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T1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楷体_GB2312"/>
                      </a:endParaRP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69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楷体_GB2312"/>
                      </a:endParaRP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(2)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*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T1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Y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T2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(3)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/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T2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W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楷体_GB2312"/>
                        </a:rPr>
                        <a:t>Z</a:t>
                      </a:r>
                    </a:p>
                  </a:txBody>
                  <a:tcPr marL="91428" marR="91428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F70B9118-2CEC-10DA-58DC-83349606A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5191126"/>
            <a:ext cx="84074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800">
                <a:solidFill>
                  <a:srgbClr val="000000"/>
                </a:solidFill>
                <a:ea typeface="楷体_GB2312"/>
              </a:rPr>
              <a:t>T1</a:t>
            </a:r>
            <a:r>
              <a:rPr lang="zh-CN" altLang="en-US" sz="2800" b="1">
                <a:solidFill>
                  <a:srgbClr val="000000"/>
                </a:solidFill>
                <a:ea typeface="楷体_GB231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ea typeface="楷体_GB2312"/>
              </a:rPr>
              <a:t>T2 </a:t>
            </a:r>
            <a:r>
              <a:rPr lang="zh-CN" altLang="en-US" sz="2800" b="1">
                <a:solidFill>
                  <a:srgbClr val="000000"/>
                </a:solidFill>
                <a:ea typeface="楷体_GB2312"/>
              </a:rPr>
              <a:t>是编译期间引进的临时变量</a:t>
            </a:r>
            <a:endParaRPr lang="en-US" altLang="zh-CN" sz="2800">
              <a:solidFill>
                <a:srgbClr val="000000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bldLvl="3"/>
      <p:bldP spid="6" grpId="0" build="p" bldLvl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2">
            <a:extLst>
              <a:ext uri="{FF2B5EF4-FFF2-40B4-BE49-F238E27FC236}">
                <a16:creationId xmlns:a16="http://schemas.microsoft.com/office/drawing/2014/main" id="{17A7EDA6-AD79-18BE-2F88-4CF6B3F7628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98638" y="488950"/>
            <a:ext cx="4316412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3600" b="1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3C36691-8DEC-C9FB-3762-D94EE119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498476"/>
            <a:ext cx="43767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3600" b="1">
                <a:solidFill>
                  <a:srgbClr val="003399"/>
                </a:solidFill>
                <a:latin typeface="楷体_GB2312"/>
                <a:ea typeface="楷体_GB2312"/>
              </a:rPr>
              <a:t>3.</a:t>
            </a: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中间代码生成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E0127420-B4A3-5493-79E5-7A6F7A887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038" y="1296988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示例</a:t>
            </a:r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E89A5EF5-D7E9-EF71-32C7-BBB38FD91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300" y="3000376"/>
            <a:ext cx="615950" cy="461963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TO</a:t>
            </a:r>
          </a:p>
        </p:txBody>
      </p:sp>
      <p:sp>
        <p:nvSpPr>
          <p:cNvPr id="137222" name="Rectangle 6">
            <a:extLst>
              <a:ext uri="{FF2B5EF4-FFF2-40B4-BE49-F238E27FC236}">
                <a16:creationId xmlns:a16="http://schemas.microsoft.com/office/drawing/2014/main" id="{F35509EF-BF68-5F73-49AB-0B0815E08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5091113"/>
            <a:ext cx="1041400" cy="461962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NEXT</a:t>
            </a:r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088C43AA-F3EE-24C4-CFD7-5AD5F982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9" y="3025776"/>
            <a:ext cx="822325" cy="461963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FOR</a:t>
            </a:r>
          </a:p>
        </p:txBody>
      </p:sp>
      <p:sp>
        <p:nvSpPr>
          <p:cNvPr id="137224" name="Rectangle 8">
            <a:extLst>
              <a:ext uri="{FF2B5EF4-FFF2-40B4-BE49-F238E27FC236}">
                <a16:creationId xmlns:a16="http://schemas.microsoft.com/office/drawing/2014/main" id="{2A4E585F-C609-18BA-CEDD-2C4453D7A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6" y="3021013"/>
            <a:ext cx="398463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7225" name="Rectangle 9">
            <a:extLst>
              <a:ext uri="{FF2B5EF4-FFF2-40B4-BE49-F238E27FC236}">
                <a16:creationId xmlns:a16="http://schemas.microsoft.com/office/drawing/2014/main" id="{C8F0BD5F-441D-356C-09EE-081479EFD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475" y="4408488"/>
            <a:ext cx="446088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N</a:t>
            </a:r>
          </a:p>
        </p:txBody>
      </p:sp>
      <p:sp>
        <p:nvSpPr>
          <p:cNvPr id="137226" name="Rectangle 10">
            <a:extLst>
              <a:ext uri="{FF2B5EF4-FFF2-40B4-BE49-F238E27FC236}">
                <a16:creationId xmlns:a16="http://schemas.microsoft.com/office/drawing/2014/main" id="{5EFE33AD-3057-AED2-102E-A8E423DF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26" y="3692526"/>
            <a:ext cx="500063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M</a:t>
            </a:r>
          </a:p>
        </p:txBody>
      </p:sp>
      <p:sp>
        <p:nvSpPr>
          <p:cNvPr id="137227" name="Rectangle 11">
            <a:extLst>
              <a:ext uri="{FF2B5EF4-FFF2-40B4-BE49-F238E27FC236}">
                <a16:creationId xmlns:a16="http://schemas.microsoft.com/office/drawing/2014/main" id="{0CD9F7FB-12FB-6F9A-15B7-34339DCD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164" y="3762376"/>
            <a:ext cx="287337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I</a:t>
            </a:r>
          </a:p>
        </p:txBody>
      </p:sp>
      <p:sp>
        <p:nvSpPr>
          <p:cNvPr id="137228" name="Rectangle 12">
            <a:extLst>
              <a:ext uri="{FF2B5EF4-FFF2-40B4-BE49-F238E27FC236}">
                <a16:creationId xmlns:a16="http://schemas.microsoft.com/office/drawing/2014/main" id="{0E8DE8FC-5972-E431-EA2C-0E7D56B06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4419601"/>
            <a:ext cx="328612" cy="461963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J</a:t>
            </a:r>
          </a:p>
        </p:txBody>
      </p:sp>
      <p:sp>
        <p:nvSpPr>
          <p:cNvPr id="137229" name="Rectangle 13">
            <a:extLst>
              <a:ext uri="{FF2B5EF4-FFF2-40B4-BE49-F238E27FC236}">
                <a16:creationId xmlns:a16="http://schemas.microsoft.com/office/drawing/2014/main" id="{661AB445-DCB3-6B90-20A8-D00EB6126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4427538"/>
            <a:ext cx="398463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7230" name="Rectangle 14">
            <a:extLst>
              <a:ext uri="{FF2B5EF4-FFF2-40B4-BE49-F238E27FC236}">
                <a16:creationId xmlns:a16="http://schemas.microsoft.com/office/drawing/2014/main" id="{8AA3148C-70EF-D02E-279A-4DAA823A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6" y="3735388"/>
            <a:ext cx="398463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7231" name="Rectangle 15">
            <a:extLst>
              <a:ext uri="{FF2B5EF4-FFF2-40B4-BE49-F238E27FC236}">
                <a16:creationId xmlns:a16="http://schemas.microsoft.com/office/drawing/2014/main" id="{32407E0C-4AF6-00CB-DF77-425E8FE3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5075238"/>
            <a:ext cx="398462" cy="46196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K</a:t>
            </a:r>
          </a:p>
        </p:txBody>
      </p:sp>
      <p:sp>
        <p:nvSpPr>
          <p:cNvPr id="137232" name="Rectangle 16">
            <a:extLst>
              <a:ext uri="{FF2B5EF4-FFF2-40B4-BE49-F238E27FC236}">
                <a16:creationId xmlns:a16="http://schemas.microsoft.com/office/drawing/2014/main" id="{6A9D7EC3-CF3D-2C5F-B7C2-B794A4A4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926" y="3021013"/>
            <a:ext cx="506413" cy="461962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7233" name="Rectangle 17">
            <a:extLst>
              <a:ext uri="{FF2B5EF4-FFF2-40B4-BE49-F238E27FC236}">
                <a16:creationId xmlns:a16="http://schemas.microsoft.com/office/drawing/2014/main" id="{82E6CBC1-F1DE-44AE-B5B2-885C2C18C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9" y="3000376"/>
            <a:ext cx="752475" cy="4619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100</a:t>
            </a:r>
          </a:p>
        </p:txBody>
      </p:sp>
      <p:sp>
        <p:nvSpPr>
          <p:cNvPr id="137234" name="Rectangle 18">
            <a:extLst>
              <a:ext uri="{FF2B5EF4-FFF2-40B4-BE49-F238E27FC236}">
                <a16:creationId xmlns:a16="http://schemas.microsoft.com/office/drawing/2014/main" id="{20AD2BC6-DA90-D362-E033-635A5176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1" y="3783013"/>
            <a:ext cx="506413" cy="461962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7235" name="Rectangle 19">
            <a:extLst>
              <a:ext uri="{FF2B5EF4-FFF2-40B4-BE49-F238E27FC236}">
                <a16:creationId xmlns:a16="http://schemas.microsoft.com/office/drawing/2014/main" id="{9B07D5CF-4886-1BC5-A646-58B0C692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1" y="4419601"/>
            <a:ext cx="506413" cy="461963"/>
          </a:xfrm>
          <a:prstGeom prst="rect">
            <a:avLst/>
          </a:prstGeom>
          <a:solidFill>
            <a:srgbClr val="99FF99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FF"/>
                </a:solidFill>
                <a:latin typeface="楷体_GB2312"/>
                <a:ea typeface="楷体_GB2312"/>
              </a:rPr>
              <a:t>:=</a:t>
            </a:r>
          </a:p>
        </p:txBody>
      </p:sp>
      <p:sp>
        <p:nvSpPr>
          <p:cNvPr id="137236" name="Rectangle 20">
            <a:extLst>
              <a:ext uri="{FF2B5EF4-FFF2-40B4-BE49-F238E27FC236}">
                <a16:creationId xmlns:a16="http://schemas.microsoft.com/office/drawing/2014/main" id="{A8618A5E-078F-C82F-8BCE-CBEC45563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1" y="3005138"/>
            <a:ext cx="373063" cy="4619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</a:t>
            </a:r>
          </a:p>
        </p:txBody>
      </p:sp>
      <p:sp>
        <p:nvSpPr>
          <p:cNvPr id="137237" name="Rectangle 21">
            <a:extLst>
              <a:ext uri="{FF2B5EF4-FFF2-40B4-BE49-F238E27FC236}">
                <a16:creationId xmlns:a16="http://schemas.microsoft.com/office/drawing/2014/main" id="{24EF1138-BD4C-BFDC-A920-0109F06E4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3760788"/>
            <a:ext cx="563562" cy="461962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</a:t>
            </a:r>
          </a:p>
        </p:txBody>
      </p:sp>
      <p:sp>
        <p:nvSpPr>
          <p:cNvPr id="137238" name="Rectangle 22">
            <a:extLst>
              <a:ext uri="{FF2B5EF4-FFF2-40B4-BE49-F238E27FC236}">
                <a16:creationId xmlns:a16="http://schemas.microsoft.com/office/drawing/2014/main" id="{D65173AC-1F7B-52F6-6635-E3DB99850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526" y="4438651"/>
            <a:ext cx="563563" cy="4619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10</a:t>
            </a:r>
          </a:p>
        </p:txBody>
      </p:sp>
      <p:sp>
        <p:nvSpPr>
          <p:cNvPr id="137239" name="Rectangle 23">
            <a:extLst>
              <a:ext uri="{FF2B5EF4-FFF2-40B4-BE49-F238E27FC236}">
                <a16:creationId xmlns:a16="http://schemas.microsoft.com/office/drawing/2014/main" id="{D1938B2F-CCAD-3860-4265-5DFFBF0F7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3746501"/>
            <a:ext cx="419100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+</a:t>
            </a:r>
          </a:p>
        </p:txBody>
      </p:sp>
      <p:sp>
        <p:nvSpPr>
          <p:cNvPr id="137240" name="Rectangle 24">
            <a:extLst>
              <a:ext uri="{FF2B5EF4-FFF2-40B4-BE49-F238E27FC236}">
                <a16:creationId xmlns:a16="http://schemas.microsoft.com/office/drawing/2014/main" id="{54345C5A-B8CF-978B-2064-07DF6081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1" y="4425951"/>
            <a:ext cx="334963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*</a:t>
            </a:r>
          </a:p>
        </p:txBody>
      </p:sp>
      <p:sp>
        <p:nvSpPr>
          <p:cNvPr id="137241" name="Rectangle 25">
            <a:extLst>
              <a:ext uri="{FF2B5EF4-FFF2-40B4-BE49-F238E27FC236}">
                <a16:creationId xmlns:a16="http://schemas.microsoft.com/office/drawing/2014/main" id="{D8F5D383-900C-1847-05E0-A5B0A1DC1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6" y="3730626"/>
            <a:ext cx="334963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*</a:t>
            </a:r>
          </a:p>
        </p:txBody>
      </p:sp>
      <p:sp>
        <p:nvSpPr>
          <p:cNvPr id="137242" name="Rectangle 26">
            <a:extLst>
              <a:ext uri="{FF2B5EF4-FFF2-40B4-BE49-F238E27FC236}">
                <a16:creationId xmlns:a16="http://schemas.microsoft.com/office/drawing/2014/main" id="{9C09F8BC-9AAC-CBB3-D4AA-5822FF336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4448176"/>
            <a:ext cx="419100" cy="461963"/>
          </a:xfrm>
          <a:prstGeom prst="rect">
            <a:avLst/>
          </a:prstGeom>
          <a:solidFill>
            <a:srgbClr val="FF66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+</a:t>
            </a:r>
          </a:p>
        </p:txBody>
      </p:sp>
      <p:sp>
        <p:nvSpPr>
          <p:cNvPr id="137243" name="Rectangle 27">
            <a:extLst>
              <a:ext uri="{FF2B5EF4-FFF2-40B4-BE49-F238E27FC236}">
                <a16:creationId xmlns:a16="http://schemas.microsoft.com/office/drawing/2014/main" id="{96DB7AC7-AF41-D2B1-2BF5-408BBB8DE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981" y="2093269"/>
            <a:ext cx="2666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(1) ( :=,  1,  , K  )</a:t>
            </a:r>
          </a:p>
        </p:txBody>
      </p:sp>
      <p:sp>
        <p:nvSpPr>
          <p:cNvPr id="137244" name="Rectangle 28">
            <a:extLst>
              <a:ext uri="{FF2B5EF4-FFF2-40B4-BE49-F238E27FC236}">
                <a16:creationId xmlns:a16="http://schemas.microsoft.com/office/drawing/2014/main" id="{54C9B906-9F82-E5F3-6690-C6B721CFA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874" y="2564757"/>
            <a:ext cx="28759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(2) ( j&lt;,100, K,    )</a:t>
            </a:r>
          </a:p>
        </p:txBody>
      </p:sp>
      <p:sp>
        <p:nvSpPr>
          <p:cNvPr id="137245" name="Rectangle 29">
            <a:extLst>
              <a:ext uri="{FF2B5EF4-FFF2-40B4-BE49-F238E27FC236}">
                <a16:creationId xmlns:a16="http://schemas.microsoft.com/office/drawing/2014/main" id="{DA05B939-7769-8611-CFC9-5A8715E9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179" y="3055294"/>
            <a:ext cx="28294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(3) (  *, 10, K,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 )</a:t>
            </a:r>
          </a:p>
        </p:txBody>
      </p:sp>
      <p:sp>
        <p:nvSpPr>
          <p:cNvPr id="137247" name="Rectangle 31">
            <a:extLst>
              <a:ext uri="{FF2B5EF4-FFF2-40B4-BE49-F238E27FC236}">
                <a16:creationId xmlns:a16="http://schemas.microsoft.com/office/drawing/2014/main" id="{0A625BC4-5A8F-803C-ED61-031FF12C6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732" y="5263507"/>
            <a:ext cx="246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(8) (  j,   ,  , (2))</a:t>
            </a:r>
          </a:p>
        </p:txBody>
      </p:sp>
      <p:sp>
        <p:nvSpPr>
          <p:cNvPr id="137248" name="Rectangle 32">
            <a:extLst>
              <a:ext uri="{FF2B5EF4-FFF2-40B4-BE49-F238E27FC236}">
                <a16:creationId xmlns:a16="http://schemas.microsoft.com/office/drawing/2014/main" id="{5868D631-577C-D4DE-9E05-AC3474C8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544" y="4820594"/>
            <a:ext cx="28006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(7) (  +,  K, 1,  K )</a:t>
            </a:r>
          </a:p>
        </p:txBody>
      </p:sp>
      <p:sp>
        <p:nvSpPr>
          <p:cNvPr id="137250" name="Rectangle 34">
            <a:extLst>
              <a:ext uri="{FF2B5EF4-FFF2-40B4-BE49-F238E27FC236}">
                <a16:creationId xmlns:a16="http://schemas.microsoft.com/office/drawing/2014/main" id="{B77F95CC-5E85-BD4A-B40B-6B89B4003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111" y="3515669"/>
            <a:ext cx="28216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(4) (  +,  I,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M )</a:t>
            </a:r>
          </a:p>
        </p:txBody>
      </p:sp>
      <p:sp>
        <p:nvSpPr>
          <p:cNvPr id="137251" name="Rectangle 35">
            <a:extLst>
              <a:ext uri="{FF2B5EF4-FFF2-40B4-BE49-F238E27FC236}">
                <a16:creationId xmlns:a16="http://schemas.microsoft.com/office/drawing/2014/main" id="{C4A201D4-CC13-0679-BED8-B7230CC31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7395" y="5711182"/>
            <a:ext cx="2316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(9) (               )</a:t>
            </a:r>
          </a:p>
        </p:txBody>
      </p:sp>
      <p:sp>
        <p:nvSpPr>
          <p:cNvPr id="137252" name="Rectangle 36">
            <a:extLst>
              <a:ext uri="{FF2B5EF4-FFF2-40B4-BE49-F238E27FC236}">
                <a16:creationId xmlns:a16="http://schemas.microsoft.com/office/drawing/2014/main" id="{A9DE7BCB-6D9E-E8E5-FF6E-E104E2B75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3761" y="2644260"/>
            <a:ext cx="429605" cy="36933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137253" name="Rectangle 37">
            <a:extLst>
              <a:ext uri="{FF2B5EF4-FFF2-40B4-BE49-F238E27FC236}">
                <a16:creationId xmlns:a16="http://schemas.microsoft.com/office/drawing/2014/main" id="{0CA434A3-102E-1439-D1FA-AF32AA039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467" y="3941119"/>
            <a:ext cx="28294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(5) (  *, 10, K,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 )</a:t>
            </a:r>
          </a:p>
        </p:txBody>
      </p:sp>
      <p:sp>
        <p:nvSpPr>
          <p:cNvPr id="137254" name="Rectangle 38">
            <a:extLst>
              <a:ext uri="{FF2B5EF4-FFF2-40B4-BE49-F238E27FC236}">
                <a16:creationId xmlns:a16="http://schemas.microsoft.com/office/drawing/2014/main" id="{6A9BF216-DC0B-6F9B-45C5-33F62F5C7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363" y="4380857"/>
            <a:ext cx="27951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(6) (  +,  J,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N )</a:t>
            </a:r>
          </a:p>
        </p:txBody>
      </p:sp>
      <p:sp>
        <p:nvSpPr>
          <p:cNvPr id="137255" name="Rectangle 39">
            <a:extLst>
              <a:ext uri="{FF2B5EF4-FFF2-40B4-BE49-F238E27FC236}">
                <a16:creationId xmlns:a16="http://schemas.microsoft.com/office/drawing/2014/main" id="{DBA6EEE9-9542-3199-5F21-A5F2272C8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9" y="3762376"/>
            <a:ext cx="50482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1</a:t>
            </a:r>
          </a:p>
        </p:txBody>
      </p:sp>
      <p:sp>
        <p:nvSpPr>
          <p:cNvPr id="137256" name="Rectangle 40">
            <a:extLst>
              <a:ext uri="{FF2B5EF4-FFF2-40B4-BE49-F238E27FC236}">
                <a16:creationId xmlns:a16="http://schemas.microsoft.com/office/drawing/2014/main" id="{38286D7E-B946-CF3C-747C-C859FD8F6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4" y="4448176"/>
            <a:ext cx="504825" cy="461963"/>
          </a:xfrm>
          <a:prstGeom prst="rect">
            <a:avLst/>
          </a:prstGeom>
          <a:solidFill>
            <a:srgbClr val="3366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2</a:t>
            </a:r>
          </a:p>
        </p:txBody>
      </p:sp>
      <p:sp>
        <p:nvSpPr>
          <p:cNvPr id="137257" name="Rectangle 41">
            <a:extLst>
              <a:ext uri="{FF2B5EF4-FFF2-40B4-BE49-F238E27FC236}">
                <a16:creationId xmlns:a16="http://schemas.microsoft.com/office/drawing/2014/main" id="{8FB2160C-E854-202B-8EA5-3806BE48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2085975"/>
            <a:ext cx="1377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(1) K := 1</a:t>
            </a:r>
          </a:p>
        </p:txBody>
      </p:sp>
      <p:sp>
        <p:nvSpPr>
          <p:cNvPr id="137258" name="Rectangle 42">
            <a:extLst>
              <a:ext uri="{FF2B5EF4-FFF2-40B4-BE49-F238E27FC236}">
                <a16:creationId xmlns:a16="http://schemas.microsoft.com/office/drawing/2014/main" id="{531D6F18-FCEA-7952-689C-FD7F97073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6" y="2535238"/>
            <a:ext cx="2847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(2) if 100&lt;K goto (9)</a:t>
            </a:r>
          </a:p>
        </p:txBody>
      </p:sp>
      <p:sp>
        <p:nvSpPr>
          <p:cNvPr id="137259" name="Rectangle 43">
            <a:extLst>
              <a:ext uri="{FF2B5EF4-FFF2-40B4-BE49-F238E27FC236}">
                <a16:creationId xmlns:a16="http://schemas.microsoft.com/office/drawing/2014/main" id="{70A66546-D454-9446-A774-0CEC40467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00" y="3025775"/>
            <a:ext cx="208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(3) T</a:t>
            </a:r>
            <a:r>
              <a:rPr lang="en-US" altLang="zh-CN" sz="20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137260" name="Rectangle 44">
            <a:extLst>
              <a:ext uri="{FF2B5EF4-FFF2-40B4-BE49-F238E27FC236}">
                <a16:creationId xmlns:a16="http://schemas.microsoft.com/office/drawing/2014/main" id="{2AD57593-D7BB-A64C-0879-7B0F6EEF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5254625"/>
            <a:ext cx="1663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(8) goto (2)</a:t>
            </a:r>
          </a:p>
        </p:txBody>
      </p:sp>
      <p:sp>
        <p:nvSpPr>
          <p:cNvPr id="137261" name="Rectangle 45">
            <a:extLst>
              <a:ext uri="{FF2B5EF4-FFF2-40B4-BE49-F238E27FC236}">
                <a16:creationId xmlns:a16="http://schemas.microsoft.com/office/drawing/2014/main" id="{2870046A-E4F4-473C-7F5B-250F27FE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11713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137262" name="Rectangle 46">
            <a:extLst>
              <a:ext uri="{FF2B5EF4-FFF2-40B4-BE49-F238E27FC236}">
                <a16:creationId xmlns:a16="http://schemas.microsoft.com/office/drawing/2014/main" id="{C4D0CA3C-F728-9543-C510-29B3C165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6" y="3486150"/>
            <a:ext cx="2009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(4) M := I + T</a:t>
            </a:r>
            <a:r>
              <a:rPr lang="en-US" altLang="zh-CN" sz="20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endParaRPr lang="en-US" altLang="zh-CN" sz="2000" b="1">
              <a:solidFill>
                <a:srgbClr val="DC5900"/>
              </a:solidFill>
              <a:latin typeface="楷体_GB2312"/>
              <a:ea typeface="楷体_GB2312"/>
            </a:endParaRPr>
          </a:p>
        </p:txBody>
      </p:sp>
      <p:sp>
        <p:nvSpPr>
          <p:cNvPr id="137263" name="Rectangle 47">
            <a:extLst>
              <a:ext uri="{FF2B5EF4-FFF2-40B4-BE49-F238E27FC236}">
                <a16:creationId xmlns:a16="http://schemas.microsoft.com/office/drawing/2014/main" id="{58704C0C-CAE1-709A-E564-3AE6B772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1" y="5640388"/>
            <a:ext cx="542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137265" name="Rectangle 49">
            <a:extLst>
              <a:ext uri="{FF2B5EF4-FFF2-40B4-BE49-F238E27FC236}">
                <a16:creationId xmlns:a16="http://schemas.microsoft.com/office/drawing/2014/main" id="{251A25A8-F7EE-A032-95D1-4DEE7637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3932238"/>
            <a:ext cx="208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(5) T</a:t>
            </a:r>
            <a:r>
              <a:rPr lang="en-US" altLang="zh-CN" sz="20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137266" name="Rectangle 50">
            <a:extLst>
              <a:ext uri="{FF2B5EF4-FFF2-40B4-BE49-F238E27FC236}">
                <a16:creationId xmlns:a16="http://schemas.microsoft.com/office/drawing/2014/main" id="{A1446A75-13C8-AF29-6371-E338AC18B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9" y="4371975"/>
            <a:ext cx="1997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000" b="1">
                <a:solidFill>
                  <a:srgbClr val="DC5900"/>
                </a:solidFill>
                <a:latin typeface="楷体_GB2312"/>
                <a:ea typeface="楷体_GB2312"/>
              </a:rPr>
              <a:t>(6) N := J + T</a:t>
            </a:r>
            <a:r>
              <a:rPr lang="en-US" altLang="zh-CN" sz="20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endParaRPr lang="en-US" altLang="zh-CN" sz="2000" b="1">
              <a:solidFill>
                <a:srgbClr val="DC5900"/>
              </a:solidFill>
              <a:latin typeface="楷体_GB2312"/>
              <a:ea typeface="楷体_GB2312"/>
            </a:endParaRPr>
          </a:p>
        </p:txBody>
      </p:sp>
      <p:sp>
        <p:nvSpPr>
          <p:cNvPr id="137286" name="Rectangle 70">
            <a:extLst>
              <a:ext uri="{FF2B5EF4-FFF2-40B4-BE49-F238E27FC236}">
                <a16:creationId xmlns:a16="http://schemas.microsoft.com/office/drawing/2014/main" id="{D80DEFBE-203A-B0A4-A503-B1D82B0F0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1" y="1179046"/>
            <a:ext cx="2854325" cy="523220"/>
          </a:xfrm>
          <a:prstGeom prst="rect">
            <a:avLst/>
          </a:prstGeom>
          <a:solidFill>
            <a:schemeClr val="accent2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生成四元式</a:t>
            </a:r>
          </a:p>
        </p:txBody>
      </p:sp>
      <p:sp>
        <p:nvSpPr>
          <p:cNvPr id="137287" name="Rectangle 71">
            <a:extLst>
              <a:ext uri="{FF2B5EF4-FFF2-40B4-BE49-F238E27FC236}">
                <a16:creationId xmlns:a16="http://schemas.microsoft.com/office/drawing/2014/main" id="{177AF62D-42CE-6784-76A9-888E5497D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6" y="6266984"/>
            <a:ext cx="6450013" cy="523220"/>
          </a:xfrm>
          <a:prstGeom prst="rect">
            <a:avLst/>
          </a:prstGeom>
          <a:solidFill>
            <a:schemeClr val="accent2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将四元式重写为另一种形式的中间代码</a:t>
            </a:r>
          </a:p>
        </p:txBody>
      </p:sp>
      <p:sp>
        <p:nvSpPr>
          <p:cNvPr id="137288" name="Rectangle 72">
            <a:extLst>
              <a:ext uri="{FF2B5EF4-FFF2-40B4-BE49-F238E27FC236}">
                <a16:creationId xmlns:a16="http://schemas.microsoft.com/office/drawing/2014/main" id="{C8FC291F-583D-2EF2-D57B-CF41CDAF2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706" y="2128194"/>
            <a:ext cx="2666114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(1) ( :=,  1,  , K  )</a:t>
            </a:r>
          </a:p>
        </p:txBody>
      </p:sp>
      <p:sp>
        <p:nvSpPr>
          <p:cNvPr id="137289" name="Rectangle 73">
            <a:extLst>
              <a:ext uri="{FF2B5EF4-FFF2-40B4-BE49-F238E27FC236}">
                <a16:creationId xmlns:a16="http://schemas.microsoft.com/office/drawing/2014/main" id="{3BC4E824-9823-A4A2-9BD2-C3156ADC5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440" y="2575869"/>
            <a:ext cx="3031471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(2) ( j&lt;,100, K, (9))</a:t>
            </a:r>
          </a:p>
        </p:txBody>
      </p:sp>
      <p:sp>
        <p:nvSpPr>
          <p:cNvPr id="137290" name="Rectangle 74">
            <a:extLst>
              <a:ext uri="{FF2B5EF4-FFF2-40B4-BE49-F238E27FC236}">
                <a16:creationId xmlns:a16="http://schemas.microsoft.com/office/drawing/2014/main" id="{D7099224-576D-B259-37E1-80ACA64DC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9542" y="3048944"/>
            <a:ext cx="2829493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(3) (  *, 10, K,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 )</a:t>
            </a:r>
          </a:p>
        </p:txBody>
      </p:sp>
      <p:sp>
        <p:nvSpPr>
          <p:cNvPr id="137291" name="Rectangle 75">
            <a:extLst>
              <a:ext uri="{FF2B5EF4-FFF2-40B4-BE49-F238E27FC236}">
                <a16:creationId xmlns:a16="http://schemas.microsoft.com/office/drawing/2014/main" id="{66B3B3D0-B617-2679-5F8A-AD58CAAE4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457" y="5298432"/>
            <a:ext cx="2464136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(8) (  j,   ,  , (2))</a:t>
            </a:r>
          </a:p>
        </p:txBody>
      </p:sp>
      <p:sp>
        <p:nvSpPr>
          <p:cNvPr id="137292" name="Rectangle 76">
            <a:extLst>
              <a:ext uri="{FF2B5EF4-FFF2-40B4-BE49-F238E27FC236}">
                <a16:creationId xmlns:a16="http://schemas.microsoft.com/office/drawing/2014/main" id="{5B4E5FAC-1B62-14FA-C9CF-99764CF8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1269" y="4855519"/>
            <a:ext cx="2800638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(7) (  +,  K, 1,  K )</a:t>
            </a:r>
          </a:p>
        </p:txBody>
      </p:sp>
      <p:sp>
        <p:nvSpPr>
          <p:cNvPr id="137293" name="Rectangle 77">
            <a:extLst>
              <a:ext uri="{FF2B5EF4-FFF2-40B4-BE49-F238E27FC236}">
                <a16:creationId xmlns:a16="http://schemas.microsoft.com/office/drawing/2014/main" id="{3858D48E-0B40-1201-6207-9BFD01A51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198" y="3509319"/>
            <a:ext cx="2821605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(4) (  +,  I,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, M )</a:t>
            </a:r>
          </a:p>
        </p:txBody>
      </p:sp>
      <p:sp>
        <p:nvSpPr>
          <p:cNvPr id="137294" name="Rectangle 78">
            <a:extLst>
              <a:ext uri="{FF2B5EF4-FFF2-40B4-BE49-F238E27FC236}">
                <a16:creationId xmlns:a16="http://schemas.microsoft.com/office/drawing/2014/main" id="{EB9DD424-7FC3-19F5-4E15-709ED71A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845" y="5746107"/>
            <a:ext cx="2316660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(9) (               )</a:t>
            </a:r>
          </a:p>
        </p:txBody>
      </p:sp>
      <p:sp>
        <p:nvSpPr>
          <p:cNvPr id="137296" name="Rectangle 80">
            <a:extLst>
              <a:ext uri="{FF2B5EF4-FFF2-40B4-BE49-F238E27FC236}">
                <a16:creationId xmlns:a16="http://schemas.microsoft.com/office/drawing/2014/main" id="{4E987D4F-0AB9-32ED-7F9A-1150CDD47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192" y="3955407"/>
            <a:ext cx="2829493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(5) (  *, 10, K,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 )</a:t>
            </a:r>
          </a:p>
        </p:txBody>
      </p:sp>
      <p:sp>
        <p:nvSpPr>
          <p:cNvPr id="137297" name="Rectangle 81">
            <a:extLst>
              <a:ext uri="{FF2B5EF4-FFF2-40B4-BE49-F238E27FC236}">
                <a16:creationId xmlns:a16="http://schemas.microsoft.com/office/drawing/2014/main" id="{32E281BA-0419-C3D0-CFD8-9D0F6D6F0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088" y="4415782"/>
            <a:ext cx="2795124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(6) (  +,  J,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, N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37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137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3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137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13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37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7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13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137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137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137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500"/>
                                        <p:tgtEl>
                                          <p:spTgt spid="13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137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37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4" dur="500"/>
                                        <p:tgtEl>
                                          <p:spTgt spid="1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137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137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/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10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137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1000"/>
                                        <p:tgtEl>
                                          <p:spTgt spid="137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5" dur="500"/>
                                        <p:tgtEl>
                                          <p:spTgt spid="1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10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1000"/>
                                        <p:tgtEl>
                                          <p:spTgt spid="137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1" dur="500"/>
                                        <p:tgtEl>
                                          <p:spTgt spid="13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6" dur="500"/>
                                        <p:tgtEl>
                                          <p:spTgt spid="13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1" dur="500"/>
                                        <p:tgtEl>
                                          <p:spTgt spid="1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98" dur="500"/>
                                        <p:tgtEl>
                                          <p:spTgt spid="137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3" dur="500"/>
                                        <p:tgtEl>
                                          <p:spTgt spid="13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3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2" dur="500"/>
                                        <p:tgtEl>
                                          <p:spTgt spid="13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6" dur="500"/>
                                        <p:tgtEl>
                                          <p:spTgt spid="137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13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5" dur="500"/>
                                        <p:tgtEl>
                                          <p:spTgt spid="13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500"/>
                                        <p:tgtEl>
                                          <p:spTgt spid="137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13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8" dur="500"/>
                                        <p:tgtEl>
                                          <p:spTgt spid="13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2" dur="500"/>
                                        <p:tgtEl>
                                          <p:spTgt spid="137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3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1" dur="500"/>
                                        <p:tgtEl>
                                          <p:spTgt spid="13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5" dur="500"/>
                                        <p:tgtEl>
                                          <p:spTgt spid="137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3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4" dur="500"/>
                                        <p:tgtEl>
                                          <p:spTgt spid="13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8" dur="500"/>
                                        <p:tgtEl>
                                          <p:spTgt spid="137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13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7" dur="500"/>
                                        <p:tgtEl>
                                          <p:spTgt spid="13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1" dur="500"/>
                                        <p:tgtEl>
                                          <p:spTgt spid="137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3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0" dur="500"/>
                                        <p:tgtEl>
                                          <p:spTgt spid="13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 nodeType="clickPar">
                      <p:stCondLst>
                        <p:cond delay="indefinite"/>
                      </p:stCondLst>
                      <p:childTnLst>
                        <p:par>
                          <p:cTn id="2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4" dur="500"/>
                                        <p:tgtEl>
                                          <p:spTgt spid="137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9" dur="500"/>
                                        <p:tgtEl>
                                          <p:spTgt spid="13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3" dur="500"/>
                                        <p:tgtEl>
                                          <p:spTgt spid="13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7" dur="500"/>
                                        <p:tgtEl>
                                          <p:spTgt spid="137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13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6" dur="500"/>
                                        <p:tgtEl>
                                          <p:spTgt spid="137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 nodeType="clickPar">
                      <p:stCondLst>
                        <p:cond delay="indefinite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0" dur="500"/>
                                        <p:tgtEl>
                                          <p:spTgt spid="137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24" dur="500"/>
                                        <p:tgtEl>
                                          <p:spTgt spid="137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1" grpId="0" animBg="1"/>
      <p:bldP spid="137222" grpId="0" animBg="1"/>
      <p:bldP spid="137223" grpId="0" animBg="1"/>
      <p:bldP spid="137224" grpId="0" animBg="1"/>
      <p:bldP spid="137225" grpId="0" animBg="1"/>
      <p:bldP spid="137226" grpId="0" animBg="1"/>
      <p:bldP spid="137227" grpId="0" animBg="1"/>
      <p:bldP spid="137228" grpId="0" animBg="1"/>
      <p:bldP spid="137229" grpId="0" animBg="1"/>
      <p:bldP spid="137230" grpId="0" animBg="1"/>
      <p:bldP spid="137231" grpId="0" animBg="1"/>
      <p:bldP spid="137232" grpId="0" animBg="1"/>
      <p:bldP spid="137233" grpId="0" animBg="1"/>
      <p:bldP spid="137234" grpId="0" animBg="1"/>
      <p:bldP spid="137235" grpId="0" animBg="1"/>
      <p:bldP spid="137236" grpId="0" animBg="1"/>
      <p:bldP spid="137237" grpId="0" animBg="1"/>
      <p:bldP spid="137238" grpId="0" animBg="1"/>
      <p:bldP spid="137239" grpId="0" animBg="1"/>
      <p:bldP spid="137240" grpId="0" animBg="1"/>
      <p:bldP spid="137241" grpId="0" animBg="1"/>
      <p:bldP spid="137242" grpId="0" animBg="1"/>
      <p:bldP spid="137243" grpId="0"/>
      <p:bldP spid="137244" grpId="0"/>
      <p:bldP spid="137245" grpId="0"/>
      <p:bldP spid="137247" grpId="0"/>
      <p:bldP spid="137248" grpId="0"/>
      <p:bldP spid="137250" grpId="0"/>
      <p:bldP spid="137251" grpId="0"/>
      <p:bldP spid="137252" grpId="0" animBg="1"/>
      <p:bldP spid="137253" grpId="0"/>
      <p:bldP spid="137254" grpId="0"/>
      <p:bldP spid="137255" grpId="0" animBg="1"/>
      <p:bldP spid="137255" grpId="1" animBg="1"/>
      <p:bldP spid="137256" grpId="0" animBg="1"/>
      <p:bldP spid="137256" grpId="1" animBg="1"/>
      <p:bldP spid="137257" grpId="0"/>
      <p:bldP spid="137258" grpId="0"/>
      <p:bldP spid="137259" grpId="0"/>
      <p:bldP spid="137260" grpId="0"/>
      <p:bldP spid="137261" grpId="0"/>
      <p:bldP spid="137262" grpId="0"/>
      <p:bldP spid="137263" grpId="0"/>
      <p:bldP spid="137265" grpId="0"/>
      <p:bldP spid="137266" grpId="0"/>
      <p:bldP spid="137286" grpId="0" animBg="1"/>
      <p:bldP spid="137286" grpId="1" animBg="1"/>
      <p:bldP spid="137287" grpId="0" animBg="1"/>
      <p:bldP spid="137287" grpId="1" animBg="1"/>
      <p:bldP spid="137288" grpId="0" animBg="1"/>
      <p:bldP spid="137288" grpId="1" animBg="1"/>
      <p:bldP spid="137289" grpId="0" animBg="1"/>
      <p:bldP spid="137289" grpId="1" animBg="1"/>
      <p:bldP spid="137290" grpId="0" animBg="1"/>
      <p:bldP spid="137290" grpId="1" animBg="1"/>
      <p:bldP spid="137291" grpId="0" animBg="1"/>
      <p:bldP spid="137293" grpId="0" animBg="1"/>
      <p:bldP spid="137293" grpId="1" animBg="1"/>
      <p:bldP spid="137294" grpId="0" animBg="1"/>
      <p:bldP spid="137294" grpId="1" animBg="1"/>
      <p:bldP spid="137296" grpId="0" animBg="1"/>
      <p:bldP spid="137296" grpId="1" animBg="1"/>
      <p:bldP spid="137297" grpId="0" animBg="1"/>
      <p:bldP spid="13729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:a16="http://schemas.microsoft.com/office/drawing/2014/main" id="{054578D9-653E-EC13-ABA7-4B265707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6" y="665164"/>
            <a:ext cx="40354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4000" b="1">
                <a:solidFill>
                  <a:srgbClr val="003399"/>
                </a:solidFill>
                <a:latin typeface="楷体_GB2312"/>
                <a:ea typeface="楷体_GB2312"/>
              </a:rPr>
              <a:t>4.</a:t>
            </a:r>
            <a:r>
              <a:rPr lang="zh-CN" altLang="en-US" sz="4000" b="1">
                <a:solidFill>
                  <a:srgbClr val="003399"/>
                </a:solidFill>
                <a:latin typeface="楷体_GB2312"/>
                <a:ea typeface="楷体_GB2312"/>
              </a:rPr>
              <a:t>代码优化</a:t>
            </a:r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2298AF5F-C3B1-0745-0292-FF2FDD22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335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任务</a:t>
            </a:r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E7B58CF9-17AF-FD37-5249-B08D03E90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725" y="3392488"/>
            <a:ext cx="2012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所做转换</a:t>
            </a:r>
          </a:p>
        </p:txBody>
      </p:sp>
      <p:sp>
        <p:nvSpPr>
          <p:cNvPr id="138246" name="Rectangle 6">
            <a:extLst>
              <a:ext uri="{FF2B5EF4-FFF2-40B4-BE49-F238E27FC236}">
                <a16:creationId xmlns:a16="http://schemas.microsoft.com/office/drawing/2014/main" id="{11B9A742-72B2-CD7A-1E53-51AADE643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75" y="4981575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依据</a:t>
            </a:r>
          </a:p>
        </p:txBody>
      </p:sp>
      <p:sp>
        <p:nvSpPr>
          <p:cNvPr id="138247" name="Rectangle 7">
            <a:extLst>
              <a:ext uri="{FF2B5EF4-FFF2-40B4-BE49-F238E27FC236}">
                <a16:creationId xmlns:a16="http://schemas.microsoft.com/office/drawing/2014/main" id="{A49CF6DC-04DB-168D-DEF7-BE7A26992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302" y="5674846"/>
            <a:ext cx="305724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程序等价变换规则</a:t>
            </a:r>
          </a:p>
        </p:txBody>
      </p:sp>
      <p:sp>
        <p:nvSpPr>
          <p:cNvPr id="138248" name="Rectangle 8">
            <a:extLst>
              <a:ext uri="{FF2B5EF4-FFF2-40B4-BE49-F238E27FC236}">
                <a16:creationId xmlns:a16="http://schemas.microsoft.com/office/drawing/2014/main" id="{BBA0E110-3C75-3343-D19E-E24A10498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1" y="4930775"/>
            <a:ext cx="2936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主要理论基础</a:t>
            </a:r>
          </a:p>
        </p:txBody>
      </p:sp>
      <p:sp>
        <p:nvSpPr>
          <p:cNvPr id="138249" name="Rectangle 9">
            <a:extLst>
              <a:ext uri="{FF2B5EF4-FFF2-40B4-BE49-F238E27FC236}">
                <a16:creationId xmlns:a16="http://schemas.microsoft.com/office/drawing/2014/main" id="{51F66628-10AF-7A6D-3B37-A48753B3E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899" y="5609759"/>
            <a:ext cx="1980029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数据流方程</a:t>
            </a:r>
          </a:p>
        </p:txBody>
      </p:sp>
      <p:sp>
        <p:nvSpPr>
          <p:cNvPr id="138250" name="Rectangle 10">
            <a:extLst>
              <a:ext uri="{FF2B5EF4-FFF2-40B4-BE49-F238E27FC236}">
                <a16:creationId xmlns:a16="http://schemas.microsoft.com/office/drawing/2014/main" id="{AB9C7E8F-C87D-C217-80B9-64121DC28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247" y="4136559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38251" name="Rectangle 11">
            <a:extLst>
              <a:ext uri="{FF2B5EF4-FFF2-40B4-BE49-F238E27FC236}">
                <a16:creationId xmlns:a16="http://schemas.microsoft.com/office/drawing/2014/main" id="{FE295441-0368-4CCD-BF04-B78EB6E18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7653" y="4087346"/>
            <a:ext cx="3416320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中间代码（优化后）</a:t>
            </a:r>
          </a:p>
        </p:txBody>
      </p:sp>
      <p:sp>
        <p:nvSpPr>
          <p:cNvPr id="138252" name="Line 12">
            <a:extLst>
              <a:ext uri="{FF2B5EF4-FFF2-40B4-BE49-F238E27FC236}">
                <a16:creationId xmlns:a16="http://schemas.microsoft.com/office/drawing/2014/main" id="{D286BD24-B141-785B-43B2-A6F8C4E5A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3438" y="4343400"/>
            <a:ext cx="1974850" cy="206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38253" name="Rectangle 13">
            <a:extLst>
              <a:ext uri="{FF2B5EF4-FFF2-40B4-BE49-F238E27FC236}">
                <a16:creationId xmlns:a16="http://schemas.microsoft.com/office/drawing/2014/main" id="{AA268C2C-8A32-655E-EEC1-8AEA7BCA2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1" y="1800225"/>
            <a:ext cx="6988175" cy="1430338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对于代码（主要是中间代码）进行加工变换，以期能够产生更为高效（省时间和空间）的目标代码　。</a:t>
            </a:r>
          </a:p>
        </p:txBody>
      </p:sp>
      <p:sp>
        <p:nvSpPr>
          <p:cNvPr id="138254" name="Line 14">
            <a:extLst>
              <a:ext uri="{FF2B5EF4-FFF2-40B4-BE49-F238E27FC236}">
                <a16:creationId xmlns:a16="http://schemas.microsoft.com/office/drawing/2014/main" id="{20687E35-6DE7-448B-4F8B-D0E12536DD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9888" y="5900739"/>
            <a:ext cx="2589212" cy="206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3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5" grpId="0"/>
      <p:bldP spid="138246" grpId="0"/>
      <p:bldP spid="138247" grpId="0" animBg="1"/>
      <p:bldP spid="138248" grpId="0"/>
      <p:bldP spid="138249" grpId="0" animBg="1"/>
      <p:bldP spid="138250" grpId="0" animBg="1"/>
      <p:bldP spid="138251" grpId="0" animBg="1"/>
      <p:bldP spid="1382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233CF31C-E7EC-701F-EECE-C46D9DB95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049DA05-F581-6B8D-81DE-1CA97B5FB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3600" b="1" dirty="0">
                <a:solidFill>
                  <a:srgbClr val="FF0000"/>
                </a:solidFill>
              </a:rPr>
              <a:t>优化的主要方面有：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000000"/>
                </a:solidFill>
              </a:rPr>
              <a:t>公共子表达式的提取、</a:t>
            </a:r>
            <a:endParaRPr lang="en-US" altLang="zh-CN" sz="36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000000"/>
                </a:solidFill>
              </a:rPr>
              <a:t>循环优化</a:t>
            </a:r>
            <a:r>
              <a:rPr lang="en-US" altLang="zh-CN" sz="3600" b="1" dirty="0">
                <a:solidFill>
                  <a:srgbClr val="000000"/>
                </a:solidFill>
              </a:rPr>
              <a:t>(</a:t>
            </a:r>
            <a:r>
              <a:rPr lang="zh-CN" altLang="en-US" sz="3600" b="1" dirty="0">
                <a:solidFill>
                  <a:srgbClr val="000000"/>
                </a:solidFill>
              </a:rPr>
              <a:t>循环不变量外提</a:t>
            </a:r>
            <a:r>
              <a:rPr lang="en-US" altLang="zh-CN" sz="3600" b="1" dirty="0">
                <a:solidFill>
                  <a:srgbClr val="000000"/>
                </a:solidFill>
              </a:rPr>
              <a:t>)</a:t>
            </a:r>
            <a:r>
              <a:rPr lang="zh-CN" altLang="en-US" sz="3600" b="1" dirty="0">
                <a:solidFill>
                  <a:srgbClr val="000000"/>
                </a:solidFill>
              </a:rPr>
              <a:t>、</a:t>
            </a:r>
            <a:endParaRPr lang="en-US" altLang="zh-CN" sz="3600" b="1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000000"/>
                </a:solidFill>
              </a:rPr>
              <a:t>删除无用代码等</a:t>
            </a:r>
            <a:endParaRPr 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E611E4-5E16-A681-CD7F-49C847819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1757364"/>
            <a:ext cx="4783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0000CC"/>
                </a:solidFill>
                <a:latin typeface="楷体_GB2312"/>
                <a:ea typeface="楷体_GB2312"/>
              </a:rPr>
              <a:t> 循环不变量</a:t>
            </a:r>
            <a:r>
              <a:rPr lang="en-US" altLang="zh-CN" sz="2800" b="1">
                <a:solidFill>
                  <a:srgbClr val="0000CC"/>
                </a:solidFill>
                <a:latin typeface="楷体_GB2312"/>
                <a:ea typeface="楷体_GB2312"/>
              </a:rPr>
              <a:t>(I,J)</a:t>
            </a:r>
            <a:r>
              <a:rPr lang="zh-CN" altLang="en-US" sz="2800" b="1">
                <a:solidFill>
                  <a:srgbClr val="0000CC"/>
                </a:solidFill>
                <a:latin typeface="楷体_GB2312"/>
                <a:ea typeface="楷体_GB2312"/>
              </a:rPr>
              <a:t>，提出循环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921FAEC-7616-EA18-D83C-7928EB5A8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989" y="369888"/>
            <a:ext cx="7058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3600" b="1">
                <a:solidFill>
                  <a:srgbClr val="003399"/>
                </a:solidFill>
                <a:latin typeface="楷体_GB2312"/>
                <a:ea typeface="楷体_GB2312"/>
              </a:rPr>
              <a:t>4.</a:t>
            </a: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代码优化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BCE7CBE9-D0A8-3E7F-0CC9-FB36C95E4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335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示例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26A276A4-D9C6-DE08-E9D2-5C8D7DF3A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31" y="2339332"/>
            <a:ext cx="16129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(1) K := 1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0D02AE03-7641-AC49-2D41-FF9DBC6A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4" y="2790825"/>
            <a:ext cx="341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(2) if 100&lt;K goto (9)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8113DD6A-FE64-6E31-A84C-539AABB9D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491" y="3279132"/>
            <a:ext cx="24545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(3)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BD4B7E56-B40B-C701-45BA-8A5E580F7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555148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(8) goto (2)</a:t>
            </a:r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F2C1C1E3-DA03-7E9C-A261-B647236D8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5108575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1195901D-E473-3D1A-99F0-ACFF9BF17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6" y="3741738"/>
            <a:ext cx="2443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(4) M := I +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endParaRPr lang="en-US" altLang="zh-CN" sz="2400" b="1">
              <a:solidFill>
                <a:srgbClr val="DC5900"/>
              </a:solidFill>
              <a:latin typeface="楷体_GB2312"/>
              <a:ea typeface="楷体_GB2312"/>
            </a:endParaRPr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6499EC55-0579-118A-A119-4D02791C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128" y="5935019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42A87493-FECA-5B50-271B-E66FFA0E9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191" y="4226869"/>
            <a:ext cx="24545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(5)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29709" name="Rectangle 13">
            <a:extLst>
              <a:ext uri="{FF2B5EF4-FFF2-40B4-BE49-F238E27FC236}">
                <a16:creationId xmlns:a16="http://schemas.microsoft.com/office/drawing/2014/main" id="{2199D86B-68CA-E78D-19D5-842BEB403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4627563"/>
            <a:ext cx="2443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(6) N := J + T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endParaRPr lang="en-US" altLang="zh-CN" sz="2400" b="1">
              <a:solidFill>
                <a:srgbClr val="DC5900"/>
              </a:solidFill>
              <a:latin typeface="楷体_GB2312"/>
              <a:ea typeface="楷体_GB2312"/>
            </a:endParaRPr>
          </a:p>
        </p:txBody>
      </p:sp>
      <p:sp>
        <p:nvSpPr>
          <p:cNvPr id="139278" name="Rectangle 14">
            <a:extLst>
              <a:ext uri="{FF2B5EF4-FFF2-40B4-BE49-F238E27FC236}">
                <a16:creationId xmlns:a16="http://schemas.microsoft.com/office/drawing/2014/main" id="{383BF022-D262-4446-E0CD-387CD0999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06" y="3268019"/>
            <a:ext cx="16129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(3) K := 1</a:t>
            </a:r>
          </a:p>
        </p:txBody>
      </p:sp>
      <p:sp>
        <p:nvSpPr>
          <p:cNvPr id="139279" name="Rectangle 15">
            <a:extLst>
              <a:ext uri="{FF2B5EF4-FFF2-40B4-BE49-F238E27FC236}">
                <a16:creationId xmlns:a16="http://schemas.microsoft.com/office/drawing/2014/main" id="{30652824-D834-EFFA-F18D-7D165F347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3781425"/>
            <a:ext cx="341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(4) if 100&lt;K goto (9)</a:t>
            </a:r>
          </a:p>
        </p:txBody>
      </p:sp>
      <p:sp>
        <p:nvSpPr>
          <p:cNvPr id="139281" name="Rectangle 17">
            <a:extLst>
              <a:ext uri="{FF2B5EF4-FFF2-40B4-BE49-F238E27FC236}">
                <a16:creationId xmlns:a16="http://schemas.microsoft.com/office/drawing/2014/main" id="{1507E1F0-DBF3-99B3-2CA1-AEB4BFC89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175" y="5543550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(8) goto (4)</a:t>
            </a:r>
          </a:p>
        </p:txBody>
      </p:sp>
      <p:sp>
        <p:nvSpPr>
          <p:cNvPr id="139282" name="Rectangle 18">
            <a:extLst>
              <a:ext uri="{FF2B5EF4-FFF2-40B4-BE49-F238E27FC236}">
                <a16:creationId xmlns:a16="http://schemas.microsoft.com/office/drawing/2014/main" id="{23BD840D-FE38-234E-92D2-77EFB58EA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1301" y="5119044"/>
            <a:ext cx="2242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139284" name="Rectangle 20">
            <a:extLst>
              <a:ext uri="{FF2B5EF4-FFF2-40B4-BE49-F238E27FC236}">
                <a16:creationId xmlns:a16="http://schemas.microsoft.com/office/drawing/2014/main" id="{4E99E53D-37A4-BB07-4726-D10EEB227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72" y="5927082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139287" name="Rectangle 23">
            <a:extLst>
              <a:ext uri="{FF2B5EF4-FFF2-40B4-BE49-F238E27FC236}">
                <a16:creationId xmlns:a16="http://schemas.microsoft.com/office/drawing/2014/main" id="{B186469C-E146-B1ED-0644-ADD00FDF1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416" y="3223569"/>
            <a:ext cx="2454518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(3)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139288" name="Rectangle 24">
            <a:extLst>
              <a:ext uri="{FF2B5EF4-FFF2-40B4-BE49-F238E27FC236}">
                <a16:creationId xmlns:a16="http://schemas.microsoft.com/office/drawing/2014/main" id="{F6A62A21-C198-E48F-97E5-DD7AABC2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686175"/>
            <a:ext cx="2557462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(4) M := I + T</a:t>
            </a:r>
            <a:r>
              <a:rPr lang="en-US" altLang="zh-CN" sz="2400" b="1" baseline="-25000">
                <a:solidFill>
                  <a:srgbClr val="FFFFFF"/>
                </a:solidFill>
                <a:latin typeface="楷体_GB2312"/>
                <a:ea typeface="楷体_GB2312"/>
              </a:rPr>
              <a:t>1</a:t>
            </a:r>
            <a:endParaRPr lang="en-US" altLang="zh-CN" sz="2400" b="1">
              <a:solidFill>
                <a:srgbClr val="FFFFFF"/>
              </a:solidFill>
              <a:latin typeface="楷体_GB2312"/>
              <a:ea typeface="楷体_GB2312"/>
            </a:endParaRPr>
          </a:p>
        </p:txBody>
      </p:sp>
      <p:sp>
        <p:nvSpPr>
          <p:cNvPr id="139289" name="Rectangle 25">
            <a:extLst>
              <a:ext uri="{FF2B5EF4-FFF2-40B4-BE49-F238E27FC236}">
                <a16:creationId xmlns:a16="http://schemas.microsoft.com/office/drawing/2014/main" id="{41ADC882-4CC9-4C15-8E5C-3AB5009B8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828" y="2439344"/>
            <a:ext cx="1628971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(1) M := I</a:t>
            </a:r>
          </a:p>
        </p:txBody>
      </p:sp>
      <p:sp>
        <p:nvSpPr>
          <p:cNvPr id="139290" name="Rectangle 26">
            <a:extLst>
              <a:ext uri="{FF2B5EF4-FFF2-40B4-BE49-F238E27FC236}">
                <a16:creationId xmlns:a16="http://schemas.microsoft.com/office/drawing/2014/main" id="{CA0E632B-14AF-EEA8-E5E9-87B093156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9897" y="4264969"/>
            <a:ext cx="2728632" cy="46166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(5) M := M + 10 </a:t>
            </a:r>
          </a:p>
        </p:txBody>
      </p:sp>
      <p:sp>
        <p:nvSpPr>
          <p:cNvPr id="139291" name="Rectangle 27">
            <a:extLst>
              <a:ext uri="{FF2B5EF4-FFF2-40B4-BE49-F238E27FC236}">
                <a16:creationId xmlns:a16="http://schemas.microsoft.com/office/drawing/2014/main" id="{78AC4B9B-47B8-FD15-0374-56268A8D2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479" y="4171307"/>
            <a:ext cx="2454518" cy="46166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(5) T</a:t>
            </a:r>
            <a:r>
              <a:rPr lang="en-US" altLang="zh-CN" sz="2400" b="1" baseline="-25000">
                <a:solidFill>
                  <a:srgbClr val="0000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 := 10 * K</a:t>
            </a:r>
          </a:p>
        </p:txBody>
      </p:sp>
      <p:sp>
        <p:nvSpPr>
          <p:cNvPr id="139292" name="Rectangle 28">
            <a:extLst>
              <a:ext uri="{FF2B5EF4-FFF2-40B4-BE49-F238E27FC236}">
                <a16:creationId xmlns:a16="http://schemas.microsoft.com/office/drawing/2014/main" id="{FEA21315-0AB3-5D22-6988-3F20D2C3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275" y="4633913"/>
            <a:ext cx="2598738" cy="45720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(6) N := J + T</a:t>
            </a:r>
            <a:r>
              <a:rPr lang="en-US" altLang="zh-CN" sz="2400" b="1" baseline="-25000">
                <a:solidFill>
                  <a:srgbClr val="000000"/>
                </a:solidFill>
                <a:latin typeface="楷体_GB2312"/>
                <a:ea typeface="楷体_GB2312"/>
              </a:rPr>
              <a:t>2</a:t>
            </a:r>
            <a:endParaRPr lang="en-US" altLang="zh-CN" sz="2400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139293" name="Rectangle 29">
            <a:extLst>
              <a:ext uri="{FF2B5EF4-FFF2-40B4-BE49-F238E27FC236}">
                <a16:creationId xmlns:a16="http://schemas.microsoft.com/office/drawing/2014/main" id="{F4437E64-B227-F46C-6943-DB1FE1A72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1" y="2890838"/>
            <a:ext cx="1743075" cy="45720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(2) N := J</a:t>
            </a:r>
          </a:p>
        </p:txBody>
      </p:sp>
      <p:sp>
        <p:nvSpPr>
          <p:cNvPr id="139294" name="Rectangle 30">
            <a:extLst>
              <a:ext uri="{FF2B5EF4-FFF2-40B4-BE49-F238E27FC236}">
                <a16:creationId xmlns:a16="http://schemas.microsoft.com/office/drawing/2014/main" id="{D09161CD-35E7-7569-860D-7EC7920C6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4716463"/>
            <a:ext cx="2649538" cy="457200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(6) N := N + 10</a:t>
            </a:r>
          </a:p>
        </p:txBody>
      </p:sp>
      <p:sp>
        <p:nvSpPr>
          <p:cNvPr id="139295" name="Rectangle 31">
            <a:extLst>
              <a:ext uri="{FF2B5EF4-FFF2-40B4-BE49-F238E27FC236}">
                <a16:creationId xmlns:a16="http://schemas.microsoft.com/office/drawing/2014/main" id="{9FD6DEC0-2F67-5FCC-BF68-04145E9B8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692" y="2345682"/>
            <a:ext cx="1612942" cy="461665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(1) K := 1</a:t>
            </a:r>
          </a:p>
        </p:txBody>
      </p:sp>
      <p:sp>
        <p:nvSpPr>
          <p:cNvPr id="139296" name="Rectangle 32">
            <a:extLst>
              <a:ext uri="{FF2B5EF4-FFF2-40B4-BE49-F238E27FC236}">
                <a16:creationId xmlns:a16="http://schemas.microsoft.com/office/drawing/2014/main" id="{D1FB20F7-1E8B-57B7-FA3A-909622CE0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088" y="2797175"/>
            <a:ext cx="3384550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(2) if 100&lt;K goto (9)</a:t>
            </a:r>
          </a:p>
        </p:txBody>
      </p:sp>
      <p:sp>
        <p:nvSpPr>
          <p:cNvPr id="139297" name="Rectangle 33">
            <a:extLst>
              <a:ext uri="{FF2B5EF4-FFF2-40B4-BE49-F238E27FC236}">
                <a16:creationId xmlns:a16="http://schemas.microsoft.com/office/drawing/2014/main" id="{4E695ECD-4263-8FDC-34C5-6B16225BD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25" y="5537200"/>
            <a:ext cx="2012950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(8) goto (2)</a:t>
            </a:r>
          </a:p>
        </p:txBody>
      </p:sp>
      <p:sp>
        <p:nvSpPr>
          <p:cNvPr id="139298" name="Rectangle 34">
            <a:extLst>
              <a:ext uri="{FF2B5EF4-FFF2-40B4-BE49-F238E27FC236}">
                <a16:creationId xmlns:a16="http://schemas.microsoft.com/office/drawing/2014/main" id="{EAA7D94E-AF86-D449-7A82-2B253F37E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975" y="5094288"/>
            <a:ext cx="2317750" cy="457200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139299" name="Rectangle 35">
            <a:extLst>
              <a:ext uri="{FF2B5EF4-FFF2-40B4-BE49-F238E27FC236}">
                <a16:creationId xmlns:a16="http://schemas.microsoft.com/office/drawing/2014/main" id="{58E72A55-6633-9AED-4ABB-301DB390D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6678" y="5923112"/>
            <a:ext cx="614271" cy="461665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32" name="Cloud">
            <a:extLst>
              <a:ext uri="{FF2B5EF4-FFF2-40B4-BE49-F238E27FC236}">
                <a16:creationId xmlns:a16="http://schemas.microsoft.com/office/drawing/2014/main" id="{A3A58BBC-FECB-1985-8A7B-5C5F4DE05356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7758114" y="758825"/>
            <a:ext cx="3100387" cy="15113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99"/>
          </a:solidFill>
          <a:ln w="2222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3</a:t>
            </a:r>
            <a:r>
              <a:rPr lang="en-GB" altLang="zh-CN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00</a:t>
            </a:r>
            <a:r>
              <a:rPr lang="zh-CN" altLang="en-GB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次加法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zh-CN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200</a:t>
            </a:r>
            <a:r>
              <a:rPr lang="zh-CN" altLang="en-GB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次乘法</a:t>
            </a:r>
            <a:endParaRPr lang="en-GB" sz="3200" b="1">
              <a:solidFill>
                <a:srgbClr val="3333CC"/>
              </a:solidFill>
              <a:latin typeface="Times New Roman" pitchFamily="18" charset="0"/>
              <a:ea typeface="华文行楷" pitchFamily="2" charset="-122"/>
            </a:endParaRPr>
          </a:p>
        </p:txBody>
      </p:sp>
      <p:sp>
        <p:nvSpPr>
          <p:cNvPr id="33" name="Cloud">
            <a:extLst>
              <a:ext uri="{FF2B5EF4-FFF2-40B4-BE49-F238E27FC236}">
                <a16:creationId xmlns:a16="http://schemas.microsoft.com/office/drawing/2014/main" id="{D53152A3-D3F3-56C7-FA06-5FEB86EFA074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3028950" y="1335088"/>
            <a:ext cx="3100388" cy="124301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FF99"/>
          </a:solidFill>
          <a:ln w="2222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3</a:t>
            </a:r>
            <a:r>
              <a:rPr lang="en-GB" altLang="zh-CN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00</a:t>
            </a:r>
            <a:r>
              <a:rPr lang="zh-CN" altLang="en-GB" sz="3200" b="1">
                <a:solidFill>
                  <a:srgbClr val="3333CC"/>
                </a:solidFill>
                <a:latin typeface="Times New Roman" pitchFamily="18" charset="0"/>
                <a:ea typeface="华文行楷" pitchFamily="2" charset="-122"/>
              </a:rPr>
              <a:t>次加法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139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39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3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13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13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13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3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3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13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500"/>
                                        <p:tgtEl>
                                          <p:spTgt spid="13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13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500"/>
                                        <p:tgtEl>
                                          <p:spTgt spid="139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139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139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9278" grpId="0"/>
      <p:bldP spid="139279" grpId="0"/>
      <p:bldP spid="139281" grpId="0"/>
      <p:bldP spid="139282" grpId="0"/>
      <p:bldP spid="139284" grpId="0"/>
      <p:bldP spid="139287" grpId="0" animBg="1"/>
      <p:bldP spid="139288" grpId="0" animBg="1"/>
      <p:bldP spid="139289" grpId="0" animBg="1"/>
      <p:bldP spid="139290" grpId="0" animBg="1"/>
      <p:bldP spid="139291" grpId="0" animBg="1"/>
      <p:bldP spid="139292" grpId="0" animBg="1"/>
      <p:bldP spid="139293" grpId="0" animBg="1"/>
      <p:bldP spid="139294" grpId="0" animBg="1"/>
      <p:bldP spid="139295" grpId="0" animBg="1"/>
      <p:bldP spid="139295" grpId="1" animBg="1"/>
      <p:bldP spid="139296" grpId="0" animBg="1"/>
      <p:bldP spid="139296" grpId="1" animBg="1"/>
      <p:bldP spid="139297" grpId="0" animBg="1"/>
      <p:bldP spid="139297" grpId="1" animBg="1"/>
      <p:bldP spid="139298" grpId="0" animBg="1"/>
      <p:bldP spid="139298" grpId="1" animBg="1"/>
      <p:bldP spid="139299" grpId="0" animBg="1"/>
      <p:bldP spid="139299" grpId="1" animBg="1"/>
      <p:bldP spid="32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E480716D-31B5-1E2F-1399-7BBF66CE7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688976"/>
            <a:ext cx="43322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4000" b="1">
                <a:solidFill>
                  <a:srgbClr val="003399"/>
                </a:solidFill>
                <a:latin typeface="楷体_GB2312"/>
                <a:ea typeface="楷体_GB2312"/>
              </a:rPr>
              <a:t>5.</a:t>
            </a:r>
            <a:r>
              <a:rPr lang="zh-CN" altLang="en-US" sz="4000" b="1">
                <a:solidFill>
                  <a:srgbClr val="003399"/>
                </a:solidFill>
                <a:latin typeface="楷体_GB2312"/>
                <a:ea typeface="楷体_GB2312"/>
              </a:rPr>
              <a:t>目标代码生成</a:t>
            </a:r>
          </a:p>
        </p:txBody>
      </p:sp>
      <p:sp>
        <p:nvSpPr>
          <p:cNvPr id="140292" name="Rectangle 4">
            <a:extLst>
              <a:ext uri="{FF2B5EF4-FFF2-40B4-BE49-F238E27FC236}">
                <a16:creationId xmlns:a16="http://schemas.microsoft.com/office/drawing/2014/main" id="{3E15E822-760D-10DB-1474-62AB6399E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1622425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任务</a:t>
            </a:r>
          </a:p>
        </p:txBody>
      </p:sp>
      <p:sp>
        <p:nvSpPr>
          <p:cNvPr id="140293" name="Rectangle 5">
            <a:extLst>
              <a:ext uri="{FF2B5EF4-FFF2-40B4-BE49-F238E27FC236}">
                <a16:creationId xmlns:a16="http://schemas.microsoft.com/office/drawing/2014/main" id="{213F5DA1-A973-9425-6104-F4C58DC1A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4049713"/>
            <a:ext cx="2012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所做转换</a:t>
            </a:r>
          </a:p>
        </p:txBody>
      </p:sp>
      <p:sp>
        <p:nvSpPr>
          <p:cNvPr id="140294" name="Rectangle 6">
            <a:extLst>
              <a:ext uri="{FF2B5EF4-FFF2-40B4-BE49-F238E27FC236}">
                <a16:creationId xmlns:a16="http://schemas.microsoft.com/office/drawing/2014/main" id="{705E7CFC-AA23-6974-C61D-E4226754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5" y="537210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依据</a:t>
            </a:r>
          </a:p>
        </p:txBody>
      </p:sp>
      <p:sp>
        <p:nvSpPr>
          <p:cNvPr id="140295" name="Rectangle 7">
            <a:extLst>
              <a:ext uri="{FF2B5EF4-FFF2-40B4-BE49-F238E27FC236}">
                <a16:creationId xmlns:a16="http://schemas.microsoft.com/office/drawing/2014/main" id="{731E1657-3F3A-C071-4E3E-5D46A9177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781" y="5516096"/>
            <a:ext cx="4134465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硬件体系结构、指令系统</a:t>
            </a:r>
          </a:p>
        </p:txBody>
      </p:sp>
      <p:sp>
        <p:nvSpPr>
          <p:cNvPr id="140298" name="Rectangle 10">
            <a:extLst>
              <a:ext uri="{FF2B5EF4-FFF2-40B4-BE49-F238E27FC236}">
                <a16:creationId xmlns:a16="http://schemas.microsoft.com/office/drawing/2014/main" id="{A2BB5289-12A1-69C9-EF46-6AD239CCD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235" y="4608046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40299" name="Rectangle 11">
            <a:extLst>
              <a:ext uri="{FF2B5EF4-FFF2-40B4-BE49-F238E27FC236}">
                <a16:creationId xmlns:a16="http://schemas.microsoft.com/office/drawing/2014/main" id="{47806BF6-0143-3B5D-5F22-2633DACD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497" y="4579471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目标代码</a:t>
            </a:r>
          </a:p>
        </p:txBody>
      </p:sp>
      <p:sp>
        <p:nvSpPr>
          <p:cNvPr id="140300" name="Line 12">
            <a:extLst>
              <a:ext uri="{FF2B5EF4-FFF2-40B4-BE49-F238E27FC236}">
                <a16:creationId xmlns:a16="http://schemas.microsoft.com/office/drawing/2014/main" id="{58733C7C-D540-0FB8-C45F-95B0B86F51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4376" y="4835525"/>
            <a:ext cx="1935163" cy="206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0301" name="Rectangle 13">
            <a:extLst>
              <a:ext uri="{FF2B5EF4-FFF2-40B4-BE49-F238E27FC236}">
                <a16:creationId xmlns:a16="http://schemas.microsoft.com/office/drawing/2014/main" id="{B637BFDD-AA41-92BC-9AB6-44CAB01C5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9" y="2176464"/>
            <a:ext cx="7204075" cy="484187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将中间代码变换成特定机器上的低级语言代码</a:t>
            </a:r>
          </a:p>
        </p:txBody>
      </p:sp>
      <p:sp>
        <p:nvSpPr>
          <p:cNvPr id="140302" name="Rectangle 14">
            <a:extLst>
              <a:ext uri="{FF2B5EF4-FFF2-40B4-BE49-F238E27FC236}">
                <a16:creationId xmlns:a16="http://schemas.microsoft.com/office/drawing/2014/main" id="{FB9F3BDF-F411-22DA-DBBC-135E05B4C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738" y="2836863"/>
            <a:ext cx="231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目标代码形式</a:t>
            </a:r>
          </a:p>
        </p:txBody>
      </p:sp>
      <p:sp>
        <p:nvSpPr>
          <p:cNvPr id="140303" name="Rectangle 15">
            <a:extLst>
              <a:ext uri="{FF2B5EF4-FFF2-40B4-BE49-F238E27FC236}">
                <a16:creationId xmlns:a16="http://schemas.microsoft.com/office/drawing/2014/main" id="{7013A78C-D7AE-49A7-1549-B11408050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4" y="3492500"/>
            <a:ext cx="5894387" cy="484188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绝对指令、可重定位指令、汇编指令</a:t>
            </a:r>
          </a:p>
        </p:txBody>
      </p:sp>
      <p:sp>
        <p:nvSpPr>
          <p:cNvPr id="31757" name="矩形 12">
            <a:extLst>
              <a:ext uri="{FF2B5EF4-FFF2-40B4-BE49-F238E27FC236}">
                <a16:creationId xmlns:a16="http://schemas.microsoft.com/office/drawing/2014/main" id="{FA06287C-9A54-5ACA-B83F-9E50FD407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181726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需要知道目标机器的机器指令、体系结构、寄存器的多少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140293" grpId="0"/>
      <p:bldP spid="140294" grpId="0"/>
      <p:bldP spid="140295" grpId="0" animBg="1"/>
      <p:bldP spid="140298" grpId="0" animBg="1"/>
      <p:bldP spid="140299" grpId="0" animBg="1"/>
      <p:bldP spid="140301" grpId="0" animBg="1"/>
      <p:bldP spid="140302" grpId="0"/>
      <p:bldP spid="140303" grpId="0" animBg="1"/>
      <p:bldP spid="317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F9C39934-B957-5090-6C29-CBDD8523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839788"/>
            <a:ext cx="57277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3600" b="1">
                <a:solidFill>
                  <a:srgbClr val="003399"/>
                </a:solidFill>
                <a:latin typeface="楷体_GB2312"/>
                <a:ea typeface="楷体_GB2312"/>
              </a:rPr>
              <a:t>6.</a:t>
            </a: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目标代码生成</a:t>
            </a:r>
          </a:p>
        </p:txBody>
      </p:sp>
      <p:sp>
        <p:nvSpPr>
          <p:cNvPr id="141330" name="Rectangle 18">
            <a:extLst>
              <a:ext uri="{FF2B5EF4-FFF2-40B4-BE49-F238E27FC236}">
                <a16:creationId xmlns:a16="http://schemas.microsoft.com/office/drawing/2014/main" id="{0103DA09-6D2D-E241-4967-9AD1AD75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724" y="2375844"/>
            <a:ext cx="1311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LD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I</a:t>
            </a:r>
          </a:p>
        </p:txBody>
      </p:sp>
      <p:sp>
        <p:nvSpPr>
          <p:cNvPr id="141331" name="Rectangle 19">
            <a:extLst>
              <a:ext uri="{FF2B5EF4-FFF2-40B4-BE49-F238E27FC236}">
                <a16:creationId xmlns:a16="http://schemas.microsoft.com/office/drawing/2014/main" id="{B024A5FE-1FC5-BD7D-234C-75437761F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213" y="5485757"/>
            <a:ext cx="1965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L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: ST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M</a:t>
            </a:r>
          </a:p>
        </p:txBody>
      </p:sp>
      <p:sp>
        <p:nvSpPr>
          <p:cNvPr id="141342" name="Rectangle 30">
            <a:extLst>
              <a:ext uri="{FF2B5EF4-FFF2-40B4-BE49-F238E27FC236}">
                <a16:creationId xmlns:a16="http://schemas.microsoft.com/office/drawing/2014/main" id="{2C93D793-B94B-7031-E737-E26A91ECB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757488"/>
            <a:ext cx="136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LD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J</a:t>
            </a:r>
          </a:p>
        </p:txBody>
      </p:sp>
      <p:sp>
        <p:nvSpPr>
          <p:cNvPr id="141343" name="Rectangle 31">
            <a:extLst>
              <a:ext uri="{FF2B5EF4-FFF2-40B4-BE49-F238E27FC236}">
                <a16:creationId xmlns:a16="http://schemas.microsoft.com/office/drawing/2014/main" id="{D0F627BC-C1C0-01AB-A371-455CD949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619" y="5804844"/>
            <a:ext cx="1436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ST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N</a:t>
            </a:r>
          </a:p>
        </p:txBody>
      </p:sp>
      <p:sp>
        <p:nvSpPr>
          <p:cNvPr id="141344" name="Rectangle 32">
            <a:extLst>
              <a:ext uri="{FF2B5EF4-FFF2-40B4-BE49-F238E27FC236}">
                <a16:creationId xmlns:a16="http://schemas.microsoft.com/office/drawing/2014/main" id="{0B7C58A8-71EA-85F9-5CAF-0D8FF3BF2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330" y="3093394"/>
            <a:ext cx="1398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LD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0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1</a:t>
            </a:r>
          </a:p>
        </p:txBody>
      </p:sp>
      <p:sp>
        <p:nvSpPr>
          <p:cNvPr id="141345" name="Rectangle 33">
            <a:extLst>
              <a:ext uri="{FF2B5EF4-FFF2-40B4-BE49-F238E27FC236}">
                <a16:creationId xmlns:a16="http://schemas.microsoft.com/office/drawing/2014/main" id="{D3775993-404D-2F37-5336-7C671058C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121" y="3460107"/>
            <a:ext cx="25635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L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: CMP 100,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0</a:t>
            </a:r>
          </a:p>
        </p:txBody>
      </p:sp>
      <p:sp>
        <p:nvSpPr>
          <p:cNvPr id="141346" name="Rectangle 34">
            <a:extLst>
              <a:ext uri="{FF2B5EF4-FFF2-40B4-BE49-F238E27FC236}">
                <a16:creationId xmlns:a16="http://schemas.microsoft.com/office/drawing/2014/main" id="{7D2EECD5-EAE9-D3C0-E8A8-C557D911C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4" y="3808413"/>
            <a:ext cx="105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J&lt;  L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</a:p>
        </p:txBody>
      </p:sp>
      <p:sp>
        <p:nvSpPr>
          <p:cNvPr id="141348" name="Rectangle 36">
            <a:extLst>
              <a:ext uri="{FF2B5EF4-FFF2-40B4-BE49-F238E27FC236}">
                <a16:creationId xmlns:a16="http://schemas.microsoft.com/office/drawing/2014/main" id="{B2D53A35-984D-3E6B-10EB-308D6A06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718" y="4130032"/>
            <a:ext cx="1893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ADD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10</a:t>
            </a:r>
          </a:p>
        </p:txBody>
      </p:sp>
      <p:sp>
        <p:nvSpPr>
          <p:cNvPr id="141349" name="Rectangle 37">
            <a:extLst>
              <a:ext uri="{FF2B5EF4-FFF2-40B4-BE49-F238E27FC236}">
                <a16:creationId xmlns:a16="http://schemas.microsoft.com/office/drawing/2014/main" id="{CB9D3FE3-7B52-8203-AB4B-806790FB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7780" y="4493569"/>
            <a:ext cx="1893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ADD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10</a:t>
            </a:r>
          </a:p>
        </p:txBody>
      </p:sp>
      <p:sp>
        <p:nvSpPr>
          <p:cNvPr id="141350" name="Rectangle 38">
            <a:extLst>
              <a:ext uri="{FF2B5EF4-FFF2-40B4-BE49-F238E27FC236}">
                <a16:creationId xmlns:a16="http://schemas.microsoft.com/office/drawing/2014/main" id="{BEB2A545-13CA-BB6B-A25C-896D9A4AC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125" y="4819007"/>
            <a:ext cx="1704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ADD R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0</a:t>
            </a: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, 1</a:t>
            </a:r>
          </a:p>
        </p:txBody>
      </p:sp>
      <p:sp>
        <p:nvSpPr>
          <p:cNvPr id="141351" name="Rectangle 39">
            <a:extLst>
              <a:ext uri="{FF2B5EF4-FFF2-40B4-BE49-F238E27FC236}">
                <a16:creationId xmlns:a16="http://schemas.microsoft.com/office/drawing/2014/main" id="{D02A5F53-9CF2-98AE-1F23-B8D49D37C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350" y="5147619"/>
            <a:ext cx="8980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J   L</a:t>
            </a:r>
            <a:r>
              <a:rPr lang="en-US" altLang="zh-CN" sz="2400" b="1" baseline="-25000">
                <a:solidFill>
                  <a:srgbClr val="DC5900"/>
                </a:solidFill>
                <a:latin typeface="楷体_GB2312"/>
                <a:ea typeface="楷体_GB2312"/>
              </a:rPr>
              <a:t>1</a:t>
            </a:r>
          </a:p>
        </p:txBody>
      </p:sp>
      <p:sp>
        <p:nvSpPr>
          <p:cNvPr id="33806" name="Rectangle 40">
            <a:extLst>
              <a:ext uri="{FF2B5EF4-FFF2-40B4-BE49-F238E27FC236}">
                <a16:creationId xmlns:a16="http://schemas.microsoft.com/office/drawing/2014/main" id="{C43C6A66-4E00-1607-7BE7-8BB789E6A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1" y="1733550"/>
            <a:ext cx="1306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0000"/>
                </a:solidFill>
                <a:latin typeface="楷体_GB2312"/>
                <a:ea typeface="楷体_GB2312"/>
              </a:rPr>
              <a:t>示例</a:t>
            </a:r>
          </a:p>
        </p:txBody>
      </p:sp>
      <p:sp>
        <p:nvSpPr>
          <p:cNvPr id="33807" name="Rectangle 53">
            <a:extLst>
              <a:ext uri="{FF2B5EF4-FFF2-40B4-BE49-F238E27FC236}">
                <a16:creationId xmlns:a16="http://schemas.microsoft.com/office/drawing/2014/main" id="{2DEDD1A5-565A-5FE6-C940-7AFB5F50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549116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(8) goto (4)</a:t>
            </a:r>
          </a:p>
        </p:txBody>
      </p:sp>
      <p:sp>
        <p:nvSpPr>
          <p:cNvPr id="33808" name="Rectangle 54">
            <a:extLst>
              <a:ext uri="{FF2B5EF4-FFF2-40B4-BE49-F238E27FC236}">
                <a16:creationId xmlns:a16="http://schemas.microsoft.com/office/drawing/2014/main" id="{91366DB0-B00C-A430-9CD0-EB0B206AF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504825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33809" name="Rectangle 55">
            <a:extLst>
              <a:ext uri="{FF2B5EF4-FFF2-40B4-BE49-F238E27FC236}">
                <a16:creationId xmlns:a16="http://schemas.microsoft.com/office/drawing/2014/main" id="{BC99770B-65A6-11F9-47D1-7E19C2D75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940" y="2371082"/>
            <a:ext cx="1628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(1) M := I</a:t>
            </a:r>
          </a:p>
        </p:txBody>
      </p:sp>
      <p:sp>
        <p:nvSpPr>
          <p:cNvPr id="33810" name="Rectangle 56">
            <a:extLst>
              <a:ext uri="{FF2B5EF4-FFF2-40B4-BE49-F238E27FC236}">
                <a16:creationId xmlns:a16="http://schemas.microsoft.com/office/drawing/2014/main" id="{86464302-6B68-D0A6-3566-6850B874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653" y="5874694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33811" name="Rectangle 57">
            <a:extLst>
              <a:ext uri="{FF2B5EF4-FFF2-40B4-BE49-F238E27FC236}">
                <a16:creationId xmlns:a16="http://schemas.microsoft.com/office/drawing/2014/main" id="{BDBBD36D-9DA5-EC63-8CDA-D0CE22AA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298" y="4623744"/>
            <a:ext cx="25282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(6) N := N + 10</a:t>
            </a:r>
          </a:p>
        </p:txBody>
      </p:sp>
      <p:sp>
        <p:nvSpPr>
          <p:cNvPr id="33812" name="Rectangle 50">
            <a:extLst>
              <a:ext uri="{FF2B5EF4-FFF2-40B4-BE49-F238E27FC236}">
                <a16:creationId xmlns:a16="http://schemas.microsoft.com/office/drawing/2014/main" id="{12D74075-74B9-3A52-21A3-F06795406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779" y="3277544"/>
            <a:ext cx="16129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(3) K := 1</a:t>
            </a:r>
          </a:p>
        </p:txBody>
      </p:sp>
      <p:sp>
        <p:nvSpPr>
          <p:cNvPr id="33813" name="Rectangle 58">
            <a:extLst>
              <a:ext uri="{FF2B5EF4-FFF2-40B4-BE49-F238E27FC236}">
                <a16:creationId xmlns:a16="http://schemas.microsoft.com/office/drawing/2014/main" id="{D5982660-77A6-A616-E378-0074BEE83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15" y="2820344"/>
            <a:ext cx="16161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(2) N := J</a:t>
            </a:r>
          </a:p>
        </p:txBody>
      </p:sp>
      <p:sp>
        <p:nvSpPr>
          <p:cNvPr id="33814" name="Rectangle 52">
            <a:extLst>
              <a:ext uri="{FF2B5EF4-FFF2-40B4-BE49-F238E27FC236}">
                <a16:creationId xmlns:a16="http://schemas.microsoft.com/office/drawing/2014/main" id="{3FAE2E0A-DF8B-141F-4E32-F9A66883E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959" y="4155432"/>
            <a:ext cx="27286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(5) M := M + 10 </a:t>
            </a:r>
          </a:p>
        </p:txBody>
      </p:sp>
      <p:sp>
        <p:nvSpPr>
          <p:cNvPr id="33815" name="Rectangle 51">
            <a:extLst>
              <a:ext uri="{FF2B5EF4-FFF2-40B4-BE49-F238E27FC236}">
                <a16:creationId xmlns:a16="http://schemas.microsoft.com/office/drawing/2014/main" id="{E1EDD774-38BE-E2C5-FC14-A570F45D8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225" y="37306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DC5900"/>
                </a:solidFill>
                <a:latin typeface="楷体_GB2312"/>
                <a:ea typeface="楷体_GB2312"/>
              </a:rPr>
              <a:t>(4) if 100&lt;K goto (9)</a:t>
            </a:r>
          </a:p>
        </p:txBody>
      </p:sp>
      <p:sp>
        <p:nvSpPr>
          <p:cNvPr id="141359" name="Rectangle 47">
            <a:extLst>
              <a:ext uri="{FF2B5EF4-FFF2-40B4-BE49-F238E27FC236}">
                <a16:creationId xmlns:a16="http://schemas.microsoft.com/office/drawing/2014/main" id="{3F9BEA2D-20A2-CE6D-DA56-832B2011E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865" y="5881044"/>
            <a:ext cx="614271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(9)</a:t>
            </a:r>
          </a:p>
        </p:txBody>
      </p:sp>
      <p:sp>
        <p:nvSpPr>
          <p:cNvPr id="141371" name="Rectangle 59">
            <a:extLst>
              <a:ext uri="{FF2B5EF4-FFF2-40B4-BE49-F238E27FC236}">
                <a16:creationId xmlns:a16="http://schemas.microsoft.com/office/drawing/2014/main" id="{1C90F37A-FE59-7047-4FE9-84B129A82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5497513"/>
            <a:ext cx="20129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(8) goto (4)</a:t>
            </a:r>
          </a:p>
        </p:txBody>
      </p:sp>
      <p:sp>
        <p:nvSpPr>
          <p:cNvPr id="141372" name="Rectangle 60">
            <a:extLst>
              <a:ext uri="{FF2B5EF4-FFF2-40B4-BE49-F238E27FC236}">
                <a16:creationId xmlns:a16="http://schemas.microsoft.com/office/drawing/2014/main" id="{D102CBE3-97CC-6208-373C-B14C2D195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5054600"/>
            <a:ext cx="23177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(7) K := K + 1</a:t>
            </a:r>
          </a:p>
        </p:txBody>
      </p:sp>
      <p:sp>
        <p:nvSpPr>
          <p:cNvPr id="141373" name="Rectangle 61">
            <a:extLst>
              <a:ext uri="{FF2B5EF4-FFF2-40B4-BE49-F238E27FC236}">
                <a16:creationId xmlns:a16="http://schemas.microsoft.com/office/drawing/2014/main" id="{A7EBEF81-F919-273B-7C21-A659F2DF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153" y="2377432"/>
            <a:ext cx="1628971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(1) M := I</a:t>
            </a:r>
          </a:p>
        </p:txBody>
      </p:sp>
      <p:sp>
        <p:nvSpPr>
          <p:cNvPr id="141374" name="Rectangle 62">
            <a:extLst>
              <a:ext uri="{FF2B5EF4-FFF2-40B4-BE49-F238E27FC236}">
                <a16:creationId xmlns:a16="http://schemas.microsoft.com/office/drawing/2014/main" id="{B1826213-B403-8A4C-B69A-9B460D2FB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511" y="4630094"/>
            <a:ext cx="2528257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(6) N := N + 10</a:t>
            </a:r>
          </a:p>
        </p:txBody>
      </p:sp>
      <p:sp>
        <p:nvSpPr>
          <p:cNvPr id="141375" name="Rectangle 63">
            <a:extLst>
              <a:ext uri="{FF2B5EF4-FFF2-40B4-BE49-F238E27FC236}">
                <a16:creationId xmlns:a16="http://schemas.microsoft.com/office/drawing/2014/main" id="{410AFCFD-7828-16B7-A5EE-728F9F04C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29" y="3283894"/>
            <a:ext cx="1612942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(3) K := 1</a:t>
            </a:r>
          </a:p>
        </p:txBody>
      </p:sp>
      <p:sp>
        <p:nvSpPr>
          <p:cNvPr id="141376" name="Rectangle 64">
            <a:extLst>
              <a:ext uri="{FF2B5EF4-FFF2-40B4-BE49-F238E27FC236}">
                <a16:creationId xmlns:a16="http://schemas.microsoft.com/office/drawing/2014/main" id="{CC636CAE-97B7-6A4D-52DF-A4CB947C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265" y="2826694"/>
            <a:ext cx="1616147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(2) N := J</a:t>
            </a:r>
          </a:p>
        </p:txBody>
      </p:sp>
      <p:sp>
        <p:nvSpPr>
          <p:cNvPr id="141377" name="Rectangle 65">
            <a:extLst>
              <a:ext uri="{FF2B5EF4-FFF2-40B4-BE49-F238E27FC236}">
                <a16:creationId xmlns:a16="http://schemas.microsoft.com/office/drawing/2014/main" id="{6A06AC90-439B-618F-F8BC-2E27FC52A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3735388"/>
            <a:ext cx="3384550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(4) if 100&lt;K goto (9)</a:t>
            </a:r>
          </a:p>
        </p:txBody>
      </p:sp>
      <p:sp>
        <p:nvSpPr>
          <p:cNvPr id="141378" name="Rectangle 66">
            <a:extLst>
              <a:ext uri="{FF2B5EF4-FFF2-40B4-BE49-F238E27FC236}">
                <a16:creationId xmlns:a16="http://schemas.microsoft.com/office/drawing/2014/main" id="{D74C092A-F45E-5D08-E22C-BEA4FD8D0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3809" y="4182419"/>
            <a:ext cx="2728632" cy="46166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b="1">
                <a:solidFill>
                  <a:srgbClr val="FFFFFF"/>
                </a:solidFill>
                <a:latin typeface="楷体_GB2312"/>
                <a:ea typeface="楷体_GB2312"/>
              </a:rPr>
              <a:t>(5) M := M + 10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41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14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41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4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41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14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1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141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4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1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500"/>
                                        <p:tgtEl>
                                          <p:spTgt spid="141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141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141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4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141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1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9" dur="5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14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7" dur="500"/>
                                        <p:tgtEl>
                                          <p:spTgt spid="141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30" grpId="0"/>
      <p:bldP spid="141331" grpId="0"/>
      <p:bldP spid="141342" grpId="0"/>
      <p:bldP spid="141343" grpId="0"/>
      <p:bldP spid="141344" grpId="0"/>
      <p:bldP spid="141345" grpId="0"/>
      <p:bldP spid="141346" grpId="0"/>
      <p:bldP spid="141348" grpId="0"/>
      <p:bldP spid="141349" grpId="0"/>
      <p:bldP spid="141350" grpId="0"/>
      <p:bldP spid="141351" grpId="0"/>
      <p:bldP spid="141359" grpId="0" animBg="1"/>
      <p:bldP spid="141359" grpId="1" animBg="1"/>
      <p:bldP spid="141371" grpId="0" animBg="1"/>
      <p:bldP spid="141371" grpId="1" animBg="1"/>
      <p:bldP spid="141372" grpId="0" animBg="1"/>
      <p:bldP spid="141372" grpId="1" animBg="1"/>
      <p:bldP spid="141373" grpId="0" animBg="1"/>
      <p:bldP spid="141373" grpId="1" animBg="1"/>
      <p:bldP spid="141374" grpId="0" animBg="1"/>
      <p:bldP spid="141374" grpId="1" animBg="1"/>
      <p:bldP spid="141375" grpId="0" animBg="1"/>
      <p:bldP spid="141375" grpId="1" animBg="1"/>
      <p:bldP spid="141376" grpId="0" animBg="1"/>
      <p:bldP spid="141376" grpId="1" animBg="1"/>
      <p:bldP spid="141377" grpId="0" animBg="1"/>
      <p:bldP spid="141377" grpId="1" animBg="1"/>
      <p:bldP spid="141378" grpId="0" animBg="1"/>
      <p:bldP spid="14137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9">
            <a:extLst>
              <a:ext uri="{FF2B5EF4-FFF2-40B4-BE49-F238E27FC236}">
                <a16:creationId xmlns:a16="http://schemas.microsoft.com/office/drawing/2014/main" id="{700E42CC-EFC1-8DB1-96E2-2FD77333C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460376"/>
            <a:ext cx="2954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003399"/>
                </a:solidFill>
                <a:latin typeface="楷体_GB2312"/>
                <a:ea typeface="楷体_GB2312"/>
              </a:rPr>
              <a:t>编译过程概述</a:t>
            </a:r>
          </a:p>
        </p:txBody>
      </p:sp>
      <p:sp>
        <p:nvSpPr>
          <p:cNvPr id="35843" name="Rectangle 13">
            <a:extLst>
              <a:ext uri="{FF2B5EF4-FFF2-40B4-BE49-F238E27FC236}">
                <a16:creationId xmlns:a16="http://schemas.microsoft.com/office/drawing/2014/main" id="{1D9578F8-5453-C99E-A96E-A9478F65C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3336926"/>
            <a:ext cx="2216150" cy="70167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编译过程</a:t>
            </a:r>
          </a:p>
        </p:txBody>
      </p:sp>
      <p:sp>
        <p:nvSpPr>
          <p:cNvPr id="119822" name="Rectangle 14">
            <a:extLst>
              <a:ext uri="{FF2B5EF4-FFF2-40B4-BE49-F238E27FC236}">
                <a16:creationId xmlns:a16="http://schemas.microsoft.com/office/drawing/2014/main" id="{2C494F6D-CACA-54F7-EF1E-2A1757612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563" y="1613585"/>
            <a:ext cx="2031325" cy="646331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FFFF"/>
                </a:solidFill>
                <a:latin typeface="楷体_GB2312"/>
                <a:ea typeface="楷体_GB2312"/>
              </a:rPr>
              <a:t>词法分析</a:t>
            </a:r>
          </a:p>
        </p:txBody>
      </p:sp>
      <p:sp>
        <p:nvSpPr>
          <p:cNvPr id="119823" name="Rectangle 15">
            <a:extLst>
              <a:ext uri="{FF2B5EF4-FFF2-40B4-BE49-F238E27FC236}">
                <a16:creationId xmlns:a16="http://schemas.microsoft.com/office/drawing/2014/main" id="{33C62FFE-2A87-CBF2-396E-2072CD40E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388" y="2529573"/>
            <a:ext cx="2031325" cy="646331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FFFF"/>
                </a:solidFill>
                <a:latin typeface="楷体_GB2312"/>
                <a:ea typeface="楷体_GB2312"/>
              </a:rPr>
              <a:t>语法分析</a:t>
            </a:r>
          </a:p>
        </p:txBody>
      </p:sp>
      <p:sp>
        <p:nvSpPr>
          <p:cNvPr id="119824" name="Rectangle 16">
            <a:extLst>
              <a:ext uri="{FF2B5EF4-FFF2-40B4-BE49-F238E27FC236}">
                <a16:creationId xmlns:a16="http://schemas.microsoft.com/office/drawing/2014/main" id="{049EF2D9-7FFD-A7E7-C2D7-20ECE5849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7286" y="3482073"/>
            <a:ext cx="2954655" cy="646331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FFFF"/>
                </a:solidFill>
                <a:latin typeface="楷体_GB2312"/>
                <a:ea typeface="楷体_GB2312"/>
              </a:rPr>
              <a:t>中间代码生成</a:t>
            </a:r>
          </a:p>
        </p:txBody>
      </p:sp>
      <p:sp>
        <p:nvSpPr>
          <p:cNvPr id="119825" name="Rectangle 17">
            <a:extLst>
              <a:ext uri="{FF2B5EF4-FFF2-40B4-BE49-F238E27FC236}">
                <a16:creationId xmlns:a16="http://schemas.microsoft.com/office/drawing/2014/main" id="{CDFD1238-75AB-70B9-B1BE-D160F3899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701" y="4448860"/>
            <a:ext cx="2031325" cy="646331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FFFF"/>
                </a:solidFill>
                <a:latin typeface="楷体_GB2312"/>
                <a:ea typeface="楷体_GB2312"/>
              </a:rPr>
              <a:t>代码优化</a:t>
            </a:r>
          </a:p>
        </p:txBody>
      </p:sp>
      <p:sp>
        <p:nvSpPr>
          <p:cNvPr id="119826" name="Rectangle 18">
            <a:extLst>
              <a:ext uri="{FF2B5EF4-FFF2-40B4-BE49-F238E27FC236}">
                <a16:creationId xmlns:a16="http://schemas.microsoft.com/office/drawing/2014/main" id="{1D2FF40B-B18F-4085-763B-4C32D391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598" y="5380723"/>
            <a:ext cx="2954655" cy="646331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3600" b="1">
                <a:solidFill>
                  <a:srgbClr val="FFFFFF"/>
                </a:solidFill>
                <a:latin typeface="楷体_GB2312"/>
                <a:ea typeface="楷体_GB2312"/>
              </a:rPr>
              <a:t>目标代码生成</a:t>
            </a:r>
          </a:p>
        </p:txBody>
      </p:sp>
      <p:grpSp>
        <p:nvGrpSpPr>
          <p:cNvPr id="35849" name="Group 21">
            <a:extLst>
              <a:ext uri="{FF2B5EF4-FFF2-40B4-BE49-F238E27FC236}">
                <a16:creationId xmlns:a16="http://schemas.microsoft.com/office/drawing/2014/main" id="{01FF5177-C90E-1719-4EAF-F9E3704305FC}"/>
              </a:ext>
            </a:extLst>
          </p:cNvPr>
          <p:cNvGrpSpPr>
            <a:grpSpLocks/>
          </p:cNvGrpSpPr>
          <p:nvPr/>
        </p:nvGrpSpPr>
        <p:grpSpPr bwMode="auto">
          <a:xfrm>
            <a:off x="3922714" y="1819275"/>
            <a:ext cx="396875" cy="3956050"/>
            <a:chOff x="1628" y="1302"/>
            <a:chExt cx="250" cy="2492"/>
          </a:xfrm>
        </p:grpSpPr>
        <p:sp>
          <p:nvSpPr>
            <p:cNvPr id="35875" name="Line 19">
              <a:extLst>
                <a:ext uri="{FF2B5EF4-FFF2-40B4-BE49-F238E27FC236}">
                  <a16:creationId xmlns:a16="http://schemas.microsoft.com/office/drawing/2014/main" id="{ACBB4E6C-D110-DD1A-6A4D-A12DB8DAF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8" y="2467"/>
              <a:ext cx="238" cy="1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5876" name="Line 20">
              <a:extLst>
                <a:ext uri="{FF2B5EF4-FFF2-40B4-BE49-F238E27FC236}">
                  <a16:creationId xmlns:a16="http://schemas.microsoft.com/office/drawing/2014/main" id="{66904239-9F69-F1F4-DF08-F6C1A169E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6" y="1302"/>
              <a:ext cx="12" cy="249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</p:grpSp>
      <p:sp>
        <p:nvSpPr>
          <p:cNvPr id="119830" name="Line 22">
            <a:extLst>
              <a:ext uri="{FF2B5EF4-FFF2-40B4-BE49-F238E27FC236}">
                <a16:creationId xmlns:a16="http://schemas.microsoft.com/office/drawing/2014/main" id="{4D28FE98-043E-CB41-18F8-F84E177AD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0539" y="1839913"/>
            <a:ext cx="5556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32" name="Line 24">
            <a:extLst>
              <a:ext uri="{FF2B5EF4-FFF2-40B4-BE49-F238E27FC236}">
                <a16:creationId xmlns:a16="http://schemas.microsoft.com/office/drawing/2014/main" id="{268CDB01-049E-606A-171F-1780BE266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1489" y="2833688"/>
            <a:ext cx="5556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33" name="Line 25">
            <a:extLst>
              <a:ext uri="{FF2B5EF4-FFF2-40B4-BE49-F238E27FC236}">
                <a16:creationId xmlns:a16="http://schemas.microsoft.com/office/drawing/2014/main" id="{EC05DFCF-AF9B-15E8-D70D-69F4846C5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9901" y="4743450"/>
            <a:ext cx="5556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34" name="Line 26">
            <a:extLst>
              <a:ext uri="{FF2B5EF4-FFF2-40B4-BE49-F238E27FC236}">
                <a16:creationId xmlns:a16="http://schemas.microsoft.com/office/drawing/2014/main" id="{4B42D059-1901-AF13-B0FB-50FE7837F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26" y="3670300"/>
            <a:ext cx="5556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35" name="Line 27">
            <a:extLst>
              <a:ext uri="{FF2B5EF4-FFF2-40B4-BE49-F238E27FC236}">
                <a16:creationId xmlns:a16="http://schemas.microsoft.com/office/drawing/2014/main" id="{25245B82-F2F6-DE80-DEB9-A57B8C521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1489" y="5748338"/>
            <a:ext cx="5556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36" name="Rectangle 28">
            <a:extLst>
              <a:ext uri="{FF2B5EF4-FFF2-40B4-BE49-F238E27FC236}">
                <a16:creationId xmlns:a16="http://schemas.microsoft.com/office/drawing/2014/main" id="{37209DD5-5F52-C9BB-3908-915E87A61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912813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源程序</a:t>
            </a:r>
          </a:p>
        </p:txBody>
      </p:sp>
      <p:sp>
        <p:nvSpPr>
          <p:cNvPr id="119837" name="Rectangle 29">
            <a:extLst>
              <a:ext uri="{FF2B5EF4-FFF2-40B4-BE49-F238E27FC236}">
                <a16:creationId xmlns:a16="http://schemas.microsoft.com/office/drawing/2014/main" id="{90A2F6D9-F29F-9D34-87AC-734277A2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2027238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单词符号</a:t>
            </a:r>
          </a:p>
        </p:txBody>
      </p:sp>
      <p:sp>
        <p:nvSpPr>
          <p:cNvPr id="119838" name="Rectangle 30">
            <a:extLst>
              <a:ext uri="{FF2B5EF4-FFF2-40B4-BE49-F238E27FC236}">
                <a16:creationId xmlns:a16="http://schemas.microsoft.com/office/drawing/2014/main" id="{3861A5E8-4354-93AA-FEB8-6A8974AD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3814763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19839" name="Rectangle 31">
            <a:extLst>
              <a:ext uri="{FF2B5EF4-FFF2-40B4-BE49-F238E27FC236}">
                <a16:creationId xmlns:a16="http://schemas.microsoft.com/office/drawing/2014/main" id="{B5DC886B-6365-3F97-E9A3-C54059787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7413" y="2943226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语法单位</a:t>
            </a:r>
          </a:p>
        </p:txBody>
      </p:sp>
      <p:sp>
        <p:nvSpPr>
          <p:cNvPr id="119840" name="Rectangle 32">
            <a:extLst>
              <a:ext uri="{FF2B5EF4-FFF2-40B4-BE49-F238E27FC236}">
                <a16:creationId xmlns:a16="http://schemas.microsoft.com/office/drawing/2014/main" id="{9B5711EE-87CD-E2F2-556B-592303F23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5965826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目标代码</a:t>
            </a:r>
          </a:p>
        </p:txBody>
      </p:sp>
      <p:sp>
        <p:nvSpPr>
          <p:cNvPr id="119841" name="Rectangle 33">
            <a:extLst>
              <a:ext uri="{FF2B5EF4-FFF2-40B4-BE49-F238E27FC236}">
                <a16:creationId xmlns:a16="http://schemas.microsoft.com/office/drawing/2014/main" id="{A4314F4C-56B8-35C1-0BC9-8F75E13F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4757738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中间代码（优化后）</a:t>
            </a:r>
          </a:p>
        </p:txBody>
      </p:sp>
      <p:sp>
        <p:nvSpPr>
          <p:cNvPr id="119842" name="Rectangle 34">
            <a:extLst>
              <a:ext uri="{FF2B5EF4-FFF2-40B4-BE49-F238E27FC236}">
                <a16:creationId xmlns:a16="http://schemas.microsoft.com/office/drawing/2014/main" id="{4209ABC6-7594-8047-863C-5F04EB5EC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1847851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源程序</a:t>
            </a:r>
          </a:p>
        </p:txBody>
      </p:sp>
      <p:sp>
        <p:nvSpPr>
          <p:cNvPr id="119843" name="Rectangle 35">
            <a:extLst>
              <a:ext uri="{FF2B5EF4-FFF2-40B4-BE49-F238E27FC236}">
                <a16:creationId xmlns:a16="http://schemas.microsoft.com/office/drawing/2014/main" id="{3A03BF26-CFA6-B20C-0A7E-CD9826953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550" y="5189538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0000"/>
                </a:solidFill>
                <a:latin typeface="楷体_GB2312"/>
                <a:ea typeface="楷体_GB2312"/>
              </a:rPr>
              <a:t>目标代码</a:t>
            </a:r>
          </a:p>
        </p:txBody>
      </p:sp>
      <p:sp>
        <p:nvSpPr>
          <p:cNvPr id="119844" name="Line 36">
            <a:extLst>
              <a:ext uri="{FF2B5EF4-FFF2-40B4-BE49-F238E27FC236}">
                <a16:creationId xmlns:a16="http://schemas.microsoft.com/office/drawing/2014/main" id="{A2964872-C8C1-5F15-84A5-85922ED5E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0614" y="2444750"/>
            <a:ext cx="414337" cy="814388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46" name="Line 38">
            <a:extLst>
              <a:ext uri="{FF2B5EF4-FFF2-40B4-BE49-F238E27FC236}">
                <a16:creationId xmlns:a16="http://schemas.microsoft.com/office/drawing/2014/main" id="{F3FD23AF-0452-AF4E-BDAE-DE028CCFF5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8714" y="4114800"/>
            <a:ext cx="396875" cy="1093788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3" name="Line 45">
            <a:extLst>
              <a:ext uri="{FF2B5EF4-FFF2-40B4-BE49-F238E27FC236}">
                <a16:creationId xmlns:a16="http://schemas.microsoft.com/office/drawing/2014/main" id="{0896AA27-33B7-297A-5B74-CA861ADD4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9150" y="1214439"/>
            <a:ext cx="1435100" cy="573087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4" name="Line 46">
            <a:extLst>
              <a:ext uri="{FF2B5EF4-FFF2-40B4-BE49-F238E27FC236}">
                <a16:creationId xmlns:a16="http://schemas.microsoft.com/office/drawing/2014/main" id="{B0CDF784-4B97-4129-646F-707A0FEBAF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0725" y="2446339"/>
            <a:ext cx="1492250" cy="357187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5" name="Line 47">
            <a:extLst>
              <a:ext uri="{FF2B5EF4-FFF2-40B4-BE49-F238E27FC236}">
                <a16:creationId xmlns:a16="http://schemas.microsoft.com/office/drawing/2014/main" id="{4EFA3804-C786-B505-9CD1-BF76F8A6F1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5763" y="3381375"/>
            <a:ext cx="519112" cy="317500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6" name="Line 48">
            <a:extLst>
              <a:ext uri="{FF2B5EF4-FFF2-40B4-BE49-F238E27FC236}">
                <a16:creationId xmlns:a16="http://schemas.microsoft.com/office/drawing/2014/main" id="{A908F965-7C97-7CD9-DE0C-20D77B3C8F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1676" y="4237039"/>
            <a:ext cx="1433513" cy="415925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7" name="Line 49">
            <a:extLst>
              <a:ext uri="{FF2B5EF4-FFF2-40B4-BE49-F238E27FC236}">
                <a16:creationId xmlns:a16="http://schemas.microsoft.com/office/drawing/2014/main" id="{91F170E7-8872-9C49-6D5C-883ECA4E5D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6075" y="5192714"/>
            <a:ext cx="617538" cy="376237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8" name="Line 50">
            <a:extLst>
              <a:ext uri="{FF2B5EF4-FFF2-40B4-BE49-F238E27FC236}">
                <a16:creationId xmlns:a16="http://schemas.microsoft.com/office/drawing/2014/main" id="{B3403C25-E49A-0084-A67F-2D52565A9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8613" y="5807075"/>
            <a:ext cx="1071562" cy="198438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59" name="Line 51">
            <a:extLst>
              <a:ext uri="{FF2B5EF4-FFF2-40B4-BE49-F238E27FC236}">
                <a16:creationId xmlns:a16="http://schemas.microsoft.com/office/drawing/2014/main" id="{B9594546-3A17-11B7-8341-3F3366DCF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9" y="4873626"/>
            <a:ext cx="714375" cy="138113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60" name="Line 52">
            <a:extLst>
              <a:ext uri="{FF2B5EF4-FFF2-40B4-BE49-F238E27FC236}">
                <a16:creationId xmlns:a16="http://schemas.microsoft.com/office/drawing/2014/main" id="{5712304F-F772-723E-D9FC-8E22A54AE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1163" y="3919538"/>
            <a:ext cx="576262" cy="119062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61" name="Line 53">
            <a:extLst>
              <a:ext uri="{FF2B5EF4-FFF2-40B4-BE49-F238E27FC236}">
                <a16:creationId xmlns:a16="http://schemas.microsoft.com/office/drawing/2014/main" id="{AE85D3C9-9150-62BF-EDBD-942C0AF3D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4" y="3005138"/>
            <a:ext cx="1411287" cy="139700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19862" name="Line 54">
            <a:extLst>
              <a:ext uri="{FF2B5EF4-FFF2-40B4-BE49-F238E27FC236}">
                <a16:creationId xmlns:a16="http://schemas.microsoft.com/office/drawing/2014/main" id="{5353075F-F91B-1535-5C8A-A6A35BCBC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7088" y="2051050"/>
            <a:ext cx="1331912" cy="198438"/>
          </a:xfrm>
          <a:prstGeom prst="line">
            <a:avLst/>
          </a:prstGeom>
          <a:noFill/>
          <a:ln w="57150">
            <a:solidFill>
              <a:schemeClr val="hlink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1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1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1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11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11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1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1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1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4" dur="500"/>
                                        <p:tgtEl>
                                          <p:spTgt spid="119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11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11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1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5" dur="500"/>
                                        <p:tgtEl>
                                          <p:spTgt spid="1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22" grpId="0" animBg="1"/>
      <p:bldP spid="119823" grpId="0" animBg="1"/>
      <p:bldP spid="119824" grpId="0" animBg="1"/>
      <p:bldP spid="119825" grpId="0" animBg="1"/>
      <p:bldP spid="119826" grpId="0" animBg="1"/>
      <p:bldP spid="119836" grpId="0"/>
      <p:bldP spid="119837" grpId="0"/>
      <p:bldP spid="119838" grpId="0"/>
      <p:bldP spid="119839" grpId="0"/>
      <p:bldP spid="119840" grpId="0"/>
      <p:bldP spid="119841" grpId="0"/>
      <p:bldP spid="119842" grpId="0"/>
      <p:bldP spid="1198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WordArt 2">
            <a:extLst>
              <a:ext uri="{FF2B5EF4-FFF2-40B4-BE49-F238E27FC236}">
                <a16:creationId xmlns:a16="http://schemas.microsoft.com/office/drawing/2014/main" id="{256CBB86-5CD5-52B8-5815-DCAB0D9571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53395" y="771526"/>
            <a:ext cx="2958307" cy="171846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600" b="1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latin typeface="宋体"/>
                <a:ea typeface="宋体"/>
              </a:rPr>
              <a:t>三</a:t>
            </a:r>
            <a:r>
              <a:rPr lang="en-US" altLang="zh-CN" sz="3600" b="1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latin typeface="宋体"/>
                <a:ea typeface="宋体"/>
              </a:rPr>
              <a:t>.</a:t>
            </a:r>
            <a:r>
              <a:rPr lang="zh-CN" altLang="en-US" sz="3600" b="1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latin typeface="宋体"/>
                <a:ea typeface="宋体"/>
              </a:rPr>
              <a:t>编译程序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600" b="1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latin typeface="宋体"/>
                <a:ea typeface="宋体"/>
              </a:rPr>
              <a:t>    的结构</a:t>
            </a:r>
            <a:endParaRPr lang="en-US" sz="3600" b="1" kern="10" dirty="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000"/>
                </a:srgbClr>
              </a:solidFill>
              <a:latin typeface="宋体"/>
              <a:ea typeface="宋体"/>
            </a:endParaRPr>
          </a:p>
        </p:txBody>
      </p:sp>
      <p:sp>
        <p:nvSpPr>
          <p:cNvPr id="37891" name="Rectangle 9">
            <a:extLst>
              <a:ext uri="{FF2B5EF4-FFF2-40B4-BE49-F238E27FC236}">
                <a16:creationId xmlns:a16="http://schemas.microsoft.com/office/drawing/2014/main" id="{68B9BF9D-B7DB-E3DA-0E8D-4D64DC19B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1" y="3541713"/>
            <a:ext cx="2792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800" b="1">
                <a:solidFill>
                  <a:srgbClr val="003399"/>
                </a:solidFill>
                <a:latin typeface="楷体_GB2312"/>
                <a:ea typeface="楷体_GB2312"/>
              </a:rPr>
              <a:t>1.</a:t>
            </a:r>
            <a:r>
              <a:rPr lang="zh-CN" altLang="en-US" sz="2800" b="1">
                <a:solidFill>
                  <a:srgbClr val="003399"/>
                </a:solidFill>
                <a:latin typeface="楷体_GB2312"/>
                <a:ea typeface="楷体_GB2312"/>
              </a:rPr>
              <a:t>编译程序总框</a:t>
            </a:r>
          </a:p>
        </p:txBody>
      </p:sp>
      <p:sp>
        <p:nvSpPr>
          <p:cNvPr id="142351" name="Rectangle 15">
            <a:extLst>
              <a:ext uri="{FF2B5EF4-FFF2-40B4-BE49-F238E27FC236}">
                <a16:creationId xmlns:a16="http://schemas.microsoft.com/office/drawing/2014/main" id="{37AC5306-4C21-F06C-5E62-D7DB9D641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463" y="771526"/>
            <a:ext cx="692150" cy="527367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en-US" altLang="zh-CN" sz="4000" b="1">
              <a:solidFill>
                <a:srgbClr val="000000"/>
              </a:solidFill>
              <a:latin typeface="楷体_GB2312"/>
              <a:ea typeface="楷体_GB231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表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格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管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理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zh-CN" altLang="en-US" sz="4000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142352" name="Rectangle 16">
            <a:extLst>
              <a:ext uri="{FF2B5EF4-FFF2-40B4-BE49-F238E27FC236}">
                <a16:creationId xmlns:a16="http://schemas.microsoft.com/office/drawing/2014/main" id="{184ACF12-AF83-14C9-75DC-8D2A79969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222" y="907584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词法分析</a:t>
            </a:r>
          </a:p>
        </p:txBody>
      </p:sp>
      <p:sp>
        <p:nvSpPr>
          <p:cNvPr id="142353" name="Rectangle 17">
            <a:extLst>
              <a:ext uri="{FF2B5EF4-FFF2-40B4-BE49-F238E27FC236}">
                <a16:creationId xmlns:a16="http://schemas.microsoft.com/office/drawing/2014/main" id="{4B6B5553-8021-D863-E31B-D1E8F3A1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1460" y="1963271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语法分析</a:t>
            </a:r>
          </a:p>
        </p:txBody>
      </p:sp>
      <p:sp>
        <p:nvSpPr>
          <p:cNvPr id="142354" name="Rectangle 18">
            <a:extLst>
              <a:ext uri="{FF2B5EF4-FFF2-40B4-BE49-F238E27FC236}">
                <a16:creationId xmlns:a16="http://schemas.microsoft.com/office/drawing/2014/main" id="{6BECBBFD-CD6B-A38A-EB9A-B325697A2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437" y="3074521"/>
            <a:ext cx="2339102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中间代码生成</a:t>
            </a:r>
          </a:p>
        </p:txBody>
      </p:sp>
      <p:sp>
        <p:nvSpPr>
          <p:cNvPr id="142355" name="Rectangle 19">
            <a:extLst>
              <a:ext uri="{FF2B5EF4-FFF2-40B4-BE49-F238E27FC236}">
                <a16:creationId xmlns:a16="http://schemas.microsoft.com/office/drawing/2014/main" id="{B808B983-8BE4-BDF4-298B-AFB19C94F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510" y="4201646"/>
            <a:ext cx="1620957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代码优化</a:t>
            </a:r>
          </a:p>
        </p:txBody>
      </p:sp>
      <p:sp>
        <p:nvSpPr>
          <p:cNvPr id="142356" name="Rectangle 20">
            <a:extLst>
              <a:ext uri="{FF2B5EF4-FFF2-40B4-BE49-F238E27FC236}">
                <a16:creationId xmlns:a16="http://schemas.microsoft.com/office/drawing/2014/main" id="{903269A6-B28D-AE64-282C-0D43D3CB1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374" y="5392271"/>
            <a:ext cx="2339102" cy="523220"/>
          </a:xfrm>
          <a:prstGeom prst="rect">
            <a:avLst/>
          </a:prstGeom>
          <a:solidFill>
            <a:srgbClr val="0066FF"/>
          </a:solidFill>
          <a:ln w="5715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b="1">
                <a:solidFill>
                  <a:srgbClr val="FFFFFF"/>
                </a:solidFill>
                <a:latin typeface="楷体_GB2312"/>
                <a:ea typeface="楷体_GB2312"/>
              </a:rPr>
              <a:t>目标代码生成</a:t>
            </a:r>
          </a:p>
        </p:txBody>
      </p:sp>
      <p:sp>
        <p:nvSpPr>
          <p:cNvPr id="142365" name="Rectangle 29">
            <a:extLst>
              <a:ext uri="{FF2B5EF4-FFF2-40B4-BE49-F238E27FC236}">
                <a16:creationId xmlns:a16="http://schemas.microsoft.com/office/drawing/2014/main" id="{410E18EB-4515-5392-C109-A8D9F0EB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413" y="37623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源程序</a:t>
            </a:r>
          </a:p>
        </p:txBody>
      </p:sp>
      <p:sp>
        <p:nvSpPr>
          <p:cNvPr id="142366" name="Rectangle 30">
            <a:extLst>
              <a:ext uri="{FF2B5EF4-FFF2-40B4-BE49-F238E27FC236}">
                <a16:creationId xmlns:a16="http://schemas.microsoft.com/office/drawing/2014/main" id="{3066DF20-ADD9-CF69-0763-A5E5123A7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0" y="147002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单词符号</a:t>
            </a:r>
          </a:p>
        </p:txBody>
      </p:sp>
      <p:sp>
        <p:nvSpPr>
          <p:cNvPr id="142367" name="Rectangle 31">
            <a:extLst>
              <a:ext uri="{FF2B5EF4-FFF2-40B4-BE49-F238E27FC236}">
                <a16:creationId xmlns:a16="http://schemas.microsoft.com/office/drawing/2014/main" id="{9B65ECD1-0821-41AA-8B3A-67DB501B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00" y="367506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42368" name="Rectangle 32">
            <a:extLst>
              <a:ext uri="{FF2B5EF4-FFF2-40B4-BE49-F238E27FC236}">
                <a16:creationId xmlns:a16="http://schemas.microsoft.com/office/drawing/2014/main" id="{D821EADB-82CC-D0CC-DC1C-2C86793E2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025" y="25654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语法单位</a:t>
            </a:r>
          </a:p>
        </p:txBody>
      </p:sp>
      <p:sp>
        <p:nvSpPr>
          <p:cNvPr id="142369" name="Rectangle 33">
            <a:extLst>
              <a:ext uri="{FF2B5EF4-FFF2-40B4-BE49-F238E27FC236}">
                <a16:creationId xmlns:a16="http://schemas.microsoft.com/office/drawing/2014/main" id="{1FCA052A-2303-44FB-0A0A-1B5B9817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063" y="600868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目标代码</a:t>
            </a:r>
          </a:p>
        </p:txBody>
      </p:sp>
      <p:sp>
        <p:nvSpPr>
          <p:cNvPr id="142383" name="Rectangle 47">
            <a:extLst>
              <a:ext uri="{FF2B5EF4-FFF2-40B4-BE49-F238E27FC236}">
                <a16:creationId xmlns:a16="http://schemas.microsoft.com/office/drawing/2014/main" id="{E782871B-2207-DD98-ADD4-5CC5A3335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725" y="482758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b="1">
                <a:solidFill>
                  <a:srgbClr val="FF0000"/>
                </a:solidFill>
                <a:latin typeface="楷体_GB2312"/>
                <a:ea typeface="楷体_GB2312"/>
              </a:rPr>
              <a:t>中间代码</a:t>
            </a:r>
          </a:p>
        </p:txBody>
      </p:sp>
      <p:sp>
        <p:nvSpPr>
          <p:cNvPr id="142384" name="Rectangle 48">
            <a:extLst>
              <a:ext uri="{FF2B5EF4-FFF2-40B4-BE49-F238E27FC236}">
                <a16:creationId xmlns:a16="http://schemas.microsoft.com/office/drawing/2014/main" id="{7E4955B4-600B-0C7A-7A49-C06F392B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8838" y="793751"/>
            <a:ext cx="692150" cy="527367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en-US" altLang="zh-CN" sz="4000" b="1">
              <a:solidFill>
                <a:srgbClr val="000000"/>
              </a:solidFill>
              <a:latin typeface="楷体_GB2312"/>
              <a:ea typeface="楷体_GB231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出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错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处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000" b="1">
                <a:solidFill>
                  <a:srgbClr val="000000"/>
                </a:solidFill>
                <a:latin typeface="楷体_GB2312"/>
                <a:ea typeface="楷体_GB2312"/>
              </a:rPr>
              <a:t>理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endParaRPr lang="zh-CN" altLang="en-US" sz="4000" b="1">
              <a:solidFill>
                <a:srgbClr val="000000"/>
              </a:solidFill>
              <a:latin typeface="楷体_GB2312"/>
              <a:ea typeface="楷体_GB2312"/>
            </a:endParaRPr>
          </a:p>
        </p:txBody>
      </p:sp>
      <p:sp>
        <p:nvSpPr>
          <p:cNvPr id="142385" name="Line 49">
            <a:extLst>
              <a:ext uri="{FF2B5EF4-FFF2-40B4-BE49-F238E27FC236}">
                <a16:creationId xmlns:a16="http://schemas.microsoft.com/office/drawing/2014/main" id="{BBBF314D-AA14-AB1E-875F-CFA6F84FAD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388" y="1112838"/>
            <a:ext cx="735012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86" name="Line 50">
            <a:extLst>
              <a:ext uri="{FF2B5EF4-FFF2-40B4-BE49-F238E27FC236}">
                <a16:creationId xmlns:a16="http://schemas.microsoft.com/office/drawing/2014/main" id="{FC669FEA-E339-DFC0-6A4A-846102B235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96026" y="5645150"/>
            <a:ext cx="5175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87" name="Line 51">
            <a:extLst>
              <a:ext uri="{FF2B5EF4-FFF2-40B4-BE49-F238E27FC236}">
                <a16:creationId xmlns:a16="http://schemas.microsoft.com/office/drawing/2014/main" id="{BF84E919-1BCD-6437-60D2-6C78BA6160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75388" y="3360738"/>
            <a:ext cx="417512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88" name="Line 52">
            <a:extLst>
              <a:ext uri="{FF2B5EF4-FFF2-40B4-BE49-F238E27FC236}">
                <a16:creationId xmlns:a16="http://schemas.microsoft.com/office/drawing/2014/main" id="{A07EC90C-ED07-1A2A-2C53-E62E607043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6976" y="4452938"/>
            <a:ext cx="73501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89" name="Line 53">
            <a:extLst>
              <a:ext uri="{FF2B5EF4-FFF2-40B4-BE49-F238E27FC236}">
                <a16:creationId xmlns:a16="http://schemas.microsoft.com/office/drawing/2014/main" id="{4228A990-F922-5EE3-EBFC-5F591058BD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388" y="2211388"/>
            <a:ext cx="735012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0" name="Line 54">
            <a:extLst>
              <a:ext uri="{FF2B5EF4-FFF2-40B4-BE49-F238E27FC236}">
                <a16:creationId xmlns:a16="http://schemas.microsoft.com/office/drawing/2014/main" id="{72E268AC-87F2-1CA2-5872-53266E4E1B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0139" y="1133475"/>
            <a:ext cx="992187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1" name="Line 55">
            <a:extLst>
              <a:ext uri="{FF2B5EF4-FFF2-40B4-BE49-F238E27FC236}">
                <a16:creationId xmlns:a16="http://schemas.microsoft.com/office/drawing/2014/main" id="{D896CBBE-9821-3317-74A3-112CE8B984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37663" y="5627688"/>
            <a:ext cx="493712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2" name="Line 56">
            <a:extLst>
              <a:ext uri="{FF2B5EF4-FFF2-40B4-BE49-F238E27FC236}">
                <a16:creationId xmlns:a16="http://schemas.microsoft.com/office/drawing/2014/main" id="{EEDE2BB4-C96F-FF62-753E-3931220C74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99551" y="3321050"/>
            <a:ext cx="593725" cy="2063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3" name="Line 57">
            <a:extLst>
              <a:ext uri="{FF2B5EF4-FFF2-40B4-BE49-F238E27FC236}">
                <a16:creationId xmlns:a16="http://schemas.microsoft.com/office/drawing/2014/main" id="{3081E9B6-857A-9BC7-17FD-36981F0EF0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40775" y="4435475"/>
            <a:ext cx="99218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4" name="Line 58">
            <a:extLst>
              <a:ext uri="{FF2B5EF4-FFF2-40B4-BE49-F238E27FC236}">
                <a16:creationId xmlns:a16="http://schemas.microsoft.com/office/drawing/2014/main" id="{36655F70-956D-88CE-814C-525200C3AD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40775" y="2189163"/>
            <a:ext cx="99218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5" name="Line 59">
            <a:extLst>
              <a:ext uri="{FF2B5EF4-FFF2-40B4-BE49-F238E27FC236}">
                <a16:creationId xmlns:a16="http://schemas.microsoft.com/office/drawing/2014/main" id="{036A267A-8922-F396-7666-A3BFC55B2E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5738" y="436563"/>
            <a:ext cx="19050" cy="4572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6" name="Line 60">
            <a:extLst>
              <a:ext uri="{FF2B5EF4-FFF2-40B4-BE49-F238E27FC236}">
                <a16:creationId xmlns:a16="http://schemas.microsoft.com/office/drawing/2014/main" id="{C7602E9B-DF22-2FC0-9D9D-8895328A4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5425" y="1490663"/>
            <a:ext cx="19050" cy="417512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7" name="Line 61">
            <a:extLst>
              <a:ext uri="{FF2B5EF4-FFF2-40B4-BE49-F238E27FC236}">
                <a16:creationId xmlns:a16="http://schemas.microsoft.com/office/drawing/2014/main" id="{4DDC870C-796A-FF18-D5C7-57B2BB8AD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4475" y="2544763"/>
            <a:ext cx="20638" cy="47625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8" name="Line 62">
            <a:extLst>
              <a:ext uri="{FF2B5EF4-FFF2-40B4-BE49-F238E27FC236}">
                <a16:creationId xmlns:a16="http://schemas.microsoft.com/office/drawing/2014/main" id="{213BA66D-BEEE-3D8C-CB99-AC8801E317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5113" y="3657601"/>
            <a:ext cx="19050" cy="51752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399" name="Line 63">
            <a:extLst>
              <a:ext uri="{FF2B5EF4-FFF2-40B4-BE49-F238E27FC236}">
                <a16:creationId xmlns:a16="http://schemas.microsoft.com/office/drawing/2014/main" id="{290D8000-4A4A-E462-BF6B-0660DDF8A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6700" y="4751389"/>
            <a:ext cx="19050" cy="55562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142400" name="Line 64">
            <a:extLst>
              <a:ext uri="{FF2B5EF4-FFF2-40B4-BE49-F238E27FC236}">
                <a16:creationId xmlns:a16="http://schemas.microsoft.com/office/drawing/2014/main" id="{E874A161-7C51-FEDB-5993-90AB05929F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62888" y="5943600"/>
            <a:ext cx="0" cy="62388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9" dur="5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7" dur="5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4" dur="5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7" dur="5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0" dur="5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51" grpId="0" animBg="1"/>
      <p:bldP spid="142352" grpId="0" animBg="1"/>
      <p:bldP spid="142353" grpId="0" animBg="1"/>
      <p:bldP spid="142354" grpId="0" animBg="1"/>
      <p:bldP spid="142355" grpId="0" animBg="1"/>
      <p:bldP spid="142356" grpId="0" animBg="1"/>
      <p:bldP spid="142365" grpId="0"/>
      <p:bldP spid="142366" grpId="0"/>
      <p:bldP spid="142367" grpId="0"/>
      <p:bldP spid="142368" grpId="0"/>
      <p:bldP spid="142369" grpId="0"/>
      <p:bldP spid="142383" grpId="0"/>
      <p:bldP spid="14238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A14BCCC-3B1E-AF53-7FAF-B0A5ABE929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825625" y="-304800"/>
            <a:ext cx="8540750" cy="1143000"/>
          </a:xfrm>
        </p:spPr>
        <p:txBody>
          <a:bodyPr/>
          <a:lstStyle/>
          <a:p>
            <a:pPr algn="l"/>
            <a:r>
              <a:rPr lang="zh-CN" altLang="en-US" sz="3600" b="1"/>
              <a:t>分析 </a:t>
            </a:r>
            <a:r>
              <a:rPr lang="en-US" altLang="zh-CN" sz="3600" b="1"/>
              <a:t>a:int</a:t>
            </a: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273AE7F1-F870-2474-F0FC-B3C92D164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32464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endParaRPr lang="zh-CN" altLang="en-US" sz="2800">
              <a:solidFill>
                <a:srgbClr val="007A77"/>
              </a:solidFill>
              <a:ea typeface="楷体_GB2312"/>
            </a:endParaRPr>
          </a:p>
        </p:txBody>
      </p:sp>
      <p:sp>
        <p:nvSpPr>
          <p:cNvPr id="39940" name="Rectangle 5">
            <a:extLst>
              <a:ext uri="{FF2B5EF4-FFF2-40B4-BE49-F238E27FC236}">
                <a16:creationId xmlns:a16="http://schemas.microsoft.com/office/drawing/2014/main" id="{E60147AD-00F4-2290-9ACB-A41D58616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246438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endParaRPr lang="zh-CN" altLang="en-US" sz="2800">
              <a:solidFill>
                <a:srgbClr val="007A77"/>
              </a:solidFill>
              <a:ea typeface="楷体_GB2312"/>
            </a:endParaRPr>
          </a:p>
        </p:txBody>
      </p:sp>
      <p:sp>
        <p:nvSpPr>
          <p:cNvPr id="39941" name="Rectangle 7">
            <a:extLst>
              <a:ext uri="{FF2B5EF4-FFF2-40B4-BE49-F238E27FC236}">
                <a16:creationId xmlns:a16="http://schemas.microsoft.com/office/drawing/2014/main" id="{C0458CA7-C189-255E-8270-F3B2DEB3C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32464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endParaRPr lang="zh-CN" altLang="en-US" sz="2800">
              <a:solidFill>
                <a:srgbClr val="007A77"/>
              </a:solidFill>
              <a:ea typeface="楷体_GB2312"/>
            </a:endParaRPr>
          </a:p>
        </p:txBody>
      </p:sp>
      <p:sp>
        <p:nvSpPr>
          <p:cNvPr id="39942" name="Rectangle 8">
            <a:extLst>
              <a:ext uri="{FF2B5EF4-FFF2-40B4-BE49-F238E27FC236}">
                <a16:creationId xmlns:a16="http://schemas.microsoft.com/office/drawing/2014/main" id="{2CCCF1CB-8B9A-A39D-A967-83944305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246438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endParaRPr lang="zh-CN" altLang="en-US" sz="2800">
              <a:solidFill>
                <a:srgbClr val="007A77"/>
              </a:solidFill>
              <a:ea typeface="楷体_GB2312"/>
            </a:endParaRPr>
          </a:p>
        </p:txBody>
      </p:sp>
      <p:sp>
        <p:nvSpPr>
          <p:cNvPr id="39943" name="Text Box 10">
            <a:extLst>
              <a:ext uri="{FF2B5EF4-FFF2-40B4-BE49-F238E27FC236}">
                <a16:creationId xmlns:a16="http://schemas.microsoft.com/office/drawing/2014/main" id="{2229E35A-727B-FA46-4C5F-1779CC95E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19113"/>
            <a:ext cx="876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步骤	符号		输入串	语义动作</a:t>
            </a:r>
          </a:p>
        </p:txBody>
      </p:sp>
      <p:sp>
        <p:nvSpPr>
          <p:cNvPr id="39944" name="Text Box 11">
            <a:extLst>
              <a:ext uri="{FF2B5EF4-FFF2-40B4-BE49-F238E27FC236}">
                <a16:creationId xmlns:a16="http://schemas.microsoft.com/office/drawing/2014/main" id="{04DC0DBC-FA00-E470-C450-90C8C000C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922338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1	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                   </a:t>
            </a:r>
            <a:r>
              <a:rPr lang="en-US" altLang="en-US" sz="2400" b="1">
                <a:solidFill>
                  <a:srgbClr val="000808"/>
                </a:solidFill>
                <a:ea typeface="楷体_GB2312"/>
              </a:rPr>
              <a:t>a:</a:t>
            </a:r>
            <a:r>
              <a:rPr lang="en-US" altLang="zh-CN" sz="2400" b="1">
                <a:solidFill>
                  <a:srgbClr val="000808"/>
                </a:solidFill>
                <a:ea typeface="楷体_GB2312"/>
              </a:rPr>
              <a:t>int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#		</a:t>
            </a:r>
          </a:p>
        </p:txBody>
      </p:sp>
      <p:sp>
        <p:nvSpPr>
          <p:cNvPr id="299020" name="Text Box 12">
            <a:extLst>
              <a:ext uri="{FF2B5EF4-FFF2-40B4-BE49-F238E27FC236}">
                <a16:creationId xmlns:a16="http://schemas.microsoft.com/office/drawing/2014/main" id="{C6501BAB-35AF-DE99-51F5-BFBAD91DA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1357313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2	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a	             :int#		 </a:t>
            </a:r>
          </a:p>
        </p:txBody>
      </p:sp>
      <p:sp>
        <p:nvSpPr>
          <p:cNvPr id="299023" name="Text Box 15">
            <a:extLst>
              <a:ext uri="{FF2B5EF4-FFF2-40B4-BE49-F238E27FC236}">
                <a16:creationId xmlns:a16="http://schemas.microsoft.com/office/drawing/2014/main" id="{C0F7DA5D-3FB9-5BF8-1662-B5F5E15C2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2500314"/>
            <a:ext cx="8610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5    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a : T                   #      {T.type:=int;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                                              T.width:=4}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   </a:t>
            </a:r>
          </a:p>
        </p:txBody>
      </p:sp>
      <p:sp>
        <p:nvSpPr>
          <p:cNvPr id="299024" name="Text Box 16">
            <a:extLst>
              <a:ext uri="{FF2B5EF4-FFF2-40B4-BE49-F238E27FC236}">
                <a16:creationId xmlns:a16="http://schemas.microsoft.com/office/drawing/2014/main" id="{5A140176-B29E-8D5C-C22F-DC146B2A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490913"/>
            <a:ext cx="8610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5	 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D                        #     {enter(“a”,int , 0);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                                                  offset:=4}</a:t>
            </a:r>
          </a:p>
        </p:txBody>
      </p:sp>
      <p:sp>
        <p:nvSpPr>
          <p:cNvPr id="299026" name="Text Box 18">
            <a:extLst>
              <a:ext uri="{FF2B5EF4-FFF2-40B4-BE49-F238E27FC236}">
                <a16:creationId xmlns:a16="http://schemas.microsoft.com/office/drawing/2014/main" id="{DC4671C1-40EA-F280-AFB1-E3F84337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38313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3	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a : 	               int#		 </a:t>
            </a:r>
          </a:p>
        </p:txBody>
      </p:sp>
      <p:sp>
        <p:nvSpPr>
          <p:cNvPr id="299027" name="Text Box 19">
            <a:extLst>
              <a:ext uri="{FF2B5EF4-FFF2-40B4-BE49-F238E27FC236}">
                <a16:creationId xmlns:a16="http://schemas.microsoft.com/office/drawing/2014/main" id="{93765EE7-BDF5-91D9-4ABE-D170A189E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119313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      4	</a:t>
            </a:r>
            <a:r>
              <a:rPr kumimoji="1" lang="zh-CN" altLang="en-US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＃</a:t>
            </a:r>
            <a:r>
              <a:rPr kumimoji="1" lang="en-US" altLang="zh-CN" sz="2400" b="1">
                <a:solidFill>
                  <a:srgbClr val="000808"/>
                </a:solidFill>
                <a:latin typeface="Times New Roman" panose="02020603050405020304" pitchFamily="18" charset="0"/>
                <a:ea typeface="楷体_GB2312"/>
              </a:rPr>
              <a:t>a : int	       #		 </a:t>
            </a:r>
          </a:p>
        </p:txBody>
      </p:sp>
      <p:graphicFrame>
        <p:nvGraphicFramePr>
          <p:cNvPr id="299066" name="Group 58">
            <a:extLst>
              <a:ext uri="{FF2B5EF4-FFF2-40B4-BE49-F238E27FC236}">
                <a16:creationId xmlns:a16="http://schemas.microsoft.com/office/drawing/2014/main" id="{3D3941F2-6935-4287-2F74-0CD136FDC1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8800" y="4800601"/>
          <a:ext cx="8540750" cy="1984377"/>
        </p:xfrm>
        <a:graphic>
          <a:graphicData uri="http://schemas.openxmlformats.org/drawingml/2006/table">
            <a:tbl>
              <a:tblPr/>
              <a:tblGrid>
                <a:gridCol w="312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产生式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语义规则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P-&gt;D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{offset:=0}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9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D-&gt;id:T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{enter(id.name,T.type,offset);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 offset:=offset+T.width}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T-&gt;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int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  <a:ea typeface="黑体" pitchFamily="49" charset="-122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{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T.type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:=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;             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T.width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:=4}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9967" name="Group 68">
            <a:extLst>
              <a:ext uri="{FF2B5EF4-FFF2-40B4-BE49-F238E27FC236}">
                <a16:creationId xmlns:a16="http://schemas.microsoft.com/office/drawing/2014/main" id="{27630EE2-1219-5B38-2648-CDC62ED4B1D9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381000"/>
            <a:ext cx="685800" cy="2057400"/>
            <a:chOff x="4320" y="240"/>
            <a:chExt cx="432" cy="1296"/>
          </a:xfrm>
        </p:grpSpPr>
        <p:sp>
          <p:nvSpPr>
            <p:cNvPr id="39992" name="Line 59">
              <a:extLst>
                <a:ext uri="{FF2B5EF4-FFF2-40B4-BE49-F238E27FC236}">
                  <a16:creationId xmlns:a16="http://schemas.microsoft.com/office/drawing/2014/main" id="{5A61AF41-75AC-ABA3-C7EE-74BB7B06C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0"/>
              <a:ext cx="0" cy="1296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3" name="Line 60">
              <a:extLst>
                <a:ext uri="{FF2B5EF4-FFF2-40B4-BE49-F238E27FC236}">
                  <a16:creationId xmlns:a16="http://schemas.microsoft.com/office/drawing/2014/main" id="{B546EEA2-1CDC-4CCA-7000-2252F22DC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40"/>
              <a:ext cx="0" cy="1296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4" name="Line 61">
              <a:extLst>
                <a:ext uri="{FF2B5EF4-FFF2-40B4-BE49-F238E27FC236}">
                  <a16:creationId xmlns:a16="http://schemas.microsoft.com/office/drawing/2014/main" id="{F2DCAB7C-1991-29E1-4AD3-659338150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0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5" name="Line 62">
              <a:extLst>
                <a:ext uri="{FF2B5EF4-FFF2-40B4-BE49-F238E27FC236}">
                  <a16:creationId xmlns:a16="http://schemas.microsoft.com/office/drawing/2014/main" id="{DC984E39-8496-C2A2-FEF0-2B745E847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84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6" name="Line 63">
              <a:extLst>
                <a:ext uri="{FF2B5EF4-FFF2-40B4-BE49-F238E27FC236}">
                  <a16:creationId xmlns:a16="http://schemas.microsoft.com/office/drawing/2014/main" id="{BF1DBA5E-810C-4B14-929B-B9A1CD18C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528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7" name="Line 64">
              <a:extLst>
                <a:ext uri="{FF2B5EF4-FFF2-40B4-BE49-F238E27FC236}">
                  <a16:creationId xmlns:a16="http://schemas.microsoft.com/office/drawing/2014/main" id="{28F69F2F-959B-37BB-28F4-CC5E3E057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672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8" name="Line 65">
              <a:extLst>
                <a:ext uri="{FF2B5EF4-FFF2-40B4-BE49-F238E27FC236}">
                  <a16:creationId xmlns:a16="http://schemas.microsoft.com/office/drawing/2014/main" id="{41633AD9-2704-305A-3330-CAF4B3BF4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816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99" name="Line 66">
              <a:extLst>
                <a:ext uri="{FF2B5EF4-FFF2-40B4-BE49-F238E27FC236}">
                  <a16:creationId xmlns:a16="http://schemas.microsoft.com/office/drawing/2014/main" id="{7F5B5065-8430-1378-0717-71D527641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960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40000" name="Line 67">
              <a:extLst>
                <a:ext uri="{FF2B5EF4-FFF2-40B4-BE49-F238E27FC236}">
                  <a16:creationId xmlns:a16="http://schemas.microsoft.com/office/drawing/2014/main" id="{45CF2BB5-7BF3-4A2E-F650-27D175A3E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104"/>
              <a:ext cx="432" cy="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</p:grpSp>
      <p:sp>
        <p:nvSpPr>
          <p:cNvPr id="299077" name="Line 69">
            <a:extLst>
              <a:ext uri="{FF2B5EF4-FFF2-40B4-BE49-F238E27FC236}">
                <a16:creationId xmlns:a16="http://schemas.microsoft.com/office/drawing/2014/main" id="{68383AAD-795C-E2E3-CE53-D16613601A0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9039225" y="395288"/>
            <a:ext cx="609600" cy="0"/>
          </a:xfrm>
          <a:prstGeom prst="line">
            <a:avLst/>
          </a:prstGeom>
          <a:noFill/>
          <a:ln w="57150">
            <a:solidFill>
              <a:srgbClr val="00080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grpSp>
        <p:nvGrpSpPr>
          <p:cNvPr id="39969" name="Group 88">
            <a:extLst>
              <a:ext uri="{FF2B5EF4-FFF2-40B4-BE49-F238E27FC236}">
                <a16:creationId xmlns:a16="http://schemas.microsoft.com/office/drawing/2014/main" id="{0E4F1E8A-F7C7-2145-FA3B-9E303316F373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2819400"/>
            <a:ext cx="2057400" cy="1981200"/>
            <a:chOff x="4464" y="1776"/>
            <a:chExt cx="1296" cy="1248"/>
          </a:xfrm>
        </p:grpSpPr>
        <p:grpSp>
          <p:nvGrpSpPr>
            <p:cNvPr id="39980" name="Group 80">
              <a:extLst>
                <a:ext uri="{FF2B5EF4-FFF2-40B4-BE49-F238E27FC236}">
                  <a16:creationId xmlns:a16="http://schemas.microsoft.com/office/drawing/2014/main" id="{8233F4CA-76B9-4605-F558-AA450BC0BA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776"/>
              <a:ext cx="1296" cy="1216"/>
              <a:chOff x="4080" y="1760"/>
              <a:chExt cx="1680" cy="1216"/>
            </a:xfrm>
          </p:grpSpPr>
          <p:sp>
            <p:nvSpPr>
              <p:cNvPr id="39985" name="Line 71">
                <a:extLst>
                  <a:ext uri="{FF2B5EF4-FFF2-40B4-BE49-F238E27FC236}">
                    <a16:creationId xmlns:a16="http://schemas.microsoft.com/office/drawing/2014/main" id="{61DF0B08-A586-888F-B3ED-FA4DBBF1F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760"/>
                <a:ext cx="0" cy="120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86" name="Line 72">
                <a:extLst>
                  <a:ext uri="{FF2B5EF4-FFF2-40B4-BE49-F238E27FC236}">
                    <a16:creationId xmlns:a16="http://schemas.microsoft.com/office/drawing/2014/main" id="{31EDE2C5-8A18-03BF-ED4B-9787D53C3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0" y="1760"/>
                <a:ext cx="0" cy="120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87" name="Line 73">
                <a:extLst>
                  <a:ext uri="{FF2B5EF4-FFF2-40B4-BE49-F238E27FC236}">
                    <a16:creationId xmlns:a16="http://schemas.microsoft.com/office/drawing/2014/main" id="{8F9183E4-6B89-77A7-2E6E-F73E85660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760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88" name="Line 74">
                <a:extLst>
                  <a:ext uri="{FF2B5EF4-FFF2-40B4-BE49-F238E27FC236}">
                    <a16:creationId xmlns:a16="http://schemas.microsoft.com/office/drawing/2014/main" id="{9D31315C-0060-0F6B-3D1C-B7C84F04C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064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89" name="Line 75">
                <a:extLst>
                  <a:ext uri="{FF2B5EF4-FFF2-40B4-BE49-F238E27FC236}">
                    <a16:creationId xmlns:a16="http://schemas.microsoft.com/office/drawing/2014/main" id="{7BB7FD2E-3165-A1CB-AD9F-E81C9B917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368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90" name="Line 76">
                <a:extLst>
                  <a:ext uri="{FF2B5EF4-FFF2-40B4-BE49-F238E27FC236}">
                    <a16:creationId xmlns:a16="http://schemas.microsoft.com/office/drawing/2014/main" id="{3DA8C3B6-955B-DE56-4F77-EF6F53A52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672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  <p:sp>
            <p:nvSpPr>
              <p:cNvPr id="39991" name="Line 77">
                <a:extLst>
                  <a:ext uri="{FF2B5EF4-FFF2-40B4-BE49-F238E27FC236}">
                    <a16:creationId xmlns:a16="http://schemas.microsoft.com/office/drawing/2014/main" id="{6FEE5067-D9AD-65BF-F36F-7273C9A21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976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80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800" b="1">
                  <a:solidFill>
                    <a:srgbClr val="FF0000"/>
                  </a:solidFill>
                  <a:latin typeface="楷体_GB2312"/>
                </a:endParaRPr>
              </a:p>
            </p:txBody>
          </p:sp>
        </p:grpSp>
        <p:sp>
          <p:nvSpPr>
            <p:cNvPr id="39981" name="Text Box 81">
              <a:extLst>
                <a:ext uri="{FF2B5EF4-FFF2-40B4-BE49-F238E27FC236}">
                  <a16:creationId xmlns:a16="http://schemas.microsoft.com/office/drawing/2014/main" id="{29D0071A-FF9C-402B-5DC1-025AC374C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776"/>
              <a:ext cx="10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742950" indent="-28575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Aft>
                  <a:spcPct val="0"/>
                </a:spcAft>
                <a:buClr>
                  <a:srgbClr val="3366FF"/>
                </a:buClr>
                <a:buSzPct val="85000"/>
                <a:buNone/>
              </a:pPr>
              <a:r>
                <a:rPr lang="zh-CN" altLang="en-US" sz="2800" b="1">
                  <a:solidFill>
                    <a:srgbClr val="007A77"/>
                  </a:solidFill>
                  <a:ea typeface="楷体_GB2312"/>
                </a:rPr>
                <a:t>符号表</a:t>
              </a:r>
            </a:p>
          </p:txBody>
        </p:sp>
        <p:sp>
          <p:nvSpPr>
            <p:cNvPr id="39982" name="Line 82">
              <a:extLst>
                <a:ext uri="{FF2B5EF4-FFF2-40B4-BE49-F238E27FC236}">
                  <a16:creationId xmlns:a16="http://schemas.microsoft.com/office/drawing/2014/main" id="{5BCB747C-2B80-4DB2-4EE0-3D3EF0B0F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064"/>
              <a:ext cx="0" cy="96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83" name="Line 83">
              <a:extLst>
                <a:ext uri="{FF2B5EF4-FFF2-40B4-BE49-F238E27FC236}">
                  <a16:creationId xmlns:a16="http://schemas.microsoft.com/office/drawing/2014/main" id="{A246DB37-B0B4-4C00-37A2-6D393A057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064"/>
              <a:ext cx="0" cy="96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  <p:sp>
          <p:nvSpPr>
            <p:cNvPr id="39984" name="Line 84">
              <a:extLst>
                <a:ext uri="{FF2B5EF4-FFF2-40B4-BE49-F238E27FC236}">
                  <a16:creationId xmlns:a16="http://schemas.microsoft.com/office/drawing/2014/main" id="{6085F400-D5C1-0176-B75C-CC19D51A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2064"/>
              <a:ext cx="0" cy="960"/>
            </a:xfrm>
            <a:prstGeom prst="line">
              <a:avLst/>
            </a:prstGeom>
            <a:noFill/>
            <a:ln w="9525">
              <a:solidFill>
                <a:srgbClr val="00080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>
                <a:solidFill>
                  <a:srgbClr val="FF0000"/>
                </a:solidFill>
                <a:latin typeface="楷体_GB2312"/>
              </a:endParaRPr>
            </a:p>
          </p:txBody>
        </p:sp>
      </p:grpSp>
      <p:sp>
        <p:nvSpPr>
          <p:cNvPr id="299093" name="Rectangle 85">
            <a:extLst>
              <a:ext uri="{FF2B5EF4-FFF2-40B4-BE49-F238E27FC236}">
                <a16:creationId xmlns:a16="http://schemas.microsoft.com/office/drawing/2014/main" id="{0725F877-208C-14A4-89C9-32C16B507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276601"/>
            <a:ext cx="839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a</a:t>
            </a:r>
          </a:p>
        </p:txBody>
      </p:sp>
      <p:sp>
        <p:nvSpPr>
          <p:cNvPr id="299094" name="Rectangle 86">
            <a:extLst>
              <a:ext uri="{FF2B5EF4-FFF2-40B4-BE49-F238E27FC236}">
                <a16:creationId xmlns:a16="http://schemas.microsoft.com/office/drawing/2014/main" id="{113705FF-125E-8FE0-CB79-14E973EA7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039" y="3290888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int</a:t>
            </a:r>
          </a:p>
        </p:txBody>
      </p:sp>
      <p:sp>
        <p:nvSpPr>
          <p:cNvPr id="299095" name="Rectangle 87">
            <a:extLst>
              <a:ext uri="{FF2B5EF4-FFF2-40B4-BE49-F238E27FC236}">
                <a16:creationId xmlns:a16="http://schemas.microsoft.com/office/drawing/2014/main" id="{79EECE50-08D9-8C35-DA13-53D0C8E06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6388" y="3290888"/>
            <a:ext cx="938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>
                <a:solidFill>
                  <a:srgbClr val="007A77"/>
                </a:solidFill>
                <a:ea typeface="楷体_GB2312"/>
              </a:rPr>
              <a:t> </a:t>
            </a: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0</a:t>
            </a:r>
          </a:p>
        </p:txBody>
      </p:sp>
      <p:sp>
        <p:nvSpPr>
          <p:cNvPr id="299097" name="Line 89">
            <a:extLst>
              <a:ext uri="{FF2B5EF4-FFF2-40B4-BE49-F238E27FC236}">
                <a16:creationId xmlns:a16="http://schemas.microsoft.com/office/drawing/2014/main" id="{EA7FC591-BDF0-E062-5215-06D1F918834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9067800" y="1295400"/>
            <a:ext cx="609600" cy="0"/>
          </a:xfrm>
          <a:prstGeom prst="line">
            <a:avLst/>
          </a:prstGeom>
          <a:noFill/>
          <a:ln w="57150">
            <a:solidFill>
              <a:srgbClr val="000808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 b="1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299098" name="AutoShape 90">
            <a:extLst>
              <a:ext uri="{FF2B5EF4-FFF2-40B4-BE49-F238E27FC236}">
                <a16:creationId xmlns:a16="http://schemas.microsoft.com/office/drawing/2014/main" id="{5043D295-2CB7-E9B1-0B39-6638E49EE3B5}"/>
              </a:ext>
            </a:extLst>
          </p:cNvPr>
          <p:cNvSpPr>
            <a:spLocks/>
          </p:cNvSpPr>
          <p:nvPr/>
        </p:nvSpPr>
        <p:spPr bwMode="auto">
          <a:xfrm>
            <a:off x="9067800" y="4572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rgbClr val="00080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endParaRPr lang="zh-CN" altLang="en-US" sz="2800">
              <a:solidFill>
                <a:srgbClr val="007A77"/>
              </a:solidFill>
              <a:ea typeface="楷体_GB2312"/>
            </a:endParaRPr>
          </a:p>
        </p:txBody>
      </p:sp>
      <p:sp>
        <p:nvSpPr>
          <p:cNvPr id="299099" name="Rectangle 91">
            <a:extLst>
              <a:ext uri="{FF2B5EF4-FFF2-40B4-BE49-F238E27FC236}">
                <a16:creationId xmlns:a16="http://schemas.microsoft.com/office/drawing/2014/main" id="{778FB989-B273-67D5-1787-592F9226B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75" y="609601"/>
            <a:ext cx="839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a</a:t>
            </a:r>
          </a:p>
        </p:txBody>
      </p:sp>
      <p:sp>
        <p:nvSpPr>
          <p:cNvPr id="39976" name="Text Box 92">
            <a:extLst>
              <a:ext uri="{FF2B5EF4-FFF2-40B4-BE49-F238E27FC236}">
                <a16:creationId xmlns:a16="http://schemas.microsoft.com/office/drawing/2014/main" id="{9B83747F-DED1-39D5-666D-B39BDE137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52425"/>
            <a:ext cx="788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lang="en-US" altLang="zh-CN" sz="2000">
                <a:solidFill>
                  <a:srgbClr val="007A77"/>
                </a:solidFill>
                <a:ea typeface="楷体_GB2312"/>
              </a:rPr>
              <a:t>0</a:t>
            </a:r>
          </a:p>
        </p:txBody>
      </p:sp>
      <p:sp>
        <p:nvSpPr>
          <p:cNvPr id="39977" name="Text Box 93">
            <a:extLst>
              <a:ext uri="{FF2B5EF4-FFF2-40B4-BE49-F238E27FC236}">
                <a16:creationId xmlns:a16="http://schemas.microsoft.com/office/drawing/2014/main" id="{239C05F7-8041-5B37-848C-25EECE4A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233488"/>
            <a:ext cx="788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lang="en-US" altLang="zh-CN" sz="2000">
                <a:solidFill>
                  <a:srgbClr val="007A77"/>
                </a:solidFill>
                <a:ea typeface="楷体_GB2312"/>
              </a:rPr>
              <a:t>4</a:t>
            </a:r>
          </a:p>
        </p:txBody>
      </p:sp>
      <p:sp>
        <p:nvSpPr>
          <p:cNvPr id="299102" name="Rectangle 94">
            <a:extLst>
              <a:ext uri="{FF2B5EF4-FFF2-40B4-BE49-F238E27FC236}">
                <a16:creationId xmlns:a16="http://schemas.microsoft.com/office/drawing/2014/main" id="{037B3831-550C-F597-216C-A0E2C2F08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100" y="12858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offset</a:t>
            </a:r>
          </a:p>
        </p:txBody>
      </p:sp>
      <p:sp>
        <p:nvSpPr>
          <p:cNvPr id="299103" name="Rectangle 95">
            <a:extLst>
              <a:ext uri="{FF2B5EF4-FFF2-40B4-BE49-F238E27FC236}">
                <a16:creationId xmlns:a16="http://schemas.microsoft.com/office/drawing/2014/main" id="{56CB6DF3-AEEF-8E9A-6CF6-8F0CD996D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100488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>
                <a:srgbClr val="3366FF"/>
              </a:buClr>
              <a:buSzPct val="85000"/>
              <a:buNone/>
            </a:pPr>
            <a:r>
              <a:rPr kumimoji="1" lang="en-US" altLang="zh-CN" sz="2800" b="1">
                <a:solidFill>
                  <a:srgbClr val="000808"/>
                </a:solidFill>
                <a:ea typeface="楷体_GB2312"/>
              </a:rPr>
              <a:t>offset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9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9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9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20" grpId="0" autoUpdateAnimBg="0"/>
      <p:bldP spid="299023" grpId="0" autoUpdateAnimBg="0"/>
      <p:bldP spid="299024" grpId="0" autoUpdateAnimBg="0"/>
      <p:bldP spid="299026" grpId="0" autoUpdateAnimBg="0"/>
      <p:bldP spid="299027" grpId="0" autoUpdateAnimBg="0"/>
      <p:bldP spid="299093" grpId="0"/>
      <p:bldP spid="299094" grpId="0"/>
      <p:bldP spid="299095" grpId="0"/>
      <p:bldP spid="299098" grpId="0" animBg="1"/>
      <p:bldP spid="299099" grpId="0"/>
      <p:bldP spid="299102" grpId="0"/>
      <p:bldP spid="299102" grpId="1"/>
      <p:bldP spid="29910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3F443A11-A6A6-0AC4-C10B-54B9A3E35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9146" y="480220"/>
            <a:ext cx="2144713" cy="1143000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  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14492-FB9D-A099-4F23-EB24952477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按逻辑上划分，编译程序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第三步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工作是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语义分析生成中间代码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语法分析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出错处理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D6B723-3D55-B3CF-F79E-AB79EB83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6" y="2509203"/>
            <a:ext cx="811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614FB4AC-5E4D-5A95-6178-3F406C4DA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392A9-D0C0-A640-7E6B-D6CE6189D8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通常一个编译程序中，不仅包含词法分析，语法分析，语义分析和中间代码生成，代码优化，目标代码生成等部分，还应包括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汇编器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表格处理和出错处理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模拟执行器</a:t>
            </a: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解释器</a:t>
            </a:r>
          </a:p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747462-4A7B-DD9D-8607-9D68FCE9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36" y="4002088"/>
            <a:ext cx="8112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11348B1A-D899-64B3-79E8-3590A4BDA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68C2D-8CF0-E435-46E6-035514FC1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编译程序各个阶段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都涉及到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的工作是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错误处理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语义分析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语法分析</a:t>
            </a: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E719B8-B81B-243B-B174-76AB8C50C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8" y="3013868"/>
            <a:ext cx="8112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BDBD9535-F00B-8EC5-6BBA-9EA7DC986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0E35B-D4C2-61BA-0528-05F1A7AC9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词法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分析时所依据的是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 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	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语法规则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语义规则 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等价变换规则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词法规则</a:t>
            </a: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81EF57-9F8D-81D9-CA2C-D0812EA2E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628" y="4124008"/>
            <a:ext cx="8112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>
            <a:extLst>
              <a:ext uri="{FF2B5EF4-FFF2-40B4-BE49-F238E27FC236}">
                <a16:creationId xmlns:a16="http://schemas.microsoft.com/office/drawing/2014/main" id="{554220B5-6B56-B4B7-8C77-B96A8BB92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9A399-6A4B-D366-D0DA-6CB910ACF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编译程序中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词法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分析器接收以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  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为单位的输入。		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产生式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E7707E-7A56-4D6D-FA2E-91C3DC1CE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6" y="4233863"/>
            <a:ext cx="811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FA803376-7322-D490-58F5-AE7806A6C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EB68A-5E71-5C87-1F25-6949CBEDA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编译程序中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分析器接收以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  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为单位的输入。		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产生式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句子</a:t>
            </a:r>
          </a:p>
          <a:p>
            <a:pPr>
              <a:defRPr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8519D8-15CD-3225-CC8A-965F8F306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2474595"/>
            <a:ext cx="8112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800" b="1">
                <a:solidFill>
                  <a:srgbClr val="FF0000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</a:t>
            </a:r>
            <a:endParaRPr lang="zh-CN" altLang="en-US" sz="4800" b="1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6">
            <a:extLst>
              <a:ext uri="{FF2B5EF4-FFF2-40B4-BE49-F238E27FC236}">
                <a16:creationId xmlns:a16="http://schemas.microsoft.com/office/drawing/2014/main" id="{D8C817B9-8964-1821-828D-FB9241707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1" y="2290763"/>
            <a:ext cx="7478713" cy="1179536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《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编译原理和技术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》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（第二版）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                   陈意云      中国科学技术大学出版社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                                                               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</a:t>
            </a:r>
          </a:p>
        </p:txBody>
      </p:sp>
      <p:sp>
        <p:nvSpPr>
          <p:cNvPr id="71683" name="WordArt 9">
            <a:extLst>
              <a:ext uri="{FF2B5EF4-FFF2-40B4-BE49-F238E27FC236}">
                <a16:creationId xmlns:a16="http://schemas.microsoft.com/office/drawing/2014/main" id="{EF34921D-598F-6959-5021-CDD76A6C611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90964" y="771526"/>
            <a:ext cx="3379787" cy="7794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kern="10">
                <a:ln w="12700">
                  <a:solidFill>
                    <a:srgbClr val="DC5900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参考文献</a:t>
            </a:r>
          </a:p>
        </p:txBody>
      </p:sp>
      <p:sp>
        <p:nvSpPr>
          <p:cNvPr id="71684" name="Rectangle 10">
            <a:extLst>
              <a:ext uri="{FF2B5EF4-FFF2-40B4-BE49-F238E27FC236}">
                <a16:creationId xmlns:a16="http://schemas.microsoft.com/office/drawing/2014/main" id="{F58F717D-C18B-3A45-9A05-3CFD064EA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1" y="3751264"/>
            <a:ext cx="7515225" cy="1475001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Compilers :principles, techniques, and tools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（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2001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）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, 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          Alfred V. Aho, Ravi Sethi, Jeffrey D. Ullman. 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                                                      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 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2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WordArt 4">
            <a:extLst>
              <a:ext uri="{FF2B5EF4-FFF2-40B4-BE49-F238E27FC236}">
                <a16:creationId xmlns:a16="http://schemas.microsoft.com/office/drawing/2014/main" id="{0D61F9A1-7825-6551-EB4E-07C70DB2BF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25663" y="981075"/>
            <a:ext cx="1828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kern="10">
                <a:ln w="12700">
                  <a:solidFill>
                    <a:srgbClr val="DC5900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参考文献</a:t>
            </a:r>
          </a:p>
        </p:txBody>
      </p:sp>
      <p:sp>
        <p:nvSpPr>
          <p:cNvPr id="72707" name="Rectangle 6">
            <a:extLst>
              <a:ext uri="{FF2B5EF4-FFF2-40B4-BE49-F238E27FC236}">
                <a16:creationId xmlns:a16="http://schemas.microsoft.com/office/drawing/2014/main" id="{18FAC14C-3D9E-49D9-25EC-B5573479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3" y="1893888"/>
            <a:ext cx="7389812" cy="1179536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Crafting a Compiler with C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（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1991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）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,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          Charles N. Fischer, Richard J. LeBlanc  Jr.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                                                      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 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2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</a:t>
            </a:r>
          </a:p>
        </p:txBody>
      </p:sp>
      <p:sp>
        <p:nvSpPr>
          <p:cNvPr id="72708" name="Rectangle 7">
            <a:extLst>
              <a:ext uri="{FF2B5EF4-FFF2-40B4-BE49-F238E27FC236}">
                <a16:creationId xmlns:a16="http://schemas.microsoft.com/office/drawing/2014/main" id="{7B2A0409-A926-F91A-7E67-E69E9160C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4" y="3551238"/>
            <a:ext cx="7350125" cy="1179536"/>
          </a:xfrm>
          <a:prstGeom prst="rect">
            <a:avLst/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《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现代编译程序设计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》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                   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冯博琴等译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  <a:buClr>
                <a:srgbClr val="DC5900"/>
              </a:buClr>
              <a:buNone/>
            </a:pP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                                                                  第</a:t>
            </a:r>
            <a:r>
              <a:rPr lang="en-US" altLang="zh-CN" sz="2400" b="1">
                <a:solidFill>
                  <a:srgbClr val="FFFFFF"/>
                </a:solidFill>
                <a:ea typeface="楷体_GB2312"/>
              </a:rPr>
              <a:t>1</a:t>
            </a:r>
            <a:r>
              <a:rPr lang="zh-CN" altLang="en-US" sz="2400" b="1">
                <a:solidFill>
                  <a:srgbClr val="FFFFFF"/>
                </a:solidFill>
                <a:ea typeface="楷体_GB2312"/>
              </a:rPr>
              <a:t>章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71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71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2061</Words>
  <Application>Microsoft Office PowerPoint</Application>
  <PresentationFormat>宽屏</PresentationFormat>
  <Paragraphs>438</Paragraphs>
  <Slides>30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等线</vt:lpstr>
      <vt:lpstr>楷体_GB2312</vt:lpstr>
      <vt:lpstr>宋体</vt:lpstr>
      <vt:lpstr>微软雅黑</vt:lpstr>
      <vt:lpstr>Arial</vt:lpstr>
      <vt:lpstr>Times New Roman</vt:lpstr>
      <vt:lpstr>Wingdings</vt:lpstr>
      <vt:lpstr>诗情画意</vt:lpstr>
      <vt:lpstr>Image</vt:lpstr>
      <vt:lpstr>PowerPoint 演示文稿</vt:lpstr>
      <vt:lpstr>PowerPoint 演示文稿</vt:lpstr>
      <vt:lpstr>第一章： 绪论</vt:lpstr>
      <vt:lpstr>PowerPoint 演示文稿</vt:lpstr>
      <vt:lpstr>二、编译过程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中间代码生成</vt:lpstr>
      <vt:lpstr>中间代码生成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分析 a:int</vt:lpstr>
      <vt:lpstr>习  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yin</dc:creator>
  <cp:lastModifiedBy>zhi yin</cp:lastModifiedBy>
  <cp:revision>6</cp:revision>
  <dcterms:created xsi:type="dcterms:W3CDTF">2025-08-05T01:38:39Z</dcterms:created>
  <dcterms:modified xsi:type="dcterms:W3CDTF">2025-09-20T07:39:35Z</dcterms:modified>
</cp:coreProperties>
</file>